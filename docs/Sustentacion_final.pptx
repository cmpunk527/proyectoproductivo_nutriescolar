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2" r:id="rId5"/>
    <p:sldMasterId id="2147483678"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y="6858000" cx="12192000"/>
  <p:notesSz cx="6858000" cy="9144000"/>
  <p:embeddedFontLst>
    <p:embeddedFont>
      <p:font typeface="Work Sans Medium"/>
      <p:regular r:id="rId35"/>
      <p:bold r:id="rId36"/>
      <p:italic r:id="rId37"/>
      <p:boldItalic r:id="rId38"/>
    </p:embeddedFont>
    <p:embeddedFont>
      <p:font typeface="Work Sans"/>
      <p:regular r:id="rId39"/>
      <p:bold r:id="rId40"/>
      <p:italic r:id="rId41"/>
      <p:boldItalic r:id="rId42"/>
    </p:embeddedFont>
    <p:embeddedFont>
      <p:font typeface="Work Sans Light"/>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7" roundtripDataSignature="AMtx7mgt/BuGQHE5HyYoRklJKl3yMRQXQ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72B54D1-93C2-44F5-9BEC-4C839BC0A405}">
  <a:tblStyle styleId="{272B54D1-93C2-44F5-9BEC-4C839BC0A40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WorkSans-bold.fntdata"/><Relationship Id="rId20" Type="http://schemas.openxmlformats.org/officeDocument/2006/relationships/slide" Target="slides/slide13.xml"/><Relationship Id="rId42" Type="http://schemas.openxmlformats.org/officeDocument/2006/relationships/font" Target="fonts/WorkSans-boldItalic.fntdata"/><Relationship Id="rId41" Type="http://schemas.openxmlformats.org/officeDocument/2006/relationships/font" Target="fonts/WorkSans-italic.fntdata"/><Relationship Id="rId22" Type="http://schemas.openxmlformats.org/officeDocument/2006/relationships/slide" Target="slides/slide15.xml"/><Relationship Id="rId44" Type="http://schemas.openxmlformats.org/officeDocument/2006/relationships/font" Target="fonts/WorkSansLight-bold.fntdata"/><Relationship Id="rId21" Type="http://schemas.openxmlformats.org/officeDocument/2006/relationships/slide" Target="slides/slide14.xml"/><Relationship Id="rId43" Type="http://schemas.openxmlformats.org/officeDocument/2006/relationships/font" Target="fonts/WorkSansLight-regular.fntdata"/><Relationship Id="rId24" Type="http://schemas.openxmlformats.org/officeDocument/2006/relationships/slide" Target="slides/slide17.xml"/><Relationship Id="rId46" Type="http://schemas.openxmlformats.org/officeDocument/2006/relationships/font" Target="fonts/WorkSansLight-boldItalic.fntdata"/><Relationship Id="rId23" Type="http://schemas.openxmlformats.org/officeDocument/2006/relationships/slide" Target="slides/slide16.xml"/><Relationship Id="rId45" Type="http://schemas.openxmlformats.org/officeDocument/2006/relationships/font" Target="fonts/WorkSansLight-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47" Type="http://customschemas.google.com/relationships/presentationmetadata" Target="metadata"/><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font" Target="fonts/WorkSansMedium-regular.fntdata"/><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font" Target="fonts/WorkSansMedium-italic.fntdata"/><Relationship Id="rId14" Type="http://schemas.openxmlformats.org/officeDocument/2006/relationships/slide" Target="slides/slide7.xml"/><Relationship Id="rId36" Type="http://schemas.openxmlformats.org/officeDocument/2006/relationships/font" Target="fonts/WorkSansMedium-bold.fntdata"/><Relationship Id="rId17" Type="http://schemas.openxmlformats.org/officeDocument/2006/relationships/slide" Target="slides/slide10.xml"/><Relationship Id="rId39" Type="http://schemas.openxmlformats.org/officeDocument/2006/relationships/font" Target="fonts/WorkSans-regular.fntdata"/><Relationship Id="rId16" Type="http://schemas.openxmlformats.org/officeDocument/2006/relationships/slide" Target="slides/slide9.xml"/><Relationship Id="rId38" Type="http://schemas.openxmlformats.org/officeDocument/2006/relationships/font" Target="fonts/WorkSansMedium-boldItalic.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 name="Google Shape;26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2" name="Google Shape;26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9" name="Google Shape;26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0" name="Google Shape;27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9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7" name="Google Shape;277;p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h1ae4dd587d4263b4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83" name="Google Shape;283;h1ae4dd587d4263b4_0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h1ae4dd587d4263b4_0_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s-E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9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7" name="Google Shape;297;p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3" name="Google Shape;30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9" name="Google Shape;30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9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10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7" name="Google Shape;357;p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10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3" name="Google Shape;363;p1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2" name="Google Shape;41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9" name="Google Shape;49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0" name="Google Shape;54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10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2" name="Google Shape;572;p1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10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8" name="Google Shape;578;p1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10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4" name="Google Shape;584;p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1" name="Google Shape;59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p10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9" name="Google Shape;639;p1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1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5" name="Google Shape;645;p10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646" name="Google Shape;646;p10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s-E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3" name="Google Shape;65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654" name="Google Shape;65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s-E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0" name="Google Shape;660;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661" name="Google Shape;661;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s-E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7" name="Google Shape;667;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668" name="Google Shape;668;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s-E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g2155d56c852_0_46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4" name="Google Shape;674;g2155d56c852_0_4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p10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9" name="Google Shape;679;p1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apositiva de título">
  <p:cSld name="1_Diapositiva de título">
    <p:spTree>
      <p:nvGrpSpPr>
        <p:cNvPr id="15" name="Shape 15"/>
        <p:cNvGrpSpPr/>
        <p:nvPr/>
      </p:nvGrpSpPr>
      <p:grpSpPr>
        <a:xfrm>
          <a:off x="0" y="0"/>
          <a:ext cx="0" cy="0"/>
          <a:chOff x="0" y="0"/>
          <a:chExt cx="0" cy="0"/>
        </a:xfrm>
      </p:grpSpPr>
      <p:pic>
        <p:nvPicPr>
          <p:cNvPr descr="Interfaz de usuario gráfica, Texto, Aplicación&#10;&#10;Descripción generada automáticamente" id="16" name="Google Shape;16;p57"/>
          <p:cNvPicPr preferRelativeResize="0"/>
          <p:nvPr/>
        </p:nvPicPr>
        <p:blipFill rotWithShape="1">
          <a:blip r:embed="rId2">
            <a:alphaModFix/>
          </a:blip>
          <a:srcRect b="0" l="0" r="0" t="0"/>
          <a:stretch/>
        </p:blipFill>
        <p:spPr>
          <a:xfrm>
            <a:off x="0" y="0"/>
            <a:ext cx="12192000" cy="6858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Encabezado de sección">
  <p:cSld name="2_Encabezado de sección">
    <p:spTree>
      <p:nvGrpSpPr>
        <p:cNvPr id="17" name="Shape 17"/>
        <p:cNvGrpSpPr/>
        <p:nvPr/>
      </p:nvGrpSpPr>
      <p:grpSpPr>
        <a:xfrm>
          <a:off x="0" y="0"/>
          <a:ext cx="0" cy="0"/>
          <a:chOff x="0" y="0"/>
          <a:chExt cx="0" cy="0"/>
        </a:xfrm>
      </p:grpSpPr>
      <p:pic>
        <p:nvPicPr>
          <p:cNvPr descr="Patrón de fondo&#10;&#10;Descripción generada automáticamente" id="18" name="Google Shape;18;p58"/>
          <p:cNvPicPr preferRelativeResize="0"/>
          <p:nvPr/>
        </p:nvPicPr>
        <p:blipFill rotWithShape="1">
          <a:blip r:embed="rId2">
            <a:alphaModFix/>
          </a:blip>
          <a:srcRect b="0" l="0" r="0" t="0"/>
          <a:stretch/>
        </p:blipFill>
        <p:spPr>
          <a:xfrm>
            <a:off x="0" y="0"/>
            <a:ext cx="12192000" cy="6858000"/>
          </a:xfrm>
          <a:prstGeom prst="rect">
            <a:avLst/>
          </a:prstGeom>
          <a:noFill/>
          <a:ln>
            <a:noFill/>
          </a:ln>
        </p:spPr>
      </p:pic>
      <p:pic>
        <p:nvPicPr>
          <p:cNvPr id="19" name="Google Shape;19;p58"/>
          <p:cNvPicPr preferRelativeResize="0"/>
          <p:nvPr/>
        </p:nvPicPr>
        <p:blipFill rotWithShape="1">
          <a:blip r:embed="rId3">
            <a:alphaModFix/>
          </a:blip>
          <a:srcRect b="0" l="0" r="0" t="0"/>
          <a:stretch/>
        </p:blipFill>
        <p:spPr>
          <a:xfrm>
            <a:off x="11054859" y="303050"/>
            <a:ext cx="855785" cy="833982"/>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0" name="Shape 20"/>
        <p:cNvGrpSpPr/>
        <p:nvPr/>
      </p:nvGrpSpPr>
      <p:grpSpPr>
        <a:xfrm>
          <a:off x="0" y="0"/>
          <a:ext cx="0" cy="0"/>
          <a:chOff x="0" y="0"/>
          <a:chExt cx="0" cy="0"/>
        </a:xfrm>
      </p:grpSpPr>
      <p:sp>
        <p:nvSpPr>
          <p:cNvPr id="21" name="Google Shape;21;p6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6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 name="Google Shape;23;p6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6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6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26" name="Shape 26"/>
        <p:cNvGrpSpPr/>
        <p:nvPr/>
      </p:nvGrpSpPr>
      <p:grpSpPr>
        <a:xfrm>
          <a:off x="0" y="0"/>
          <a:ext cx="0" cy="0"/>
          <a:chOff x="0" y="0"/>
          <a:chExt cx="0" cy="0"/>
        </a:xfrm>
      </p:grpSpPr>
      <p:sp>
        <p:nvSpPr>
          <p:cNvPr id="27" name="Google Shape;27;p6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6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9" name="Google Shape;29;p6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6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6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32" name="Shape 32"/>
        <p:cNvGrpSpPr/>
        <p:nvPr/>
      </p:nvGrpSpPr>
      <p:grpSpPr>
        <a:xfrm>
          <a:off x="0" y="0"/>
          <a:ext cx="0" cy="0"/>
          <a:chOff x="0" y="0"/>
          <a:chExt cx="0" cy="0"/>
        </a:xfrm>
      </p:grpSpPr>
      <p:sp>
        <p:nvSpPr>
          <p:cNvPr id="33" name="Google Shape;33;p6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6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5" name="Google Shape;35;p6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6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6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8" name="Shape 38"/>
        <p:cNvGrpSpPr/>
        <p:nvPr/>
      </p:nvGrpSpPr>
      <p:grpSpPr>
        <a:xfrm>
          <a:off x="0" y="0"/>
          <a:ext cx="0" cy="0"/>
          <a:chOff x="0" y="0"/>
          <a:chExt cx="0" cy="0"/>
        </a:xfrm>
      </p:grpSpPr>
      <p:sp>
        <p:nvSpPr>
          <p:cNvPr id="39" name="Google Shape;39;p6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6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6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6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6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5" name="Shape 45"/>
        <p:cNvGrpSpPr/>
        <p:nvPr/>
      </p:nvGrpSpPr>
      <p:grpSpPr>
        <a:xfrm>
          <a:off x="0" y="0"/>
          <a:ext cx="0" cy="0"/>
          <a:chOff x="0" y="0"/>
          <a:chExt cx="0" cy="0"/>
        </a:xfrm>
      </p:grpSpPr>
      <p:sp>
        <p:nvSpPr>
          <p:cNvPr id="46" name="Google Shape;46;p6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6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8" name="Google Shape;48;p6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6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0" name="Google Shape;50;p6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6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6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6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54" name="Shape 54"/>
        <p:cNvGrpSpPr/>
        <p:nvPr/>
      </p:nvGrpSpPr>
      <p:grpSpPr>
        <a:xfrm>
          <a:off x="0" y="0"/>
          <a:ext cx="0" cy="0"/>
          <a:chOff x="0" y="0"/>
          <a:chExt cx="0" cy="0"/>
        </a:xfrm>
      </p:grpSpPr>
      <p:sp>
        <p:nvSpPr>
          <p:cNvPr id="55" name="Google Shape;55;p7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7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7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7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9" name="Shape 59"/>
        <p:cNvGrpSpPr/>
        <p:nvPr/>
      </p:nvGrpSpPr>
      <p:grpSpPr>
        <a:xfrm>
          <a:off x="0" y="0"/>
          <a:ext cx="0" cy="0"/>
          <a:chOff x="0" y="0"/>
          <a:chExt cx="0" cy="0"/>
        </a:xfrm>
      </p:grpSpPr>
      <p:sp>
        <p:nvSpPr>
          <p:cNvPr id="60" name="Google Shape;60;p7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7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2" name="Google Shape;62;p7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3" name="Google Shape;63;p7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7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7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6" name="Shape 66"/>
        <p:cNvGrpSpPr/>
        <p:nvPr/>
      </p:nvGrpSpPr>
      <p:grpSpPr>
        <a:xfrm>
          <a:off x="0" y="0"/>
          <a:ext cx="0" cy="0"/>
          <a:chOff x="0" y="0"/>
          <a:chExt cx="0" cy="0"/>
        </a:xfrm>
      </p:grpSpPr>
      <p:sp>
        <p:nvSpPr>
          <p:cNvPr id="67" name="Google Shape;67;p7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72"/>
          <p:cNvSpPr/>
          <p:nvPr>
            <p:ph idx="2" type="pic"/>
          </p:nvPr>
        </p:nvSpPr>
        <p:spPr>
          <a:xfrm>
            <a:off x="5183188" y="987425"/>
            <a:ext cx="6172200" cy="4873625"/>
          </a:xfrm>
          <a:prstGeom prst="rect">
            <a:avLst/>
          </a:prstGeom>
          <a:noFill/>
          <a:ln>
            <a:noFill/>
          </a:ln>
        </p:spPr>
      </p:sp>
      <p:sp>
        <p:nvSpPr>
          <p:cNvPr id="69" name="Google Shape;69;p7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0" name="Google Shape;70;p7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7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7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73" name="Shape 73"/>
        <p:cNvGrpSpPr/>
        <p:nvPr/>
      </p:nvGrpSpPr>
      <p:grpSpPr>
        <a:xfrm>
          <a:off x="0" y="0"/>
          <a:ext cx="0" cy="0"/>
          <a:chOff x="0" y="0"/>
          <a:chExt cx="0" cy="0"/>
        </a:xfrm>
      </p:grpSpPr>
      <p:sp>
        <p:nvSpPr>
          <p:cNvPr id="74" name="Google Shape;74;p7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7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7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7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7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9" name="Shape 79"/>
        <p:cNvGrpSpPr/>
        <p:nvPr/>
      </p:nvGrpSpPr>
      <p:grpSpPr>
        <a:xfrm>
          <a:off x="0" y="0"/>
          <a:ext cx="0" cy="0"/>
          <a:chOff x="0" y="0"/>
          <a:chExt cx="0" cy="0"/>
        </a:xfrm>
      </p:grpSpPr>
      <p:sp>
        <p:nvSpPr>
          <p:cNvPr id="80" name="Google Shape;80;p7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7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7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7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7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eño personalizado">
  <p:cSld name="Diseño personalizado">
    <p:bg>
      <p:bgPr>
        <a:blipFill>
          <a:blip r:embed="rId2">
            <a:alphaModFix/>
          </a:blip>
          <a:stretch>
            <a:fillRect/>
          </a:stretch>
        </a:blipFill>
      </p:bgPr>
    </p:bg>
    <p:spTree>
      <p:nvGrpSpPr>
        <p:cNvPr id="85" name="Shape 85"/>
        <p:cNvGrpSpPr/>
        <p:nvPr/>
      </p:nvGrpSpPr>
      <p:grpSpPr>
        <a:xfrm>
          <a:off x="0" y="0"/>
          <a:ext cx="0" cy="0"/>
          <a:chOff x="0" y="0"/>
          <a:chExt cx="0" cy="0"/>
        </a:xfrm>
      </p:grpSpPr>
      <p:sp>
        <p:nvSpPr>
          <p:cNvPr id="86" name="Google Shape;86;p7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7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7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7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Encabezado de sección">
  <p:cSld name="1_Encabezado de sección">
    <p:spTree>
      <p:nvGrpSpPr>
        <p:cNvPr id="96" name="Shape 96"/>
        <p:cNvGrpSpPr/>
        <p:nvPr/>
      </p:nvGrpSpPr>
      <p:grpSpPr>
        <a:xfrm>
          <a:off x="0" y="0"/>
          <a:ext cx="0" cy="0"/>
          <a:chOff x="0" y="0"/>
          <a:chExt cx="0" cy="0"/>
        </a:xfrm>
      </p:grpSpPr>
      <p:pic>
        <p:nvPicPr>
          <p:cNvPr id="97" name="Google Shape;97;p111"/>
          <p:cNvPicPr preferRelativeResize="0"/>
          <p:nvPr/>
        </p:nvPicPr>
        <p:blipFill rotWithShape="1">
          <a:blip r:embed="rId2">
            <a:alphaModFix/>
          </a:blip>
          <a:srcRect b="0" l="0" r="0" t="0"/>
          <a:stretch/>
        </p:blipFill>
        <p:spPr>
          <a:xfrm>
            <a:off x="11027833" y="317431"/>
            <a:ext cx="811391" cy="790587"/>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Encabezado de sección">
  <p:cSld name="2_Encabezado de sección">
    <p:spTree>
      <p:nvGrpSpPr>
        <p:cNvPr id="98" name="Shape 98"/>
        <p:cNvGrpSpPr/>
        <p:nvPr/>
      </p:nvGrpSpPr>
      <p:grpSpPr>
        <a:xfrm>
          <a:off x="0" y="0"/>
          <a:ext cx="0" cy="0"/>
          <a:chOff x="0" y="0"/>
          <a:chExt cx="0" cy="0"/>
        </a:xfrm>
      </p:grpSpPr>
      <p:pic>
        <p:nvPicPr>
          <p:cNvPr descr="Patrón de fondo&#10;&#10;Descripción generada automáticamente" id="99" name="Google Shape;99;p112"/>
          <p:cNvPicPr preferRelativeResize="0"/>
          <p:nvPr/>
        </p:nvPicPr>
        <p:blipFill rotWithShape="1">
          <a:blip r:embed="rId2">
            <a:alphaModFix/>
          </a:blip>
          <a:srcRect b="0" l="0" r="0" t="0"/>
          <a:stretch/>
        </p:blipFill>
        <p:spPr>
          <a:xfrm>
            <a:off x="0" y="0"/>
            <a:ext cx="12192000" cy="6858000"/>
          </a:xfrm>
          <a:prstGeom prst="rect">
            <a:avLst/>
          </a:prstGeom>
          <a:noFill/>
          <a:ln>
            <a:noFill/>
          </a:ln>
        </p:spPr>
      </p:pic>
      <p:pic>
        <p:nvPicPr>
          <p:cNvPr id="100" name="Google Shape;100;p112"/>
          <p:cNvPicPr preferRelativeResize="0"/>
          <p:nvPr/>
        </p:nvPicPr>
        <p:blipFill rotWithShape="1">
          <a:blip r:embed="rId3">
            <a:alphaModFix/>
          </a:blip>
          <a:srcRect b="0" l="0" r="0" t="0"/>
          <a:stretch/>
        </p:blipFill>
        <p:spPr>
          <a:xfrm>
            <a:off x="11054859" y="303050"/>
            <a:ext cx="855785" cy="833982"/>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01" name="Shape 101"/>
        <p:cNvGrpSpPr/>
        <p:nvPr/>
      </p:nvGrpSpPr>
      <p:grpSpPr>
        <a:xfrm>
          <a:off x="0" y="0"/>
          <a:ext cx="0" cy="0"/>
          <a:chOff x="0" y="0"/>
          <a:chExt cx="0" cy="0"/>
        </a:xfrm>
      </p:grpSpPr>
      <p:sp>
        <p:nvSpPr>
          <p:cNvPr id="102" name="Google Shape;102;p11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11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04" name="Google Shape;104;p1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p1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1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07" name="Shape 107"/>
        <p:cNvGrpSpPr/>
        <p:nvPr/>
      </p:nvGrpSpPr>
      <p:grpSpPr>
        <a:xfrm>
          <a:off x="0" y="0"/>
          <a:ext cx="0" cy="0"/>
          <a:chOff x="0" y="0"/>
          <a:chExt cx="0" cy="0"/>
        </a:xfrm>
      </p:grpSpPr>
      <p:sp>
        <p:nvSpPr>
          <p:cNvPr id="108" name="Google Shape;108;p1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9" name="Google Shape;109;p1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0" name="Google Shape;110;p1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1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p1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113" name="Shape 113"/>
        <p:cNvGrpSpPr/>
        <p:nvPr/>
      </p:nvGrpSpPr>
      <p:grpSpPr>
        <a:xfrm>
          <a:off x="0" y="0"/>
          <a:ext cx="0" cy="0"/>
          <a:chOff x="0" y="0"/>
          <a:chExt cx="0" cy="0"/>
        </a:xfrm>
      </p:grpSpPr>
      <p:sp>
        <p:nvSpPr>
          <p:cNvPr id="114" name="Google Shape;114;p11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p11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16" name="Google Shape;116;p1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1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p1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119" name="Shape 119"/>
        <p:cNvGrpSpPr/>
        <p:nvPr/>
      </p:nvGrpSpPr>
      <p:grpSpPr>
        <a:xfrm>
          <a:off x="0" y="0"/>
          <a:ext cx="0" cy="0"/>
          <a:chOff x="0" y="0"/>
          <a:chExt cx="0" cy="0"/>
        </a:xfrm>
      </p:grpSpPr>
      <p:sp>
        <p:nvSpPr>
          <p:cNvPr id="120" name="Google Shape;120;p1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11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2" name="Google Shape;122;p11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3" name="Google Shape;123;p1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p1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p1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126" name="Shape 126"/>
        <p:cNvGrpSpPr/>
        <p:nvPr/>
      </p:nvGrpSpPr>
      <p:grpSpPr>
        <a:xfrm>
          <a:off x="0" y="0"/>
          <a:ext cx="0" cy="0"/>
          <a:chOff x="0" y="0"/>
          <a:chExt cx="0" cy="0"/>
        </a:xfrm>
      </p:grpSpPr>
      <p:sp>
        <p:nvSpPr>
          <p:cNvPr id="127" name="Google Shape;127;p11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p11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29" name="Google Shape;129;p11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0" name="Google Shape;130;p11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31" name="Google Shape;131;p11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2" name="Google Shape;132;p1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p1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4" name="Google Shape;134;p1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135" name="Shape 135"/>
        <p:cNvGrpSpPr/>
        <p:nvPr/>
      </p:nvGrpSpPr>
      <p:grpSpPr>
        <a:xfrm>
          <a:off x="0" y="0"/>
          <a:ext cx="0" cy="0"/>
          <a:chOff x="0" y="0"/>
          <a:chExt cx="0" cy="0"/>
        </a:xfrm>
      </p:grpSpPr>
      <p:sp>
        <p:nvSpPr>
          <p:cNvPr id="136" name="Google Shape;136;p1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7" name="Google Shape;137;p1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1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1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140" name="Shape 140"/>
        <p:cNvGrpSpPr/>
        <p:nvPr/>
      </p:nvGrpSpPr>
      <p:grpSpPr>
        <a:xfrm>
          <a:off x="0" y="0"/>
          <a:ext cx="0" cy="0"/>
          <a:chOff x="0" y="0"/>
          <a:chExt cx="0" cy="0"/>
        </a:xfrm>
      </p:grpSpPr>
      <p:sp>
        <p:nvSpPr>
          <p:cNvPr id="141" name="Google Shape;141;p1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1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3" name="Google Shape;143;p1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144" name="Shape 144"/>
        <p:cNvGrpSpPr/>
        <p:nvPr/>
      </p:nvGrpSpPr>
      <p:grpSpPr>
        <a:xfrm>
          <a:off x="0" y="0"/>
          <a:ext cx="0" cy="0"/>
          <a:chOff x="0" y="0"/>
          <a:chExt cx="0" cy="0"/>
        </a:xfrm>
      </p:grpSpPr>
      <p:sp>
        <p:nvSpPr>
          <p:cNvPr id="145" name="Google Shape;145;p12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6" name="Google Shape;146;p12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47" name="Google Shape;147;p12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48" name="Google Shape;148;p1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9" name="Google Shape;149;p1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0" name="Google Shape;150;p1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151" name="Shape 151"/>
        <p:cNvGrpSpPr/>
        <p:nvPr/>
      </p:nvGrpSpPr>
      <p:grpSpPr>
        <a:xfrm>
          <a:off x="0" y="0"/>
          <a:ext cx="0" cy="0"/>
          <a:chOff x="0" y="0"/>
          <a:chExt cx="0" cy="0"/>
        </a:xfrm>
      </p:grpSpPr>
      <p:sp>
        <p:nvSpPr>
          <p:cNvPr id="152" name="Google Shape;152;p12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3" name="Google Shape;153;p123"/>
          <p:cNvSpPr/>
          <p:nvPr>
            <p:ph idx="2" type="pic"/>
          </p:nvPr>
        </p:nvSpPr>
        <p:spPr>
          <a:xfrm>
            <a:off x="5183188" y="987425"/>
            <a:ext cx="6172200" cy="4873625"/>
          </a:xfrm>
          <a:prstGeom prst="rect">
            <a:avLst/>
          </a:prstGeom>
          <a:noFill/>
          <a:ln>
            <a:noFill/>
          </a:ln>
        </p:spPr>
      </p:sp>
      <p:sp>
        <p:nvSpPr>
          <p:cNvPr id="154" name="Google Shape;154;p12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55" name="Google Shape;155;p1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6" name="Google Shape;156;p1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7" name="Google Shape;157;p1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158" name="Shape 158"/>
        <p:cNvGrpSpPr/>
        <p:nvPr/>
      </p:nvGrpSpPr>
      <p:grpSpPr>
        <a:xfrm>
          <a:off x="0" y="0"/>
          <a:ext cx="0" cy="0"/>
          <a:chOff x="0" y="0"/>
          <a:chExt cx="0" cy="0"/>
        </a:xfrm>
      </p:grpSpPr>
      <p:sp>
        <p:nvSpPr>
          <p:cNvPr id="159" name="Google Shape;159;p1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0" name="Google Shape;160;p12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1" name="Google Shape;161;p1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2" name="Google Shape;162;p1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3" name="Google Shape;163;p1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164" name="Shape 164"/>
        <p:cNvGrpSpPr/>
        <p:nvPr/>
      </p:nvGrpSpPr>
      <p:grpSpPr>
        <a:xfrm>
          <a:off x="0" y="0"/>
          <a:ext cx="0" cy="0"/>
          <a:chOff x="0" y="0"/>
          <a:chExt cx="0" cy="0"/>
        </a:xfrm>
      </p:grpSpPr>
      <p:sp>
        <p:nvSpPr>
          <p:cNvPr id="165" name="Google Shape;165;p12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6" name="Google Shape;166;p12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7" name="Google Shape;167;p1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8" name="Google Shape;168;p1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9" name="Google Shape;169;p1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eño personalizado">
  <p:cSld name="Diseño personalizado">
    <p:bg>
      <p:bgPr>
        <a:blipFill>
          <a:blip r:embed="rId2">
            <a:alphaModFix/>
          </a:blip>
          <a:stretch>
            <a:fillRect/>
          </a:stretch>
        </a:blipFill>
      </p:bgPr>
    </p:bg>
    <p:spTree>
      <p:nvGrpSpPr>
        <p:cNvPr id="170" name="Shape 170"/>
        <p:cNvGrpSpPr/>
        <p:nvPr/>
      </p:nvGrpSpPr>
      <p:grpSpPr>
        <a:xfrm>
          <a:off x="0" y="0"/>
          <a:ext cx="0" cy="0"/>
          <a:chOff x="0" y="0"/>
          <a:chExt cx="0" cy="0"/>
        </a:xfrm>
      </p:grpSpPr>
      <p:sp>
        <p:nvSpPr>
          <p:cNvPr id="171" name="Google Shape;171;p1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2" name="Google Shape;172;p1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3" name="Google Shape;173;p1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4" name="Google Shape;174;p1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apositiva de título">
  <p:cSld name="1_Diapositiva de título">
    <p:spTree>
      <p:nvGrpSpPr>
        <p:cNvPr id="175" name="Shape 175"/>
        <p:cNvGrpSpPr/>
        <p:nvPr/>
      </p:nvGrpSpPr>
      <p:grpSpPr>
        <a:xfrm>
          <a:off x="0" y="0"/>
          <a:ext cx="0" cy="0"/>
          <a:chOff x="0" y="0"/>
          <a:chExt cx="0" cy="0"/>
        </a:xfrm>
      </p:grpSpPr>
      <p:pic>
        <p:nvPicPr>
          <p:cNvPr descr="Interfaz de usuario gráfica, Texto, Aplicación&#10;&#10;Descripción generada automáticamente" id="176" name="Google Shape;176;p127"/>
          <p:cNvPicPr preferRelativeResize="0"/>
          <p:nvPr/>
        </p:nvPicPr>
        <p:blipFill rotWithShape="1">
          <a:blip r:embed="rId2">
            <a:alphaModFix/>
          </a:blip>
          <a:srcRect b="0" l="0" r="0" t="0"/>
          <a:stretch/>
        </p:blipFill>
        <p:spPr>
          <a:xfrm>
            <a:off x="0" y="0"/>
            <a:ext cx="12192000" cy="6858000"/>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183" name="Shape 183"/>
        <p:cNvGrpSpPr/>
        <p:nvPr/>
      </p:nvGrpSpPr>
      <p:grpSpPr>
        <a:xfrm>
          <a:off x="0" y="0"/>
          <a:ext cx="0" cy="0"/>
          <a:chOff x="0" y="0"/>
          <a:chExt cx="0" cy="0"/>
        </a:xfrm>
      </p:grpSpPr>
      <p:sp>
        <p:nvSpPr>
          <p:cNvPr id="184" name="Google Shape;184;p1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5" name="Google Shape;185;p1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6" name="Google Shape;186;p1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apositiva de título">
  <p:cSld name="1_Diapositiva de título">
    <p:spTree>
      <p:nvGrpSpPr>
        <p:cNvPr id="187" name="Shape 187"/>
        <p:cNvGrpSpPr/>
        <p:nvPr/>
      </p:nvGrpSpPr>
      <p:grpSpPr>
        <a:xfrm>
          <a:off x="0" y="0"/>
          <a:ext cx="0" cy="0"/>
          <a:chOff x="0" y="0"/>
          <a:chExt cx="0" cy="0"/>
        </a:xfrm>
      </p:grpSpPr>
      <p:pic>
        <p:nvPicPr>
          <p:cNvPr descr="Interfaz de usuario gráfica, Texto, Aplicación&#10;&#10;Descripción generada automáticamente" id="188" name="Google Shape;188;p128"/>
          <p:cNvPicPr preferRelativeResize="0"/>
          <p:nvPr/>
        </p:nvPicPr>
        <p:blipFill rotWithShape="1">
          <a:blip r:embed="rId2">
            <a:alphaModFix/>
          </a:blip>
          <a:srcRect b="0" l="0" r="0" t="0"/>
          <a:stretch/>
        </p:blipFill>
        <p:spPr>
          <a:xfrm>
            <a:off x="0" y="0"/>
            <a:ext cx="12192000" cy="6858000"/>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89" name="Shape 189"/>
        <p:cNvGrpSpPr/>
        <p:nvPr/>
      </p:nvGrpSpPr>
      <p:grpSpPr>
        <a:xfrm>
          <a:off x="0" y="0"/>
          <a:ext cx="0" cy="0"/>
          <a:chOff x="0" y="0"/>
          <a:chExt cx="0" cy="0"/>
        </a:xfrm>
      </p:grpSpPr>
      <p:sp>
        <p:nvSpPr>
          <p:cNvPr id="190" name="Google Shape;190;p1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1" name="Google Shape;191;p12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2" name="Google Shape;192;p1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3" name="Google Shape;193;p1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4" name="Google Shape;194;p1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195" name="Shape 195"/>
        <p:cNvGrpSpPr/>
        <p:nvPr/>
      </p:nvGrpSpPr>
      <p:grpSpPr>
        <a:xfrm>
          <a:off x="0" y="0"/>
          <a:ext cx="0" cy="0"/>
          <a:chOff x="0" y="0"/>
          <a:chExt cx="0" cy="0"/>
        </a:xfrm>
      </p:grpSpPr>
      <p:sp>
        <p:nvSpPr>
          <p:cNvPr id="196" name="Google Shape;196;p13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7" name="Google Shape;197;p13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98" name="Google Shape;198;p1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9" name="Google Shape;199;p1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0" name="Google Shape;200;p1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01" name="Shape 201"/>
        <p:cNvGrpSpPr/>
        <p:nvPr/>
      </p:nvGrpSpPr>
      <p:grpSpPr>
        <a:xfrm>
          <a:off x="0" y="0"/>
          <a:ext cx="0" cy="0"/>
          <a:chOff x="0" y="0"/>
          <a:chExt cx="0" cy="0"/>
        </a:xfrm>
      </p:grpSpPr>
      <p:sp>
        <p:nvSpPr>
          <p:cNvPr id="202" name="Google Shape;202;p1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3" name="Google Shape;203;p13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4" name="Google Shape;204;p13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5" name="Google Shape;205;p1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6" name="Google Shape;206;p1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7" name="Google Shape;207;p1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208" name="Shape 208"/>
        <p:cNvGrpSpPr/>
        <p:nvPr/>
      </p:nvGrpSpPr>
      <p:grpSpPr>
        <a:xfrm>
          <a:off x="0" y="0"/>
          <a:ext cx="0" cy="0"/>
          <a:chOff x="0" y="0"/>
          <a:chExt cx="0" cy="0"/>
        </a:xfrm>
      </p:grpSpPr>
      <p:sp>
        <p:nvSpPr>
          <p:cNvPr id="209" name="Google Shape;209;p13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0" name="Google Shape;210;p13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11" name="Google Shape;211;p13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2" name="Google Shape;212;p13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13" name="Google Shape;213;p13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4" name="Google Shape;214;p1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5" name="Google Shape;215;p1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6" name="Google Shape;216;p1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217" name="Shape 217"/>
        <p:cNvGrpSpPr/>
        <p:nvPr/>
      </p:nvGrpSpPr>
      <p:grpSpPr>
        <a:xfrm>
          <a:off x="0" y="0"/>
          <a:ext cx="0" cy="0"/>
          <a:chOff x="0" y="0"/>
          <a:chExt cx="0" cy="0"/>
        </a:xfrm>
      </p:grpSpPr>
      <p:sp>
        <p:nvSpPr>
          <p:cNvPr id="218" name="Google Shape;218;p1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9" name="Google Shape;219;p1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0" name="Google Shape;220;p1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1" name="Google Shape;221;p1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222" name="Shape 222"/>
        <p:cNvGrpSpPr/>
        <p:nvPr/>
      </p:nvGrpSpPr>
      <p:grpSpPr>
        <a:xfrm>
          <a:off x="0" y="0"/>
          <a:ext cx="0" cy="0"/>
          <a:chOff x="0" y="0"/>
          <a:chExt cx="0" cy="0"/>
        </a:xfrm>
      </p:grpSpPr>
      <p:sp>
        <p:nvSpPr>
          <p:cNvPr id="223" name="Google Shape;223;p13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4" name="Google Shape;224;p13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225" name="Google Shape;225;p13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26" name="Google Shape;226;p1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7" name="Google Shape;227;p1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8" name="Google Shape;228;p1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229" name="Shape 229"/>
        <p:cNvGrpSpPr/>
        <p:nvPr/>
      </p:nvGrpSpPr>
      <p:grpSpPr>
        <a:xfrm>
          <a:off x="0" y="0"/>
          <a:ext cx="0" cy="0"/>
          <a:chOff x="0" y="0"/>
          <a:chExt cx="0" cy="0"/>
        </a:xfrm>
      </p:grpSpPr>
      <p:sp>
        <p:nvSpPr>
          <p:cNvPr id="230" name="Google Shape;230;p13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1" name="Google Shape;231;p135"/>
          <p:cNvSpPr/>
          <p:nvPr>
            <p:ph idx="2" type="pic"/>
          </p:nvPr>
        </p:nvSpPr>
        <p:spPr>
          <a:xfrm>
            <a:off x="5183188" y="987425"/>
            <a:ext cx="6172200" cy="4873625"/>
          </a:xfrm>
          <a:prstGeom prst="rect">
            <a:avLst/>
          </a:prstGeom>
          <a:noFill/>
          <a:ln>
            <a:noFill/>
          </a:ln>
        </p:spPr>
      </p:sp>
      <p:sp>
        <p:nvSpPr>
          <p:cNvPr id="232" name="Google Shape;232;p13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33" name="Google Shape;233;p1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4" name="Google Shape;234;p1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5" name="Google Shape;235;p1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236" name="Shape 236"/>
        <p:cNvGrpSpPr/>
        <p:nvPr/>
      </p:nvGrpSpPr>
      <p:grpSpPr>
        <a:xfrm>
          <a:off x="0" y="0"/>
          <a:ext cx="0" cy="0"/>
          <a:chOff x="0" y="0"/>
          <a:chExt cx="0" cy="0"/>
        </a:xfrm>
      </p:grpSpPr>
      <p:sp>
        <p:nvSpPr>
          <p:cNvPr id="237" name="Google Shape;237;p1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8" name="Google Shape;238;p13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9" name="Google Shape;239;p1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0" name="Google Shape;240;p1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1" name="Google Shape;241;p1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242" name="Shape 242"/>
        <p:cNvGrpSpPr/>
        <p:nvPr/>
      </p:nvGrpSpPr>
      <p:grpSpPr>
        <a:xfrm>
          <a:off x="0" y="0"/>
          <a:ext cx="0" cy="0"/>
          <a:chOff x="0" y="0"/>
          <a:chExt cx="0" cy="0"/>
        </a:xfrm>
      </p:grpSpPr>
      <p:sp>
        <p:nvSpPr>
          <p:cNvPr id="243" name="Google Shape;243;p13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4" name="Google Shape;244;p13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5" name="Google Shape;245;p1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6" name="Google Shape;246;p1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7" name="Google Shape;247;p1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eño personalizado">
  <p:cSld name="Diseño personalizado">
    <p:bg>
      <p:bgPr>
        <a:blipFill>
          <a:blip r:embed="rId2">
            <a:alphaModFix/>
          </a:blip>
          <a:stretch>
            <a:fillRect/>
          </a:stretch>
        </a:blipFill>
      </p:bgPr>
    </p:bg>
    <p:spTree>
      <p:nvGrpSpPr>
        <p:cNvPr id="248" name="Shape 248"/>
        <p:cNvGrpSpPr/>
        <p:nvPr/>
      </p:nvGrpSpPr>
      <p:grpSpPr>
        <a:xfrm>
          <a:off x="0" y="0"/>
          <a:ext cx="0" cy="0"/>
          <a:chOff x="0" y="0"/>
          <a:chExt cx="0" cy="0"/>
        </a:xfrm>
      </p:grpSpPr>
      <p:sp>
        <p:nvSpPr>
          <p:cNvPr id="249" name="Google Shape;249;p1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0" name="Google Shape;250;p1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1" name="Google Shape;251;p1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2" name="Google Shape;252;p1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4.xml"/><Relationship Id="rId10" Type="http://schemas.openxmlformats.org/officeDocument/2006/relationships/slideLayout" Target="../slideLayouts/slideLayout23.xml"/><Relationship Id="rId13" Type="http://schemas.openxmlformats.org/officeDocument/2006/relationships/slideLayout" Target="../slideLayouts/slideLayout26.xml"/><Relationship Id="rId12" Type="http://schemas.openxmlformats.org/officeDocument/2006/relationships/slideLayout" Target="../slideLayouts/slideLayout25.xml"/><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5" Type="http://schemas.openxmlformats.org/officeDocument/2006/relationships/slideLayout" Target="../slideLayouts/slideLayout28.xml"/><Relationship Id="rId14" Type="http://schemas.openxmlformats.org/officeDocument/2006/relationships/slideLayout" Target="../slideLayouts/slideLayout27.xml"/><Relationship Id="rId16" Type="http://schemas.openxmlformats.org/officeDocument/2006/relationships/theme" Target="../theme/theme3.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9.xml"/><Relationship Id="rId10" Type="http://schemas.openxmlformats.org/officeDocument/2006/relationships/slideLayout" Target="../slideLayouts/slideLayout38.xml"/><Relationship Id="rId13" Type="http://schemas.openxmlformats.org/officeDocument/2006/relationships/theme" Target="../theme/theme4.xml"/><Relationship Id="rId12" Type="http://schemas.openxmlformats.org/officeDocument/2006/relationships/slideLayout" Target="../slideLayouts/slideLayout40.xml"/><Relationship Id="rId1" Type="http://schemas.openxmlformats.org/officeDocument/2006/relationships/slideLayout" Target="../slideLayouts/slideLayout29.xml"/><Relationship Id="rId2" Type="http://schemas.openxmlformats.org/officeDocument/2006/relationships/slideLayout" Target="../slideLayouts/slideLayout30.xml"/><Relationship Id="rId3" Type="http://schemas.openxmlformats.org/officeDocument/2006/relationships/slideLayout" Target="../slideLayouts/slideLayout31.xml"/><Relationship Id="rId4" Type="http://schemas.openxmlformats.org/officeDocument/2006/relationships/slideLayout" Target="../slideLayouts/slideLayout32.xml"/><Relationship Id="rId9" Type="http://schemas.openxmlformats.org/officeDocument/2006/relationships/slideLayout" Target="../slideLayouts/slideLayout37.xml"/><Relationship Id="rId5" Type="http://schemas.openxmlformats.org/officeDocument/2006/relationships/slideLayout" Target="../slideLayouts/slideLayout33.xml"/><Relationship Id="rId6" Type="http://schemas.openxmlformats.org/officeDocument/2006/relationships/slideLayout" Target="../slideLayouts/slideLayout34.xml"/><Relationship Id="rId7" Type="http://schemas.openxmlformats.org/officeDocument/2006/relationships/slideLayout" Target="../slideLayouts/slideLayout35.xml"/><Relationship Id="rId8"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5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5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5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 name="Shape 90"/>
        <p:cNvGrpSpPr/>
        <p:nvPr/>
      </p:nvGrpSpPr>
      <p:grpSpPr>
        <a:xfrm>
          <a:off x="0" y="0"/>
          <a:ext cx="0" cy="0"/>
          <a:chOff x="0" y="0"/>
          <a:chExt cx="0" cy="0"/>
        </a:xfrm>
      </p:grpSpPr>
      <p:sp>
        <p:nvSpPr>
          <p:cNvPr id="91" name="Google Shape;91;p1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2" name="Google Shape;92;p1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3" name="Google Shape;93;p1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94" name="Google Shape;94;p1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95" name="Google Shape;95;p1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7" name="Shape 177"/>
        <p:cNvGrpSpPr/>
        <p:nvPr/>
      </p:nvGrpSpPr>
      <p:grpSpPr>
        <a:xfrm>
          <a:off x="0" y="0"/>
          <a:ext cx="0" cy="0"/>
          <a:chOff x="0" y="0"/>
          <a:chExt cx="0" cy="0"/>
        </a:xfrm>
      </p:grpSpPr>
      <p:sp>
        <p:nvSpPr>
          <p:cNvPr id="178" name="Google Shape;178;p1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9" name="Google Shape;179;p1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0" name="Google Shape;180;p1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1" name="Google Shape;181;p1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2" name="Google Shape;182;p1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1" Type="http://schemas.openxmlformats.org/officeDocument/2006/relationships/image" Target="../media/image12.png"/><Relationship Id="rId10" Type="http://schemas.openxmlformats.org/officeDocument/2006/relationships/image" Target="../media/image18.png"/><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image" Target="../media/image15.png"/><Relationship Id="rId4" Type="http://schemas.openxmlformats.org/officeDocument/2006/relationships/image" Target="../media/image11.png"/><Relationship Id="rId9" Type="http://schemas.openxmlformats.org/officeDocument/2006/relationships/image" Target="../media/image6.png"/><Relationship Id="rId5" Type="http://schemas.openxmlformats.org/officeDocument/2006/relationships/image" Target="../media/image13.png"/><Relationship Id="rId6" Type="http://schemas.openxmlformats.org/officeDocument/2006/relationships/image" Target="../media/image7.png"/><Relationship Id="rId7" Type="http://schemas.openxmlformats.org/officeDocument/2006/relationships/image" Target="../media/image9.png"/><Relationship Id="rId8"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 Id="rId3"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 Id="rId3"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4.xml"/><Relationship Id="rId3"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5.xml"/><Relationship Id="rId3"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6.xml"/><Relationship Id="rId3" Type="http://schemas.openxmlformats.org/officeDocument/2006/relationships/image" Target="../media/image1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1"/>
          <p:cNvSpPr txBox="1"/>
          <p:nvPr/>
        </p:nvSpPr>
        <p:spPr>
          <a:xfrm>
            <a:off x="995422" y="2551837"/>
            <a:ext cx="9477046" cy="26468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3600" u="none" cap="none" strike="noStrike">
                <a:solidFill>
                  <a:srgbClr val="3F3F3F"/>
                </a:solidFill>
                <a:latin typeface="Work Sans"/>
                <a:ea typeface="Work Sans"/>
                <a:cs typeface="Work Sans"/>
                <a:sym typeface="Work Sans"/>
              </a:rPr>
              <a:t>Nombre del Grupo: </a:t>
            </a:r>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DESARROLLO DE UNA APLICACIÓN WEB Y UNA APP PARA LA GESTION, CONTROL Y CONSULTA DE LA INFORMACION NUTRICIONAL DE LOS ALIMENTOS DEL COLEGIO TECNICO PALERMO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3F3F3F"/>
              </a:solidFill>
              <a:latin typeface="Work Sans"/>
              <a:ea typeface="Work Sans"/>
              <a:cs typeface="Work Sans"/>
              <a:sym typeface="Work Sans"/>
            </a:endParaRPr>
          </a:p>
          <a:p>
            <a:pPr indent="0" lvl="0" marL="0" marR="0" rtl="0" algn="l">
              <a:lnSpc>
                <a:spcPct val="100000"/>
              </a:lnSpc>
              <a:spcBef>
                <a:spcPts val="0"/>
              </a:spcBef>
              <a:spcAft>
                <a:spcPts val="0"/>
              </a:spcAft>
              <a:buNone/>
            </a:pPr>
            <a:r>
              <a:rPr b="0" i="0" lang="es-ES" sz="2000" u="none" cap="none" strike="noStrike">
                <a:solidFill>
                  <a:srgbClr val="3F3F3F"/>
                </a:solidFill>
                <a:latin typeface="Work Sans Medium"/>
                <a:ea typeface="Work Sans Medium"/>
                <a:cs typeface="Work Sans Medium"/>
                <a:sym typeface="Work Sans Medium"/>
              </a:rPr>
              <a:t>Autores: </a:t>
            </a:r>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JUAN DAVID CARRILLO LEON </a:t>
            </a:r>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TOMAS LEONARDO ESPAÑA MUÑOZ</a:t>
            </a:r>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AIDERSON JULIO CHIQUILLO</a:t>
            </a:r>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3F3F3F"/>
              </a:solidFill>
              <a:latin typeface="Work Sans Medium"/>
              <a:ea typeface="Work Sans Medium"/>
              <a:cs typeface="Work Sans Medium"/>
              <a:sym typeface="Work Sans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
          <p:cNvSpPr txBox="1"/>
          <p:nvPr/>
        </p:nvSpPr>
        <p:spPr>
          <a:xfrm>
            <a:off x="3502135" y="1314271"/>
            <a:ext cx="4620176"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0" i="0" lang="es-ES" sz="7200" u="none" cap="none" strike="noStrike">
                <a:solidFill>
                  <a:schemeClr val="dk1"/>
                </a:solidFill>
                <a:latin typeface="Work Sans Light"/>
                <a:ea typeface="Work Sans Light"/>
                <a:cs typeface="Work Sans Light"/>
                <a:sym typeface="Work Sans Light"/>
              </a:rPr>
              <a:t>Contenido</a:t>
            </a:r>
            <a:endParaRPr b="0" i="0" sz="1400" u="none" cap="none" strike="noStrike">
              <a:solidFill>
                <a:srgbClr val="000000"/>
              </a:solidFill>
              <a:latin typeface="Arial"/>
              <a:ea typeface="Arial"/>
              <a:cs typeface="Arial"/>
              <a:sym typeface="Arial"/>
            </a:endParaRPr>
          </a:p>
        </p:txBody>
      </p:sp>
      <p:cxnSp>
        <p:nvCxnSpPr>
          <p:cNvPr id="265" name="Google Shape;265;p2"/>
          <p:cNvCxnSpPr/>
          <p:nvPr/>
        </p:nvCxnSpPr>
        <p:spPr>
          <a:xfrm>
            <a:off x="4754934" y="2515265"/>
            <a:ext cx="1736203" cy="0"/>
          </a:xfrm>
          <a:prstGeom prst="straightConnector1">
            <a:avLst/>
          </a:prstGeom>
          <a:noFill/>
          <a:ln cap="flat" cmpd="sng" w="9525">
            <a:solidFill>
              <a:srgbClr val="38AA00"/>
            </a:solidFill>
            <a:prstDash val="solid"/>
            <a:miter lim="8000"/>
            <a:headEnd len="sm" w="sm" type="none"/>
            <a:tailEnd len="sm" w="sm" type="none"/>
          </a:ln>
        </p:spPr>
      </p:cxnSp>
      <p:sp>
        <p:nvSpPr>
          <p:cNvPr id="266" name="Google Shape;266;p2"/>
          <p:cNvSpPr txBox="1"/>
          <p:nvPr/>
        </p:nvSpPr>
        <p:spPr>
          <a:xfrm>
            <a:off x="4011161" y="2738510"/>
            <a:ext cx="3854368" cy="2646838"/>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600"/>
              <a:buFont typeface="Arial"/>
              <a:buChar char="•"/>
            </a:pPr>
            <a:r>
              <a:rPr b="0" i="0" lang="es-ES" sz="1600" u="none" cap="none" strike="noStrike">
                <a:solidFill>
                  <a:schemeClr val="dk1"/>
                </a:solidFill>
                <a:latin typeface="Work Sans Light"/>
                <a:ea typeface="Work Sans Light"/>
                <a:cs typeface="Work Sans Light"/>
                <a:sym typeface="Work Sans Light"/>
              </a:rPr>
              <a:t>Objetivo del proyecto.</a:t>
            </a:r>
            <a:endParaRPr/>
          </a:p>
          <a:p>
            <a:pPr indent="-285750" lvl="1" marL="285750" marR="0" rtl="0" algn="l">
              <a:lnSpc>
                <a:spcPct val="100000"/>
              </a:lnSpc>
              <a:spcBef>
                <a:spcPts val="0"/>
              </a:spcBef>
              <a:spcAft>
                <a:spcPts val="0"/>
              </a:spcAft>
              <a:buClr>
                <a:srgbClr val="000000"/>
              </a:buClr>
              <a:buSzPts val="1600"/>
              <a:buFont typeface="Arial"/>
              <a:buChar char="•"/>
            </a:pPr>
            <a:r>
              <a:rPr b="0" i="0" lang="es-ES" sz="1600" u="none" cap="none" strike="noStrike">
                <a:solidFill>
                  <a:schemeClr val="dk1"/>
                </a:solidFill>
                <a:latin typeface="Work Sans Light"/>
                <a:ea typeface="Work Sans Light"/>
                <a:cs typeface="Work Sans Light"/>
                <a:sym typeface="Work Sans Light"/>
              </a:rPr>
              <a:t>Objetivos específicos.</a:t>
            </a:r>
            <a:endParaRPr/>
          </a:p>
          <a:p>
            <a:pPr indent="-285750" lvl="1" marL="285750" marR="0" rtl="0" algn="l">
              <a:lnSpc>
                <a:spcPct val="100000"/>
              </a:lnSpc>
              <a:spcBef>
                <a:spcPts val="0"/>
              </a:spcBef>
              <a:spcAft>
                <a:spcPts val="0"/>
              </a:spcAft>
              <a:buClr>
                <a:srgbClr val="000000"/>
              </a:buClr>
              <a:buSzPts val="1600"/>
              <a:buFont typeface="Arial"/>
              <a:buChar char="•"/>
            </a:pPr>
            <a:r>
              <a:rPr b="0" i="0" lang="es-ES" sz="1600" u="none" cap="none" strike="noStrike">
                <a:solidFill>
                  <a:schemeClr val="dk1"/>
                </a:solidFill>
                <a:latin typeface="Work Sans Light"/>
                <a:ea typeface="Work Sans Light"/>
                <a:cs typeface="Work Sans Light"/>
                <a:sym typeface="Work Sans Light"/>
              </a:rPr>
              <a:t>Pregunta Problema</a:t>
            </a:r>
            <a:endParaRPr/>
          </a:p>
          <a:p>
            <a:pPr indent="-285750" lvl="1" marL="285750" marR="0" rtl="0" algn="l">
              <a:lnSpc>
                <a:spcPct val="100000"/>
              </a:lnSpc>
              <a:spcBef>
                <a:spcPts val="0"/>
              </a:spcBef>
              <a:spcAft>
                <a:spcPts val="0"/>
              </a:spcAft>
              <a:buClr>
                <a:srgbClr val="000000"/>
              </a:buClr>
              <a:buSzPts val="1600"/>
              <a:buFont typeface="Arial"/>
              <a:buChar char="•"/>
            </a:pPr>
            <a:r>
              <a:rPr b="0" i="0" lang="es-ES" sz="1600" u="none" cap="none" strike="noStrike">
                <a:solidFill>
                  <a:schemeClr val="dk1"/>
                </a:solidFill>
                <a:latin typeface="Work Sans Light"/>
                <a:ea typeface="Work Sans Light"/>
                <a:cs typeface="Work Sans Light"/>
                <a:sym typeface="Work Sans Light"/>
              </a:rPr>
              <a:t>Modelo Canvas</a:t>
            </a:r>
            <a:endParaRPr b="0" i="0" sz="16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600"/>
              <a:buFont typeface="Arial"/>
              <a:buChar char="•"/>
            </a:pPr>
            <a:r>
              <a:rPr b="0" i="0" lang="es-ES" sz="1600" u="none" cap="none" strike="noStrike">
                <a:solidFill>
                  <a:schemeClr val="dk1"/>
                </a:solidFill>
                <a:latin typeface="Work Sans Light"/>
                <a:ea typeface="Work Sans Light"/>
                <a:cs typeface="Work Sans Light"/>
                <a:sym typeface="Work Sans Light"/>
              </a:rPr>
              <a:t>Diseño de la base de datos.</a:t>
            </a:r>
            <a:endParaRPr/>
          </a:p>
          <a:p>
            <a:pPr indent="-285750" lvl="0" marL="285750" marR="0" rtl="0" algn="l">
              <a:lnSpc>
                <a:spcPct val="100000"/>
              </a:lnSpc>
              <a:spcBef>
                <a:spcPts val="0"/>
              </a:spcBef>
              <a:spcAft>
                <a:spcPts val="0"/>
              </a:spcAft>
              <a:buClr>
                <a:srgbClr val="000000"/>
              </a:buClr>
              <a:buSzPts val="1600"/>
              <a:buFont typeface="Arial"/>
              <a:buChar char="•"/>
            </a:pPr>
            <a:r>
              <a:rPr b="0" i="0" lang="es-ES" sz="1600" u="none" cap="none" strike="noStrike">
                <a:solidFill>
                  <a:schemeClr val="dk1"/>
                </a:solidFill>
                <a:latin typeface="Work Sans Light"/>
                <a:ea typeface="Work Sans Light"/>
                <a:cs typeface="Work Sans Light"/>
                <a:sym typeface="Work Sans Light"/>
              </a:rPr>
              <a:t>Requerimientos Funcionales.</a:t>
            </a:r>
            <a:endParaRPr b="0" i="0" sz="16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600"/>
              <a:buFont typeface="Arial"/>
              <a:buChar char="•"/>
            </a:pPr>
            <a:r>
              <a:rPr b="0" i="0" lang="es-ES" sz="1600" u="none" cap="none" strike="noStrike">
                <a:solidFill>
                  <a:schemeClr val="dk1"/>
                </a:solidFill>
                <a:latin typeface="Work Sans Light"/>
                <a:ea typeface="Work Sans Light"/>
                <a:cs typeface="Work Sans Light"/>
                <a:sym typeface="Work Sans Light"/>
              </a:rPr>
              <a:t>Software utilizado.</a:t>
            </a:r>
            <a:endParaRPr/>
          </a:p>
          <a:p>
            <a:pPr indent="-285750" lvl="0" marL="285750" marR="0" rtl="0" algn="l">
              <a:lnSpc>
                <a:spcPct val="100000"/>
              </a:lnSpc>
              <a:spcBef>
                <a:spcPts val="0"/>
              </a:spcBef>
              <a:spcAft>
                <a:spcPts val="0"/>
              </a:spcAft>
              <a:buClr>
                <a:srgbClr val="000000"/>
              </a:buClr>
              <a:buSzPts val="1600"/>
              <a:buFont typeface="Arial"/>
              <a:buChar char="•"/>
            </a:pPr>
            <a:r>
              <a:rPr b="0" i="0" lang="es-ES" sz="1600" u="none" cap="none" strike="noStrike">
                <a:solidFill>
                  <a:schemeClr val="dk1"/>
                </a:solidFill>
                <a:latin typeface="Work Sans Light"/>
                <a:ea typeface="Work Sans Light"/>
                <a:cs typeface="Work Sans Light"/>
                <a:sym typeface="Work Sans Light"/>
              </a:rPr>
              <a:t>Funcionalidades.</a:t>
            </a:r>
            <a:endParaRPr b="0" i="0" sz="16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600"/>
              <a:buFont typeface="Arial"/>
              <a:buChar char="•"/>
            </a:pPr>
            <a:r>
              <a:rPr b="0" i="0" lang="es-ES" sz="1600" u="none" cap="none" strike="noStrike">
                <a:solidFill>
                  <a:schemeClr val="dk1"/>
                </a:solidFill>
                <a:latin typeface="Work Sans Light"/>
                <a:ea typeface="Work Sans Light"/>
                <a:cs typeface="Work Sans Light"/>
                <a:sym typeface="Work Sans Light"/>
              </a:rPr>
              <a:t>Reglas del negocio.</a:t>
            </a:r>
            <a:endParaRPr/>
          </a:p>
          <a:p>
            <a:pPr indent="-285750" lvl="0" marL="285750" marR="0" rtl="0" algn="l">
              <a:lnSpc>
                <a:spcPct val="100000"/>
              </a:lnSpc>
              <a:spcBef>
                <a:spcPts val="0"/>
              </a:spcBef>
              <a:spcAft>
                <a:spcPts val="0"/>
              </a:spcAft>
              <a:buClr>
                <a:srgbClr val="000000"/>
              </a:buClr>
              <a:buSzPts val="1600"/>
              <a:buFont typeface="Arial"/>
              <a:buChar char="•"/>
            </a:pPr>
            <a:r>
              <a:rPr b="0" i="0" lang="es-ES" sz="1600" u="none" cap="none" strike="noStrike">
                <a:solidFill>
                  <a:schemeClr val="dk1"/>
                </a:solidFill>
                <a:latin typeface="Work Sans Light"/>
                <a:ea typeface="Work Sans Light"/>
                <a:cs typeface="Work Sans Light"/>
                <a:sym typeface="Work Sans Light"/>
              </a:rPr>
              <a:t>Inicio Demo.</a:t>
            </a:r>
            <a:endParaRPr b="0" i="0" sz="1600" u="none" cap="none" strike="noStrike">
              <a:solidFill>
                <a:schemeClr val="dk1"/>
              </a:solidFill>
              <a:latin typeface="Work Sans Light"/>
              <a:ea typeface="Work Sans Light"/>
              <a:cs typeface="Work Sans Light"/>
              <a:sym typeface="Work Sans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1" name="Shape 271"/>
        <p:cNvGrpSpPr/>
        <p:nvPr/>
      </p:nvGrpSpPr>
      <p:grpSpPr>
        <a:xfrm>
          <a:off x="0" y="0"/>
          <a:ext cx="0" cy="0"/>
          <a:chOff x="0" y="0"/>
          <a:chExt cx="0" cy="0"/>
        </a:xfrm>
      </p:grpSpPr>
      <p:sp>
        <p:nvSpPr>
          <p:cNvPr id="272" name="Google Shape;272;p3"/>
          <p:cNvSpPr txBox="1"/>
          <p:nvPr/>
        </p:nvSpPr>
        <p:spPr>
          <a:xfrm>
            <a:off x="2551002" y="296176"/>
            <a:ext cx="7441409" cy="230828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0" i="0" lang="es-ES" sz="7200" u="none" cap="none" strike="noStrike">
                <a:solidFill>
                  <a:schemeClr val="dk1"/>
                </a:solidFill>
                <a:latin typeface="Work Sans Light"/>
                <a:ea typeface="Work Sans Light"/>
                <a:cs typeface="Work Sans Light"/>
                <a:sym typeface="Work Sans Light"/>
              </a:rPr>
              <a:t>TIEMPOS SUGERIDOS</a:t>
            </a:r>
            <a:endParaRPr b="0" i="0" sz="1400" u="none" cap="none" strike="noStrike">
              <a:solidFill>
                <a:srgbClr val="000000"/>
              </a:solidFill>
              <a:latin typeface="Arial"/>
              <a:ea typeface="Arial"/>
              <a:cs typeface="Arial"/>
              <a:sym typeface="Arial"/>
            </a:endParaRPr>
          </a:p>
        </p:txBody>
      </p:sp>
      <p:cxnSp>
        <p:nvCxnSpPr>
          <p:cNvPr id="273" name="Google Shape;273;p3"/>
          <p:cNvCxnSpPr/>
          <p:nvPr/>
        </p:nvCxnSpPr>
        <p:spPr>
          <a:xfrm>
            <a:off x="5227899" y="2649273"/>
            <a:ext cx="1736203" cy="0"/>
          </a:xfrm>
          <a:prstGeom prst="straightConnector1">
            <a:avLst/>
          </a:prstGeom>
          <a:noFill/>
          <a:ln cap="flat" cmpd="sng" w="9525">
            <a:solidFill>
              <a:srgbClr val="38AA00"/>
            </a:solidFill>
            <a:prstDash val="solid"/>
            <a:miter lim="8000"/>
            <a:headEnd len="sm" w="sm" type="none"/>
            <a:tailEnd len="sm" w="sm" type="none"/>
          </a:ln>
        </p:spPr>
      </p:cxnSp>
      <p:sp>
        <p:nvSpPr>
          <p:cNvPr id="274" name="Google Shape;274;p3"/>
          <p:cNvSpPr txBox="1"/>
          <p:nvPr/>
        </p:nvSpPr>
        <p:spPr>
          <a:xfrm>
            <a:off x="4168816" y="2906677"/>
            <a:ext cx="3854368" cy="3293169"/>
          </a:xfrm>
          <a:prstGeom prst="rect">
            <a:avLst/>
          </a:prstGeom>
          <a:noFill/>
          <a:ln>
            <a:noFill/>
          </a:ln>
        </p:spPr>
        <p:txBody>
          <a:bodyPr anchorCtr="0" anchor="t" bIns="45700" lIns="91425" spcFirstLastPara="1" rIns="91425" wrap="square" tIns="45700">
            <a:spAutoFit/>
          </a:bodyPr>
          <a:lstStyle/>
          <a:p>
            <a:pPr indent="-101600" lvl="0" marL="0" marR="0" rtl="0" algn="l">
              <a:lnSpc>
                <a:spcPct val="100000"/>
              </a:lnSpc>
              <a:spcBef>
                <a:spcPts val="0"/>
              </a:spcBef>
              <a:spcAft>
                <a:spcPts val="0"/>
              </a:spcAft>
              <a:buClr>
                <a:srgbClr val="000000"/>
              </a:buClr>
              <a:buSzPts val="1600"/>
              <a:buFont typeface="Arial"/>
              <a:buChar char="•"/>
            </a:pPr>
            <a:r>
              <a:rPr b="0" i="0" lang="es-ES" sz="1600" u="none" cap="none" strike="noStrike">
                <a:solidFill>
                  <a:srgbClr val="000000"/>
                </a:solidFill>
                <a:latin typeface="Work Sans"/>
                <a:ea typeface="Work Sans"/>
                <a:cs typeface="Work Sans"/>
                <a:sym typeface="Work Sans"/>
              </a:rPr>
              <a:t>Objetivo del proyecto: 1 minuto.</a:t>
            </a:r>
            <a:endParaRPr/>
          </a:p>
          <a:p>
            <a:pPr indent="-101600" lvl="0" marL="0" marR="0" rtl="0" algn="l">
              <a:lnSpc>
                <a:spcPct val="100000"/>
              </a:lnSpc>
              <a:spcBef>
                <a:spcPts val="0"/>
              </a:spcBef>
              <a:spcAft>
                <a:spcPts val="0"/>
              </a:spcAft>
              <a:buClr>
                <a:srgbClr val="000000"/>
              </a:buClr>
              <a:buSzPts val="1600"/>
              <a:buFont typeface="Arial"/>
              <a:buChar char="•"/>
            </a:pPr>
            <a:r>
              <a:rPr b="0" i="0" lang="es-ES" sz="1600" u="none" cap="none" strike="noStrike">
                <a:solidFill>
                  <a:srgbClr val="000000"/>
                </a:solidFill>
                <a:latin typeface="Work Sans"/>
                <a:ea typeface="Work Sans"/>
                <a:cs typeface="Work Sans"/>
                <a:sym typeface="Work Sans"/>
              </a:rPr>
              <a:t>Objetivos específicos: 1 minuto.</a:t>
            </a:r>
            <a:endParaRPr/>
          </a:p>
          <a:p>
            <a:pPr indent="-101600" lvl="0" marL="0" marR="0" rtl="0" algn="l">
              <a:lnSpc>
                <a:spcPct val="100000"/>
              </a:lnSpc>
              <a:spcBef>
                <a:spcPts val="0"/>
              </a:spcBef>
              <a:spcAft>
                <a:spcPts val="0"/>
              </a:spcAft>
              <a:buClr>
                <a:srgbClr val="000000"/>
              </a:buClr>
              <a:buSzPts val="1600"/>
              <a:buFont typeface="Arial"/>
              <a:buChar char="•"/>
            </a:pPr>
            <a:r>
              <a:rPr b="0" i="0" lang="es-ES" sz="1600" u="none" cap="none" strike="noStrike">
                <a:solidFill>
                  <a:srgbClr val="000000"/>
                </a:solidFill>
                <a:latin typeface="Work Sans"/>
                <a:ea typeface="Work Sans"/>
                <a:cs typeface="Work Sans"/>
                <a:sym typeface="Work Sans"/>
              </a:rPr>
              <a:t>Software utilizado: 1 minuto.</a:t>
            </a:r>
            <a:endParaRPr/>
          </a:p>
          <a:p>
            <a:pPr indent="-101600" lvl="0" marL="0" marR="0" rtl="0" algn="l">
              <a:lnSpc>
                <a:spcPct val="100000"/>
              </a:lnSpc>
              <a:spcBef>
                <a:spcPts val="0"/>
              </a:spcBef>
              <a:spcAft>
                <a:spcPts val="0"/>
              </a:spcAft>
              <a:buClr>
                <a:srgbClr val="000000"/>
              </a:buClr>
              <a:buSzPts val="1600"/>
              <a:buFont typeface="Arial"/>
              <a:buChar char="•"/>
            </a:pPr>
            <a:r>
              <a:rPr b="0" i="0" lang="es-ES" sz="1600" u="none" cap="none" strike="noStrike">
                <a:solidFill>
                  <a:srgbClr val="000000"/>
                </a:solidFill>
                <a:latin typeface="Work Sans"/>
                <a:ea typeface="Work Sans"/>
                <a:cs typeface="Work Sans"/>
                <a:sym typeface="Work Sans"/>
              </a:rPr>
              <a:t>Modelo Canvas: 2 minutos.</a:t>
            </a:r>
            <a:endParaRPr/>
          </a:p>
          <a:p>
            <a:pPr indent="-101600" lvl="0" marL="0" marR="0" rtl="0" algn="l">
              <a:lnSpc>
                <a:spcPct val="100000"/>
              </a:lnSpc>
              <a:spcBef>
                <a:spcPts val="0"/>
              </a:spcBef>
              <a:spcAft>
                <a:spcPts val="0"/>
              </a:spcAft>
              <a:buClr>
                <a:srgbClr val="000000"/>
              </a:buClr>
              <a:buSzPts val="1600"/>
              <a:buFont typeface="Arial"/>
              <a:buChar char="•"/>
            </a:pPr>
            <a:r>
              <a:rPr b="0" i="0" lang="es-ES" sz="1600" u="none" cap="none" strike="noStrike">
                <a:solidFill>
                  <a:srgbClr val="000000"/>
                </a:solidFill>
                <a:latin typeface="Work Sans"/>
                <a:ea typeface="Work Sans"/>
                <a:cs typeface="Work Sans"/>
                <a:sym typeface="Work Sans"/>
              </a:rPr>
              <a:t>Requerimientos Funcionales: 2 minutos.</a:t>
            </a:r>
            <a:endParaRPr/>
          </a:p>
          <a:p>
            <a:pPr indent="-101600" lvl="0" marL="0" marR="0" rtl="0" algn="l">
              <a:lnSpc>
                <a:spcPct val="100000"/>
              </a:lnSpc>
              <a:spcBef>
                <a:spcPts val="0"/>
              </a:spcBef>
              <a:spcAft>
                <a:spcPts val="0"/>
              </a:spcAft>
              <a:buClr>
                <a:srgbClr val="000000"/>
              </a:buClr>
              <a:buSzPts val="1600"/>
              <a:buFont typeface="Arial"/>
              <a:buChar char="•"/>
            </a:pPr>
            <a:r>
              <a:rPr b="0" i="0" lang="es-ES" sz="1600" u="none" cap="none" strike="noStrike">
                <a:solidFill>
                  <a:srgbClr val="000000"/>
                </a:solidFill>
                <a:latin typeface="Work Sans"/>
                <a:ea typeface="Work Sans"/>
                <a:cs typeface="Work Sans"/>
                <a:sym typeface="Work Sans"/>
              </a:rPr>
              <a:t>Reglas del negocio: 2 minutos.</a:t>
            </a:r>
            <a:endParaRPr/>
          </a:p>
          <a:p>
            <a:pPr indent="-101600" lvl="0" marL="0" marR="0" rtl="0" algn="l">
              <a:lnSpc>
                <a:spcPct val="100000"/>
              </a:lnSpc>
              <a:spcBef>
                <a:spcPts val="0"/>
              </a:spcBef>
              <a:spcAft>
                <a:spcPts val="0"/>
              </a:spcAft>
              <a:buClr>
                <a:srgbClr val="000000"/>
              </a:buClr>
              <a:buSzPts val="1600"/>
              <a:buFont typeface="Arial"/>
              <a:buChar char="•"/>
            </a:pPr>
            <a:r>
              <a:rPr b="0" i="0" lang="es-ES" sz="1600" u="none" cap="none" strike="noStrike">
                <a:solidFill>
                  <a:srgbClr val="000000"/>
                </a:solidFill>
                <a:latin typeface="Work Sans"/>
                <a:ea typeface="Work Sans"/>
                <a:cs typeface="Work Sans"/>
                <a:sym typeface="Work Sans"/>
              </a:rPr>
              <a:t>Diseño de la base de datos: 2 minutos.</a:t>
            </a:r>
            <a:endParaRPr/>
          </a:p>
          <a:p>
            <a:pPr indent="-101600" lvl="0" marL="0" marR="0" rtl="0" algn="l">
              <a:lnSpc>
                <a:spcPct val="100000"/>
              </a:lnSpc>
              <a:spcBef>
                <a:spcPts val="0"/>
              </a:spcBef>
              <a:spcAft>
                <a:spcPts val="0"/>
              </a:spcAft>
              <a:buClr>
                <a:srgbClr val="000000"/>
              </a:buClr>
              <a:buSzPts val="1600"/>
              <a:buFont typeface="Arial"/>
              <a:buChar char="•"/>
            </a:pPr>
            <a:r>
              <a:rPr b="0" i="0" lang="es-ES" sz="1600" u="none" cap="none" strike="noStrike">
                <a:solidFill>
                  <a:srgbClr val="000000"/>
                </a:solidFill>
                <a:latin typeface="Work Sans"/>
                <a:ea typeface="Work Sans"/>
                <a:cs typeface="Work Sans"/>
                <a:sym typeface="Work Sans"/>
              </a:rPr>
              <a:t>Funcionalidades: 3 minutos.</a:t>
            </a:r>
            <a:endParaRPr/>
          </a:p>
          <a:p>
            <a:pPr indent="-101600" lvl="0" marL="0" marR="0" rtl="0" algn="l">
              <a:lnSpc>
                <a:spcPct val="100000"/>
              </a:lnSpc>
              <a:spcBef>
                <a:spcPts val="0"/>
              </a:spcBef>
              <a:spcAft>
                <a:spcPts val="0"/>
              </a:spcAft>
              <a:buClr>
                <a:srgbClr val="000000"/>
              </a:buClr>
              <a:buSzPts val="1600"/>
              <a:buFont typeface="Arial"/>
              <a:buChar char="•"/>
            </a:pPr>
            <a:r>
              <a:rPr b="0" i="0" lang="es-ES" sz="1600" u="none" cap="none" strike="noStrike">
                <a:solidFill>
                  <a:srgbClr val="000000"/>
                </a:solidFill>
                <a:latin typeface="Work Sans"/>
                <a:ea typeface="Work Sans"/>
                <a:cs typeface="Work Sans"/>
                <a:sym typeface="Work Sans"/>
              </a:rPr>
              <a:t>Inicio Demo: 6 minutos.</a:t>
            </a:r>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Work Sans"/>
              <a:ea typeface="Work Sans"/>
              <a:cs typeface="Work Sans"/>
              <a:sym typeface="Work Sans"/>
            </a:endParaRPr>
          </a:p>
          <a:p>
            <a:pPr indent="0" lvl="0" marL="0" marR="0" rtl="0" algn="l">
              <a:lnSpc>
                <a:spcPct val="100000"/>
              </a:lnSpc>
              <a:spcBef>
                <a:spcPts val="0"/>
              </a:spcBef>
              <a:spcAft>
                <a:spcPts val="0"/>
              </a:spcAft>
              <a:buNone/>
            </a:pPr>
            <a:r>
              <a:rPr b="0" i="0" lang="es-ES" sz="1600" u="none" cap="none" strike="noStrike">
                <a:solidFill>
                  <a:srgbClr val="000000"/>
                </a:solidFill>
                <a:latin typeface="Work Sans"/>
                <a:ea typeface="Work Sans"/>
                <a:cs typeface="Work Sans"/>
                <a:sym typeface="Work Sans"/>
              </a:rPr>
              <a:t>Total: 20 minutos.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8" name="Shape 278"/>
        <p:cNvGrpSpPr/>
        <p:nvPr/>
      </p:nvGrpSpPr>
      <p:grpSpPr>
        <a:xfrm>
          <a:off x="0" y="0"/>
          <a:ext cx="0" cy="0"/>
          <a:chOff x="0" y="0"/>
          <a:chExt cx="0" cy="0"/>
        </a:xfrm>
      </p:grpSpPr>
      <p:sp>
        <p:nvSpPr>
          <p:cNvPr id="279" name="Google Shape;279;p97"/>
          <p:cNvSpPr txBox="1"/>
          <p:nvPr/>
        </p:nvSpPr>
        <p:spPr>
          <a:xfrm>
            <a:off x="456236" y="416689"/>
            <a:ext cx="10515600" cy="74156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FFFFFF"/>
              </a:buClr>
              <a:buSzPts val="4400"/>
              <a:buFont typeface="Arial"/>
              <a:buNone/>
            </a:pPr>
            <a:r>
              <a:rPr lang="es-ES" sz="4400">
                <a:solidFill>
                  <a:srgbClr val="FFFFFF"/>
                </a:solidFill>
                <a:latin typeface="Work Sans Medium"/>
                <a:ea typeface="Work Sans Medium"/>
                <a:cs typeface="Work Sans Medium"/>
                <a:sym typeface="Work Sans Medium"/>
              </a:rPr>
              <a:t>Introducción</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4400"/>
              <a:buFont typeface="Arial"/>
              <a:buNone/>
            </a:pPr>
            <a:r>
              <a:t/>
            </a:r>
            <a:endParaRPr b="0" i="0" sz="4400" u="none" cap="none" strike="noStrike">
              <a:solidFill>
                <a:srgbClr val="FFFFFF"/>
              </a:solidFill>
              <a:latin typeface="Work Sans Medium"/>
              <a:ea typeface="Work Sans Medium"/>
              <a:cs typeface="Work Sans Medium"/>
              <a:sym typeface="Work Sans Medium"/>
            </a:endParaRPr>
          </a:p>
        </p:txBody>
      </p:sp>
      <p:sp>
        <p:nvSpPr>
          <p:cNvPr id="280" name="Google Shape;280;p97"/>
          <p:cNvSpPr txBox="1"/>
          <p:nvPr/>
        </p:nvSpPr>
        <p:spPr>
          <a:xfrm>
            <a:off x="1520982" y="1819747"/>
            <a:ext cx="9732600" cy="3109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lang="es-ES" sz="2800"/>
              <a:t>El proyecto consiste en desarrollar una aplicación web y una aplicación móvil para la gestión, el control y la consulta de la información nutricional de los alimentos del Colegio Técnico Palermo. La solución busca organizar la información de los alimentos y los menús escolares, facilitar su consulta por parte de estudiantes y acudientes, y apoyar la administración de los datos mediante herramientas digitales.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8AA00"/>
        </a:solidFill>
      </p:bgPr>
    </p:bg>
    <p:spTree>
      <p:nvGrpSpPr>
        <p:cNvPr id="285" name="Shape 285"/>
        <p:cNvGrpSpPr/>
        <p:nvPr/>
      </p:nvGrpSpPr>
      <p:grpSpPr>
        <a:xfrm>
          <a:off x="0" y="0"/>
          <a:ext cx="0" cy="0"/>
          <a:chOff x="0" y="0"/>
          <a:chExt cx="0" cy="0"/>
        </a:xfrm>
      </p:grpSpPr>
      <p:sp>
        <p:nvSpPr>
          <p:cNvPr id="286" name="Google Shape;286;h1ae4dd587d4263b4_0_1"/>
          <p:cNvSpPr txBox="1"/>
          <p:nvPr/>
        </p:nvSpPr>
        <p:spPr>
          <a:xfrm>
            <a:off x="456236" y="416689"/>
            <a:ext cx="10515600" cy="741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FFFFFF"/>
              </a:buClr>
              <a:buSzPts val="4400"/>
              <a:buFont typeface="Arial"/>
              <a:buNone/>
            </a:pPr>
            <a:r>
              <a:rPr lang="es-ES" sz="4400">
                <a:solidFill>
                  <a:srgbClr val="FFFFFF"/>
                </a:solidFill>
                <a:latin typeface="Work Sans Medium"/>
                <a:ea typeface="Work Sans Medium"/>
                <a:cs typeface="Work Sans Medium"/>
                <a:sym typeface="Work Sans Medium"/>
              </a:rPr>
              <a:t>Planteamiento del problema</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4400"/>
              <a:buFont typeface="Arial"/>
              <a:buNone/>
            </a:pPr>
            <a:r>
              <a:t/>
            </a:r>
            <a:endParaRPr b="0" i="0" sz="4400" u="none" cap="none" strike="noStrike">
              <a:solidFill>
                <a:srgbClr val="FFFFFF"/>
              </a:solidFill>
              <a:latin typeface="Work Sans Medium"/>
              <a:ea typeface="Work Sans Medium"/>
              <a:cs typeface="Work Sans Medium"/>
              <a:sym typeface="Work Sans Medium"/>
            </a:endParaRPr>
          </a:p>
        </p:txBody>
      </p:sp>
      <p:sp>
        <p:nvSpPr>
          <p:cNvPr id="287" name="Google Shape;287;h1ae4dd587d4263b4_0_1"/>
          <p:cNvSpPr txBox="1"/>
          <p:nvPr/>
        </p:nvSpPr>
        <p:spPr>
          <a:xfrm>
            <a:off x="2220125" y="1158600"/>
            <a:ext cx="8421000" cy="45408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Clr>
                <a:schemeClr val="dk1"/>
              </a:buClr>
              <a:buSzPts val="1100"/>
              <a:buFont typeface="Arial"/>
              <a:buNone/>
            </a:pPr>
            <a:r>
              <a:rPr b="1" lang="es-ES" sz="2000"/>
              <a:t>Actualmente, la gestión de la información relacionada con los alimentos y el servicio de alimentación escolar puede presentar dificultades cuando los datos se manejan mediante registros manuales o se encuentran desorganizados. Esto puede dificultar la consulta oportuna de la información nutricional, la revisión de los menús y el control de los datos relacionados con el consumo de los estudiantes.</a:t>
            </a:r>
            <a:endParaRPr b="1" sz="2000"/>
          </a:p>
          <a:p>
            <a:pPr indent="0" lvl="0" marL="0" rtl="0" algn="l">
              <a:lnSpc>
                <a:spcPct val="115000"/>
              </a:lnSpc>
              <a:spcBef>
                <a:spcPts val="1200"/>
              </a:spcBef>
              <a:spcAft>
                <a:spcPts val="0"/>
              </a:spcAft>
              <a:buClr>
                <a:schemeClr val="dk1"/>
              </a:buClr>
              <a:buSzPts val="1100"/>
              <a:buFont typeface="Arial"/>
              <a:buNone/>
            </a:pPr>
            <a:r>
              <a:rPr b="1" lang="es-ES" sz="2000"/>
              <a:t>Ante esta situación, surge la necesidad de implementar una herramienta digital que centralice y facilite el acceso a esta información, mejorando su organización y consulta dentro de la institución.</a:t>
            </a:r>
            <a:endParaRPr b="1" sz="2000"/>
          </a:p>
          <a:p>
            <a:pPr indent="0" lvl="0" marL="0" marR="0" rtl="0" algn="l">
              <a:lnSpc>
                <a:spcPct val="100000"/>
              </a:lnSpc>
              <a:spcBef>
                <a:spcPts val="1200"/>
              </a:spcBef>
              <a:spcAft>
                <a:spcPts val="0"/>
              </a:spcAft>
              <a:buNone/>
            </a:pPr>
            <a:r>
              <a:t/>
            </a:r>
            <a:endParaRPr b="1" sz="1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8AA00"/>
        </a:solidFill>
      </p:bgPr>
    </p:bg>
    <p:spTree>
      <p:nvGrpSpPr>
        <p:cNvPr id="291" name="Shape 291"/>
        <p:cNvGrpSpPr/>
        <p:nvPr/>
      </p:nvGrpSpPr>
      <p:grpSpPr>
        <a:xfrm>
          <a:off x="0" y="0"/>
          <a:ext cx="0" cy="0"/>
          <a:chOff x="0" y="0"/>
          <a:chExt cx="0" cy="0"/>
        </a:xfrm>
      </p:grpSpPr>
      <p:sp>
        <p:nvSpPr>
          <p:cNvPr id="292" name="Google Shape;292;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lang="es-ES"/>
              <a:t>Pregunta Problema</a:t>
            </a:r>
            <a:endParaRPr/>
          </a:p>
        </p:txBody>
      </p:sp>
      <p:sp>
        <p:nvSpPr>
          <p:cNvPr id="293" name="Google Shape;293;p5"/>
          <p:cNvSpPr txBox="1"/>
          <p:nvPr>
            <p:ph idx="1" type="body"/>
          </p:nvPr>
        </p:nvSpPr>
        <p:spPr>
          <a:xfrm>
            <a:off x="838200" y="1825625"/>
            <a:ext cx="10515600" cy="4351338"/>
          </a:xfrm>
          <a:prstGeom prst="rect">
            <a:avLst/>
          </a:prstGeom>
          <a:noFill/>
          <a:ln>
            <a:noFill/>
          </a:ln>
        </p:spPr>
        <p:txBody>
          <a:bodyPr anchorCtr="0" anchor="ctr" bIns="45700" lIns="91425" spcFirstLastPara="1" rIns="91425" wrap="square" tIns="45700">
            <a:normAutofit/>
          </a:bodyPr>
          <a:lstStyle/>
          <a:p>
            <a:pPr indent="-342900" lvl="0" marL="457200" rtl="0" algn="l">
              <a:lnSpc>
                <a:spcPct val="90000"/>
              </a:lnSpc>
              <a:spcBef>
                <a:spcPts val="1000"/>
              </a:spcBef>
              <a:spcAft>
                <a:spcPts val="0"/>
              </a:spcAft>
              <a:buSzPts val="1800"/>
              <a:buChar char="•"/>
            </a:pPr>
            <a:r>
              <a:rPr lang="es-ES" sz="2800"/>
              <a:t>¿Cómo puede una aplicación web y móvil mejorar la gestión, el control y la consulta de la información nutricional de los alimentos del Colegio Técnico Palermo?</a:t>
            </a:r>
            <a:endParaRPr/>
          </a:p>
        </p:txBody>
      </p:sp>
      <p:pic>
        <p:nvPicPr>
          <p:cNvPr id="294" name="Google Shape;294;p5" title="logo-de-SENA-png-Negro-300x300-1.png"/>
          <p:cNvPicPr preferRelativeResize="0"/>
          <p:nvPr/>
        </p:nvPicPr>
        <p:blipFill>
          <a:blip r:embed="rId3">
            <a:alphaModFix/>
          </a:blip>
          <a:stretch>
            <a:fillRect/>
          </a:stretch>
        </p:blipFill>
        <p:spPr>
          <a:xfrm>
            <a:off x="10590075" y="498788"/>
            <a:ext cx="1058250" cy="10582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8" name="Shape 298"/>
        <p:cNvGrpSpPr/>
        <p:nvPr/>
      </p:nvGrpSpPr>
      <p:grpSpPr>
        <a:xfrm>
          <a:off x="0" y="0"/>
          <a:ext cx="0" cy="0"/>
          <a:chOff x="0" y="0"/>
          <a:chExt cx="0" cy="0"/>
        </a:xfrm>
      </p:grpSpPr>
      <p:sp>
        <p:nvSpPr>
          <p:cNvPr id="299" name="Google Shape;299;p98"/>
          <p:cNvSpPr txBox="1"/>
          <p:nvPr/>
        </p:nvSpPr>
        <p:spPr>
          <a:xfrm>
            <a:off x="456236" y="457723"/>
            <a:ext cx="10611814" cy="67659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C0C0C"/>
              </a:buClr>
              <a:buSzPts val="4400"/>
              <a:buFont typeface="Arial"/>
              <a:buNone/>
            </a:pPr>
            <a:r>
              <a:rPr b="0" i="0" lang="es-ES" sz="4400" u="none" cap="none" strike="noStrike">
                <a:solidFill>
                  <a:srgbClr val="0C0C0C"/>
                </a:solidFill>
                <a:latin typeface="Work Sans Medium"/>
                <a:ea typeface="Work Sans Medium"/>
                <a:cs typeface="Work Sans Medium"/>
                <a:sym typeface="Work Sans Medium"/>
              </a:rPr>
              <a:t>Objetivo general</a:t>
            </a:r>
            <a:endParaRPr b="0" i="0" sz="1400" u="none" cap="none" strike="noStrike">
              <a:solidFill>
                <a:srgbClr val="000000"/>
              </a:solidFill>
              <a:latin typeface="Arial"/>
              <a:ea typeface="Arial"/>
              <a:cs typeface="Arial"/>
              <a:sym typeface="Arial"/>
            </a:endParaRPr>
          </a:p>
        </p:txBody>
      </p:sp>
      <p:sp>
        <p:nvSpPr>
          <p:cNvPr id="300" name="Google Shape;300;p98"/>
          <p:cNvSpPr txBox="1"/>
          <p:nvPr/>
        </p:nvSpPr>
        <p:spPr>
          <a:xfrm>
            <a:off x="1584356" y="1656785"/>
            <a:ext cx="7568697" cy="424731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3200" u="none" cap="none" strike="noStrike">
                <a:solidFill>
                  <a:srgbClr val="000000"/>
                </a:solidFill>
                <a:latin typeface="Arial"/>
                <a:ea typeface="Arial"/>
                <a:cs typeface="Arial"/>
                <a:sym typeface="Arial"/>
              </a:rPr>
              <a:t>Desarrollar una aplicación web y móvil que permita gestionar, controlar y consultar la información nutricional de los alimentos del Colegio Técnico Palermo, con el fin de optimizar la administración del servicio de alimentación escolar mediante el uso de herramientas tecnológicas eficientes.</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04" name="Shape 304"/>
        <p:cNvGrpSpPr/>
        <p:nvPr/>
      </p:nvGrpSpPr>
      <p:grpSpPr>
        <a:xfrm>
          <a:off x="0" y="0"/>
          <a:ext cx="0" cy="0"/>
          <a:chOff x="0" y="0"/>
          <a:chExt cx="0" cy="0"/>
        </a:xfrm>
      </p:grpSpPr>
      <p:sp>
        <p:nvSpPr>
          <p:cNvPr id="305" name="Google Shape;305;p4"/>
          <p:cNvSpPr txBox="1"/>
          <p:nvPr/>
        </p:nvSpPr>
        <p:spPr>
          <a:xfrm>
            <a:off x="456236" y="416689"/>
            <a:ext cx="10515600" cy="74156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b="0" i="0" lang="es-ES" sz="4400" u="none" cap="none" strike="noStrike">
                <a:solidFill>
                  <a:srgbClr val="0C0C0C"/>
                </a:solidFill>
                <a:latin typeface="Work Sans Medium"/>
                <a:ea typeface="Work Sans Medium"/>
                <a:cs typeface="Work Sans Medium"/>
                <a:sym typeface="Work Sans Medium"/>
              </a:rPr>
              <a:t>Objetivos específicos</a:t>
            </a:r>
            <a:endParaRPr b="0" i="0" sz="4400" u="none" cap="none" strike="noStrike">
              <a:solidFill>
                <a:srgbClr val="000000"/>
              </a:solidFill>
              <a:latin typeface="Arial"/>
              <a:ea typeface="Arial"/>
              <a:cs typeface="Arial"/>
              <a:sym typeface="Arial"/>
            </a:endParaRPr>
          </a:p>
        </p:txBody>
      </p:sp>
      <p:sp>
        <p:nvSpPr>
          <p:cNvPr id="306" name="Google Shape;306;p4"/>
          <p:cNvSpPr txBox="1"/>
          <p:nvPr/>
        </p:nvSpPr>
        <p:spPr>
          <a:xfrm>
            <a:off x="724277" y="1819747"/>
            <a:ext cx="10330004" cy="4185761"/>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Arial"/>
              <a:buChar char="•"/>
            </a:pPr>
            <a:r>
              <a:rPr b="0" i="0" lang="es-ES" sz="1400" u="none" cap="none" strike="noStrike">
                <a:solidFill>
                  <a:srgbClr val="000000"/>
                </a:solidFill>
                <a:latin typeface="Arial"/>
                <a:ea typeface="Arial"/>
                <a:cs typeface="Arial"/>
                <a:sym typeface="Arial"/>
              </a:rPr>
              <a:t>Identificar las necesidades relacionadas con la gestión de la información nutricional en el servicio de alimentación escolar del Colegio Técnico Palermo, mediante la aplicación de instrumentos de recolección de información (encuestas o entrevistas), logrando documentar el 100% de los requerimientos funcionales y no funcionales del sistema.</a:t>
            </a:r>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s-ES" sz="1400" u="none" cap="none" strike="noStrike">
                <a:solidFill>
                  <a:srgbClr val="000000"/>
                </a:solidFill>
                <a:latin typeface="Arial"/>
                <a:ea typeface="Arial"/>
                <a:cs typeface="Arial"/>
                <a:sym typeface="Arial"/>
              </a:rPr>
              <a:t>Diseñar la estructura del sistema, incluyendo la base de datos, la interfaz de usuario y los módulos funcionales, garantizando que el 100% de los requerimientos definidos sean representados en el modelo del sistema (diagramas, prototipos y modelo relacional).</a:t>
            </a:r>
            <a:endParaRPr b="0" i="0" sz="1400" u="none" cap="none" strike="noStrike">
              <a:solidFill>
                <a:srgbClr val="000000"/>
              </a:solidFill>
              <a:latin typeface="Arial"/>
              <a:ea typeface="Arial"/>
              <a:cs typeface="Arial"/>
              <a:sym typeface="Arial"/>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s-ES" sz="1400" u="none" cap="none" strike="noStrike">
                <a:solidFill>
                  <a:srgbClr val="000000"/>
                </a:solidFill>
                <a:latin typeface="Arial"/>
                <a:ea typeface="Arial"/>
                <a:cs typeface="Arial"/>
                <a:sym typeface="Arial"/>
              </a:rPr>
              <a:t>Desarrollar la aplicación web y móvil que permita registrar, controlar y consultar la Información nutricional de los alimentos, implementando al menos el 90% de las funcionalidades planificadas en los módulos definidos.</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s-ES" sz="1400" u="none" cap="none" strike="noStrike">
                <a:solidFill>
                  <a:srgbClr val="000000"/>
                </a:solidFill>
                <a:latin typeface="Arial"/>
                <a:ea typeface="Arial"/>
                <a:cs typeface="Arial"/>
                <a:sym typeface="Arial"/>
              </a:rPr>
              <a:t>Evaluar el funcionamiento del sistema mediante pruebas técnicas y de usuario, validando  el 100% de los requerimientos funcionales y alcanzando un nivel mínimo de 80% de  satisfacción de los usuarios en las pruebas realizadas.</a:t>
            </a:r>
            <a:endParaRPr/>
          </a:p>
          <a:p>
            <a:pPr indent="0" lvl="0" marL="0" marR="0" rtl="0" algn="l">
              <a:lnSpc>
                <a:spcPct val="100000"/>
              </a:lnSpc>
              <a:spcBef>
                <a:spcPts val="0"/>
              </a:spcBef>
              <a:spcAft>
                <a:spcPts val="0"/>
              </a:spcAft>
              <a:buNone/>
            </a:pPr>
            <a:br>
              <a:rPr b="0" i="0" lang="es-ES" sz="1400" u="none" cap="none" strike="noStrike">
                <a:solidFill>
                  <a:srgbClr val="000000"/>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6"/>
          <p:cNvSpPr txBox="1"/>
          <p:nvPr/>
        </p:nvSpPr>
        <p:spPr>
          <a:xfrm>
            <a:off x="374754" y="122881"/>
            <a:ext cx="10611814" cy="67659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FFFFFF"/>
              </a:buClr>
              <a:buSzPts val="4400"/>
              <a:buFont typeface="Arial"/>
              <a:buNone/>
            </a:pPr>
            <a:r>
              <a:rPr b="0" i="0" lang="es-ES" sz="4400" u="none" cap="none" strike="noStrike">
                <a:solidFill>
                  <a:schemeClr val="dk1"/>
                </a:solidFill>
                <a:latin typeface="Work Sans Medium"/>
                <a:ea typeface="Work Sans Medium"/>
                <a:cs typeface="Work Sans Medium"/>
                <a:sym typeface="Work Sans Medium"/>
              </a:rPr>
              <a:t>Modelo Canvas</a:t>
            </a:r>
            <a:endParaRPr b="0" i="0" sz="4400" u="none" cap="none" strike="noStrike">
              <a:solidFill>
                <a:schemeClr val="dk1"/>
              </a:solidFill>
              <a:latin typeface="Arial"/>
              <a:ea typeface="Arial"/>
              <a:cs typeface="Arial"/>
              <a:sym typeface="Arial"/>
            </a:endParaRPr>
          </a:p>
        </p:txBody>
      </p:sp>
      <p:sp>
        <p:nvSpPr>
          <p:cNvPr id="312" name="Google Shape;312;p6"/>
          <p:cNvSpPr txBox="1"/>
          <p:nvPr/>
        </p:nvSpPr>
        <p:spPr>
          <a:xfrm>
            <a:off x="616414" y="1093886"/>
            <a:ext cx="20955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1400" u="none" cap="none" strike="noStrike">
                <a:solidFill>
                  <a:srgbClr val="000000"/>
                </a:solidFill>
                <a:latin typeface="Arial"/>
                <a:ea typeface="Arial"/>
                <a:cs typeface="Arial"/>
                <a:sym typeface="Arial"/>
              </a:rPr>
              <a:t>Socios Clave</a:t>
            </a:r>
            <a:endParaRPr b="1" i="0" sz="1400" u="none" cap="none" strike="noStrike">
              <a:solidFill>
                <a:srgbClr val="000000"/>
              </a:solidFill>
              <a:latin typeface="Arial"/>
              <a:ea typeface="Arial"/>
              <a:cs typeface="Arial"/>
              <a:sym typeface="Arial"/>
            </a:endParaRPr>
          </a:p>
        </p:txBody>
      </p:sp>
      <p:sp>
        <p:nvSpPr>
          <p:cNvPr id="313" name="Google Shape;313;p6"/>
          <p:cNvSpPr/>
          <p:nvPr/>
        </p:nvSpPr>
        <p:spPr>
          <a:xfrm>
            <a:off x="565631" y="2347559"/>
            <a:ext cx="2083595"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200" u="none" cap="none" strike="noStrike">
                <a:solidFill>
                  <a:srgbClr val="000000"/>
                </a:solidFill>
                <a:latin typeface="Arial"/>
                <a:ea typeface="Arial"/>
                <a:cs typeface="Arial"/>
                <a:sym typeface="Arial"/>
              </a:rPr>
              <a:t>- </a:t>
            </a:r>
            <a:r>
              <a:rPr b="0" i="0" lang="es-ES" sz="1000" u="none" cap="none" strike="noStrike">
                <a:solidFill>
                  <a:srgbClr val="000000"/>
                </a:solidFill>
                <a:latin typeface="Arial"/>
                <a:ea typeface="Arial"/>
                <a:cs typeface="Arial"/>
                <a:sym typeface="Arial"/>
              </a:rPr>
              <a:t>Nutricionistas.</a:t>
            </a:r>
            <a:endParaRPr/>
          </a:p>
          <a:p>
            <a:pPr indent="0" lvl="0" marL="0" marR="0" rtl="0" algn="l">
              <a:lnSpc>
                <a:spcPct val="100000"/>
              </a:lnSpc>
              <a:spcBef>
                <a:spcPts val="0"/>
              </a:spcBef>
              <a:spcAft>
                <a:spcPts val="0"/>
              </a:spcAft>
              <a:buNone/>
            </a:pPr>
            <a:r>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1000" u="none" cap="none" strike="noStrike">
                <a:solidFill>
                  <a:srgbClr val="000000"/>
                </a:solidFill>
                <a:latin typeface="Arial"/>
                <a:ea typeface="Arial"/>
                <a:cs typeface="Arial"/>
                <a:sym typeface="Arial"/>
              </a:rPr>
              <a:t>- Plataformas de hosting y servicios en la nube.</a:t>
            </a:r>
            <a:endParaRPr/>
          </a:p>
          <a:p>
            <a:pPr indent="0" lvl="1" marL="0" marR="0" rtl="0" algn="l">
              <a:lnSpc>
                <a:spcPct val="100000"/>
              </a:lnSpc>
              <a:spcBef>
                <a:spcPts val="0"/>
              </a:spcBef>
              <a:spcAft>
                <a:spcPts val="0"/>
              </a:spcAft>
              <a:buNone/>
            </a:pPr>
            <a:r>
              <a:t/>
            </a:r>
            <a:endParaRPr b="0" i="0" sz="1400" u="none" cap="none" strike="noStrike">
              <a:solidFill>
                <a:srgbClr val="0D0D0D"/>
              </a:solidFill>
              <a:latin typeface="Arial"/>
              <a:ea typeface="Arial"/>
              <a:cs typeface="Arial"/>
              <a:sym typeface="Arial"/>
            </a:endParaRPr>
          </a:p>
        </p:txBody>
      </p:sp>
      <p:pic>
        <p:nvPicPr>
          <p:cNvPr id="314" name="Google Shape;314;p6"/>
          <p:cNvPicPr preferRelativeResize="0"/>
          <p:nvPr/>
        </p:nvPicPr>
        <p:blipFill rotWithShape="1">
          <a:blip r:embed="rId3">
            <a:alphaModFix/>
          </a:blip>
          <a:srcRect b="0" l="0" r="0" t="0"/>
          <a:stretch/>
        </p:blipFill>
        <p:spPr>
          <a:xfrm>
            <a:off x="889332" y="3825959"/>
            <a:ext cx="976996" cy="605738"/>
          </a:xfrm>
          <a:prstGeom prst="rect">
            <a:avLst/>
          </a:prstGeom>
          <a:noFill/>
          <a:ln>
            <a:noFill/>
          </a:ln>
        </p:spPr>
      </p:pic>
      <p:cxnSp>
        <p:nvCxnSpPr>
          <p:cNvPr id="315" name="Google Shape;315;p6"/>
          <p:cNvCxnSpPr/>
          <p:nvPr/>
        </p:nvCxnSpPr>
        <p:spPr>
          <a:xfrm flipH="1">
            <a:off x="2849099" y="993057"/>
            <a:ext cx="18091" cy="3719671"/>
          </a:xfrm>
          <a:prstGeom prst="straightConnector1">
            <a:avLst/>
          </a:prstGeom>
          <a:noFill/>
          <a:ln cap="flat" cmpd="sng" w="9525">
            <a:solidFill>
              <a:schemeClr val="dk1"/>
            </a:solidFill>
            <a:prstDash val="solid"/>
            <a:round/>
            <a:headEnd len="sm" w="sm" type="none"/>
            <a:tailEnd len="sm" w="sm" type="none"/>
          </a:ln>
        </p:spPr>
      </p:cxnSp>
      <p:sp>
        <p:nvSpPr>
          <p:cNvPr id="316" name="Google Shape;316;p6"/>
          <p:cNvSpPr/>
          <p:nvPr/>
        </p:nvSpPr>
        <p:spPr>
          <a:xfrm>
            <a:off x="3039507" y="1052313"/>
            <a:ext cx="1685077"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1400" u="none" cap="none" strike="noStrike">
                <a:solidFill>
                  <a:srgbClr val="000000"/>
                </a:solidFill>
                <a:latin typeface="Arial"/>
                <a:ea typeface="Arial"/>
                <a:cs typeface="Arial"/>
                <a:sym typeface="Arial"/>
              </a:rPr>
              <a:t>Actividades clave</a:t>
            </a:r>
            <a:endParaRPr/>
          </a:p>
          <a:p>
            <a:pPr indent="0" lvl="0" marL="0" marR="0" rtl="0" algn="l">
              <a:lnSpc>
                <a:spcPct val="100000"/>
              </a:lnSpc>
              <a:spcBef>
                <a:spcPts val="0"/>
              </a:spcBef>
              <a:spcAft>
                <a:spcPts val="0"/>
              </a:spcAft>
              <a:buNone/>
            </a:pPr>
            <a:r>
              <a:t/>
            </a:r>
            <a:endParaRPr b="1" i="0" sz="1400" u="none" cap="none" strike="noStrike">
              <a:solidFill>
                <a:srgbClr val="0D0D0D"/>
              </a:solidFill>
              <a:latin typeface="Arial"/>
              <a:ea typeface="Arial"/>
              <a:cs typeface="Arial"/>
              <a:sym typeface="Arial"/>
            </a:endParaRPr>
          </a:p>
        </p:txBody>
      </p:sp>
      <p:sp>
        <p:nvSpPr>
          <p:cNvPr id="317" name="Google Shape;317;p6"/>
          <p:cNvSpPr/>
          <p:nvPr/>
        </p:nvSpPr>
        <p:spPr>
          <a:xfrm>
            <a:off x="2862282" y="1355500"/>
            <a:ext cx="2408687" cy="92333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900"/>
              <a:buFont typeface="Arial"/>
              <a:buChar char="-"/>
            </a:pPr>
            <a:r>
              <a:rPr b="0" i="0" lang="es-ES" sz="900" u="none" cap="none" strike="noStrike">
                <a:solidFill>
                  <a:srgbClr val="000000"/>
                </a:solidFill>
                <a:latin typeface="Arial"/>
                <a:ea typeface="Arial"/>
                <a:cs typeface="Arial"/>
                <a:sym typeface="Arial"/>
              </a:rPr>
              <a:t>Desarrollo y mantenimiento de la plataforma.</a:t>
            </a:r>
            <a:endParaRPr b="0" i="0" sz="9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900"/>
              <a:buFont typeface="Arial"/>
              <a:buChar char="-"/>
            </a:pPr>
            <a:r>
              <a:rPr b="0" i="0" lang="es-ES" sz="900" u="none" cap="none" strike="noStrike">
                <a:solidFill>
                  <a:srgbClr val="000000"/>
                </a:solidFill>
                <a:latin typeface="Arial"/>
                <a:ea typeface="Arial"/>
                <a:cs typeface="Arial"/>
                <a:sym typeface="Arial"/>
              </a:rPr>
              <a:t>Gestión de la base de datos nutricional.</a:t>
            </a:r>
            <a:endParaRPr b="0" i="0" sz="9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900"/>
              <a:buFont typeface="Arial"/>
              <a:buChar char="-"/>
            </a:pPr>
            <a:r>
              <a:rPr b="0" i="0" lang="es-ES" sz="900" u="none" cap="none" strike="noStrike">
                <a:solidFill>
                  <a:srgbClr val="000000"/>
                </a:solidFill>
                <a:latin typeface="Arial"/>
                <a:ea typeface="Arial"/>
                <a:cs typeface="Arial"/>
                <a:sym typeface="Arial"/>
              </a:rPr>
              <a:t>Análisis de datos y generación de reportes.</a:t>
            </a:r>
            <a:endParaRPr b="0" i="0" sz="900" u="none" cap="none" strike="noStrike">
              <a:solidFill>
                <a:srgbClr val="000000"/>
              </a:solidFill>
              <a:latin typeface="Arial"/>
              <a:ea typeface="Arial"/>
              <a:cs typeface="Arial"/>
              <a:sym typeface="Arial"/>
            </a:endParaRPr>
          </a:p>
        </p:txBody>
      </p:sp>
      <p:pic>
        <p:nvPicPr>
          <p:cNvPr id="318" name="Google Shape;318;p6"/>
          <p:cNvPicPr preferRelativeResize="0"/>
          <p:nvPr/>
        </p:nvPicPr>
        <p:blipFill rotWithShape="1">
          <a:blip r:embed="rId4">
            <a:alphaModFix/>
          </a:blip>
          <a:srcRect b="0" l="0" r="0" t="0"/>
          <a:stretch/>
        </p:blipFill>
        <p:spPr>
          <a:xfrm>
            <a:off x="3754359" y="2347559"/>
            <a:ext cx="863310" cy="536533"/>
          </a:xfrm>
          <a:prstGeom prst="rect">
            <a:avLst/>
          </a:prstGeom>
          <a:noFill/>
          <a:ln>
            <a:noFill/>
          </a:ln>
        </p:spPr>
      </p:pic>
      <p:sp>
        <p:nvSpPr>
          <p:cNvPr id="319" name="Google Shape;319;p6"/>
          <p:cNvSpPr txBox="1"/>
          <p:nvPr/>
        </p:nvSpPr>
        <p:spPr>
          <a:xfrm>
            <a:off x="3272705" y="2855295"/>
            <a:ext cx="160059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1400" u="none" cap="none" strike="noStrike">
                <a:solidFill>
                  <a:srgbClr val="000000"/>
                </a:solidFill>
                <a:latin typeface="Arial"/>
                <a:ea typeface="Arial"/>
                <a:cs typeface="Arial"/>
                <a:sym typeface="Arial"/>
              </a:rPr>
              <a:t>Recursos clave</a:t>
            </a:r>
            <a:endParaRPr b="1" i="0" sz="1400" u="none" cap="none" strike="noStrike">
              <a:solidFill>
                <a:srgbClr val="000000"/>
              </a:solidFill>
              <a:latin typeface="Arial"/>
              <a:ea typeface="Arial"/>
              <a:cs typeface="Arial"/>
              <a:sym typeface="Arial"/>
            </a:endParaRPr>
          </a:p>
        </p:txBody>
      </p:sp>
      <p:sp>
        <p:nvSpPr>
          <p:cNvPr id="320" name="Google Shape;320;p6"/>
          <p:cNvSpPr txBox="1"/>
          <p:nvPr/>
        </p:nvSpPr>
        <p:spPr>
          <a:xfrm>
            <a:off x="2799605" y="3179710"/>
            <a:ext cx="2550993" cy="102335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050" u="none" cap="none" strike="noStrike">
                <a:solidFill>
                  <a:srgbClr val="000000"/>
                </a:solidFill>
                <a:latin typeface="Arial"/>
                <a:ea typeface="Arial"/>
                <a:cs typeface="Arial"/>
                <a:sym typeface="Arial"/>
              </a:rPr>
              <a:t>- </a:t>
            </a:r>
            <a:r>
              <a:rPr b="0" i="0" lang="es-ES" sz="1000" u="none" cap="none" strike="noStrike">
                <a:solidFill>
                  <a:srgbClr val="000000"/>
                </a:solidFill>
                <a:latin typeface="Arial"/>
                <a:ea typeface="Arial"/>
                <a:cs typeface="Arial"/>
                <a:sym typeface="Arial"/>
              </a:rPr>
              <a:t>Plataforma tecnológica basada en PWA.</a:t>
            </a:r>
            <a:endParaRPr/>
          </a:p>
          <a:p>
            <a:pPr indent="0" lvl="0" marL="0" marR="0" rtl="0" algn="l">
              <a:lnSpc>
                <a:spcPct val="100000"/>
              </a:lnSpc>
              <a:spcBef>
                <a:spcPts val="0"/>
              </a:spcBef>
              <a:spcAft>
                <a:spcPts val="0"/>
              </a:spcAft>
              <a:buNone/>
            </a:pPr>
            <a:r>
              <a:rPr b="0" i="0" lang="es-ES" sz="1000" u="none" cap="none" strike="noStrike">
                <a:solidFill>
                  <a:srgbClr val="000000"/>
                </a:solidFill>
                <a:latin typeface="Arial"/>
                <a:ea typeface="Arial"/>
                <a:cs typeface="Arial"/>
                <a:sym typeface="Arial"/>
              </a:rPr>
              <a:t>- Equipo de desarrollo y soporte técnico.</a:t>
            </a:r>
            <a:endParaRPr/>
          </a:p>
          <a:p>
            <a:pPr indent="0" lvl="0" marL="0" marR="0" rtl="0" algn="l">
              <a:lnSpc>
                <a:spcPct val="100000"/>
              </a:lnSpc>
              <a:spcBef>
                <a:spcPts val="0"/>
              </a:spcBef>
              <a:spcAft>
                <a:spcPts val="0"/>
              </a:spcAft>
              <a:buNone/>
            </a:pPr>
            <a:r>
              <a:rPr b="0" i="0" lang="es-ES" sz="1000" u="none" cap="none" strike="noStrike">
                <a:solidFill>
                  <a:srgbClr val="000000"/>
                </a:solidFill>
                <a:latin typeface="Arial"/>
                <a:ea typeface="Arial"/>
                <a:cs typeface="Arial"/>
                <a:sym typeface="Arial"/>
              </a:rPr>
              <a:t>- Base de datos nutricional propia.</a:t>
            </a:r>
            <a:endParaRPr/>
          </a:p>
          <a:p>
            <a:pPr indent="0" lvl="0" marL="0" marR="0" rtl="0" algn="l">
              <a:lnSpc>
                <a:spcPct val="100000"/>
              </a:lnSpc>
              <a:spcBef>
                <a:spcPts val="0"/>
              </a:spcBef>
              <a:spcAft>
                <a:spcPts val="0"/>
              </a:spcAft>
              <a:buNone/>
            </a:pPr>
            <a:r>
              <a:rPr b="0" i="0" lang="es-ES" sz="1000" u="none" cap="none" strike="noStrike">
                <a:solidFill>
                  <a:srgbClr val="000000"/>
                </a:solidFill>
                <a:latin typeface="Arial"/>
                <a:ea typeface="Arial"/>
                <a:cs typeface="Arial"/>
                <a:sym typeface="Arial"/>
              </a:rPr>
              <a:t>- Alianzas con nutricionistas.</a:t>
            </a:r>
            <a:endParaRPr/>
          </a:p>
          <a:p>
            <a:pPr indent="0" lvl="0" marL="0" marR="0" rtl="0" algn="l">
              <a:lnSpc>
                <a:spcPct val="100000"/>
              </a:lnSpc>
              <a:spcBef>
                <a:spcPts val="0"/>
              </a:spcBef>
              <a:spcAft>
                <a:spcPts val="0"/>
              </a:spcAft>
              <a:buNone/>
            </a:pPr>
            <a:r>
              <a:rPr b="0" i="0" lang="es-ES" sz="1000" u="none" cap="none" strike="noStrike">
                <a:solidFill>
                  <a:srgbClr val="000000"/>
                </a:solidFill>
                <a:latin typeface="Arial"/>
                <a:ea typeface="Arial"/>
                <a:cs typeface="Arial"/>
                <a:sym typeface="Arial"/>
              </a:rPr>
              <a:t>- Infraestructura digital (hosting y servidores).</a:t>
            </a:r>
            <a:endParaRPr b="0" i="0" sz="1000" u="none" cap="none" strike="noStrike">
              <a:solidFill>
                <a:srgbClr val="000000"/>
              </a:solidFill>
              <a:latin typeface="Arial"/>
              <a:ea typeface="Arial"/>
              <a:cs typeface="Arial"/>
              <a:sym typeface="Arial"/>
            </a:endParaRPr>
          </a:p>
        </p:txBody>
      </p:sp>
      <p:sp>
        <p:nvSpPr>
          <p:cNvPr id="321" name="Google Shape;321;p6"/>
          <p:cNvSpPr txBox="1"/>
          <p:nvPr/>
        </p:nvSpPr>
        <p:spPr>
          <a:xfrm>
            <a:off x="5288477" y="955259"/>
            <a:ext cx="2154725"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1400" u="none" cap="none" strike="noStrike">
                <a:solidFill>
                  <a:srgbClr val="000000"/>
                </a:solidFill>
                <a:latin typeface="Arial"/>
                <a:ea typeface="Arial"/>
                <a:cs typeface="Arial"/>
                <a:sym typeface="Arial"/>
              </a:rPr>
              <a:t>Propuesta de valor</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2" name="Google Shape;322;p6"/>
          <p:cNvSpPr txBox="1"/>
          <p:nvPr/>
        </p:nvSpPr>
        <p:spPr>
          <a:xfrm>
            <a:off x="5451895" y="1421869"/>
            <a:ext cx="1529796" cy="240065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800" u="none" cap="none" strike="noStrike">
                <a:solidFill>
                  <a:srgbClr val="000000"/>
                </a:solidFill>
                <a:latin typeface="Arial"/>
                <a:ea typeface="Arial"/>
                <a:cs typeface="Arial"/>
                <a:sym typeface="Arial"/>
              </a:rPr>
              <a:t>-Gestión de menús e información nutricional en un solo sistema.</a:t>
            </a:r>
            <a:endParaRPr/>
          </a:p>
          <a:p>
            <a:pPr indent="0" lvl="0" marL="0" marR="0" rtl="0" algn="l">
              <a:lnSpc>
                <a:spcPct val="100000"/>
              </a:lnSpc>
              <a:spcBef>
                <a:spcPts val="0"/>
              </a:spcBef>
              <a:spcAft>
                <a:spcPts val="0"/>
              </a:spcAft>
              <a:buNone/>
            </a:pPr>
            <a:r>
              <a:rPr b="0" i="0" lang="es-ES" sz="800" u="none" cap="none" strike="noStrike">
                <a:solidFill>
                  <a:srgbClr val="000000"/>
                </a:solidFill>
                <a:latin typeface="Arial"/>
                <a:ea typeface="Arial"/>
                <a:cs typeface="Arial"/>
                <a:sym typeface="Arial"/>
              </a:rPr>
              <a:t>-Módulo de gestión de alergias y restricciones alimentarias.</a:t>
            </a:r>
            <a:endParaRPr/>
          </a:p>
          <a:p>
            <a:pPr indent="0" lvl="0" marL="0" marR="0" rtl="0" algn="l">
              <a:lnSpc>
                <a:spcPct val="100000"/>
              </a:lnSpc>
              <a:spcBef>
                <a:spcPts val="0"/>
              </a:spcBef>
              <a:spcAft>
                <a:spcPts val="0"/>
              </a:spcAft>
              <a:buNone/>
            </a:pPr>
            <a:r>
              <a:rPr b="0" i="0" lang="es-ES" sz="800" u="none" cap="none" strike="noStrike">
                <a:solidFill>
                  <a:srgbClr val="000000"/>
                </a:solidFill>
                <a:latin typeface="Arial"/>
                <a:ea typeface="Arial"/>
                <a:cs typeface="Arial"/>
                <a:sym typeface="Arial"/>
              </a:rPr>
              <a:t>-Sistema de confirmación de asistencia o reserva de comidas.</a:t>
            </a:r>
            <a:endParaRPr/>
          </a:p>
          <a:p>
            <a:pPr indent="0" lvl="0" marL="0" marR="0" rtl="0" algn="l">
              <a:lnSpc>
                <a:spcPct val="100000"/>
              </a:lnSpc>
              <a:spcBef>
                <a:spcPts val="0"/>
              </a:spcBef>
              <a:spcAft>
                <a:spcPts val="0"/>
              </a:spcAft>
              <a:buNone/>
            </a:pPr>
            <a:r>
              <a:rPr b="0" i="0" lang="es-ES" sz="800" u="none" cap="none" strike="noStrike">
                <a:solidFill>
                  <a:srgbClr val="000000"/>
                </a:solidFill>
                <a:latin typeface="Arial"/>
                <a:ea typeface="Arial"/>
                <a:cs typeface="Arial"/>
                <a:sym typeface="Arial"/>
              </a:rPr>
              <a:t>-Transparencia en la alimentación de los estudiantes.</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800" u="none" cap="none" strike="noStrike">
                <a:solidFill>
                  <a:srgbClr val="000000"/>
                </a:solidFill>
                <a:latin typeface="Arial"/>
                <a:ea typeface="Arial"/>
                <a:cs typeface="Arial"/>
                <a:sym typeface="Arial"/>
              </a:rPr>
              <a:t>-Reducción del desperdicio de alimentos mediante planificación de raciones.</a:t>
            </a:r>
            <a:endParaRPr/>
          </a:p>
          <a:p>
            <a:pPr indent="0" lvl="0" marL="0" marR="0" rtl="0" algn="l">
              <a:lnSpc>
                <a:spcPct val="100000"/>
              </a:lnSpc>
              <a:spcBef>
                <a:spcPts val="0"/>
              </a:spcBef>
              <a:spcAft>
                <a:spcPts val="0"/>
              </a:spcAft>
              <a:buNone/>
            </a:pPr>
            <a:r>
              <a:rPr b="0" i="0" lang="es-ES" sz="800" u="none" cap="none" strike="noStrike">
                <a:solidFill>
                  <a:srgbClr val="000000"/>
                </a:solidFill>
                <a:latin typeface="Arial"/>
                <a:ea typeface="Arial"/>
                <a:cs typeface="Arial"/>
                <a:sym typeface="Arial"/>
              </a:rPr>
              <a:t>-Padres informados y colegios más eficientes.</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3" name="Google Shape;323;p6"/>
          <p:cNvSpPr txBox="1"/>
          <p:nvPr/>
        </p:nvSpPr>
        <p:spPr>
          <a:xfrm>
            <a:off x="7493241" y="1008956"/>
            <a:ext cx="2286388"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1400" u="none" cap="none" strike="noStrike">
                <a:solidFill>
                  <a:srgbClr val="000000"/>
                </a:solidFill>
                <a:latin typeface="Arial"/>
                <a:ea typeface="Arial"/>
                <a:cs typeface="Arial"/>
                <a:sym typeface="Arial"/>
              </a:rPr>
              <a:t>Relación con clientes</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4" name="Google Shape;324;p6"/>
          <p:cNvSpPr txBox="1"/>
          <p:nvPr/>
        </p:nvSpPr>
        <p:spPr>
          <a:xfrm>
            <a:off x="7599709" y="1401037"/>
            <a:ext cx="2154724" cy="141577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200" u="none" cap="none" strike="noStrike">
                <a:solidFill>
                  <a:srgbClr val="000000"/>
                </a:solidFill>
                <a:latin typeface="Arial"/>
                <a:ea typeface="Arial"/>
                <a:cs typeface="Arial"/>
                <a:sym typeface="Arial"/>
              </a:rPr>
              <a:t>Soporte continuo y capacitación.</a:t>
            </a:r>
            <a:endParaRPr/>
          </a:p>
          <a:p>
            <a:pPr indent="0" lvl="0" marL="0" marR="0" rtl="0" algn="l">
              <a:lnSpc>
                <a:spcPct val="100000"/>
              </a:lnSpc>
              <a:spcBef>
                <a:spcPts val="0"/>
              </a:spcBef>
              <a:spcAft>
                <a:spcPts val="0"/>
              </a:spcAft>
              <a:buNone/>
            </a:pPr>
            <a:r>
              <a:rPr b="0" i="0" lang="es-ES" sz="1200" u="none" cap="none" strike="noStrike">
                <a:solidFill>
                  <a:srgbClr val="000000"/>
                </a:solidFill>
                <a:latin typeface="Arial"/>
                <a:ea typeface="Arial"/>
                <a:cs typeface="Arial"/>
                <a:sym typeface="Arial"/>
              </a:rPr>
              <a:t>Atención personalizada.</a:t>
            </a:r>
            <a:endParaRPr/>
          </a:p>
          <a:p>
            <a:pPr indent="0" lvl="0" marL="0" marR="0" rtl="0" algn="l">
              <a:lnSpc>
                <a:spcPct val="100000"/>
              </a:lnSpc>
              <a:spcBef>
                <a:spcPts val="0"/>
              </a:spcBef>
              <a:spcAft>
                <a:spcPts val="0"/>
              </a:spcAft>
              <a:buNone/>
            </a:pPr>
            <a:r>
              <a:rPr b="0" i="0" lang="es-ES" sz="1200" u="none" cap="none" strike="noStrike">
                <a:solidFill>
                  <a:srgbClr val="000000"/>
                </a:solidFill>
                <a:latin typeface="Arial"/>
                <a:ea typeface="Arial"/>
                <a:cs typeface="Arial"/>
                <a:sym typeface="Arial"/>
              </a:rPr>
              <a:t>Comunidad escolar informada mediante la plataforma.</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cxnSp>
        <p:nvCxnSpPr>
          <p:cNvPr id="325" name="Google Shape;325;p6"/>
          <p:cNvCxnSpPr/>
          <p:nvPr/>
        </p:nvCxnSpPr>
        <p:spPr>
          <a:xfrm>
            <a:off x="5238438" y="914390"/>
            <a:ext cx="0" cy="3788492"/>
          </a:xfrm>
          <a:prstGeom prst="straightConnector1">
            <a:avLst/>
          </a:prstGeom>
          <a:noFill/>
          <a:ln cap="flat" cmpd="sng" w="9525">
            <a:solidFill>
              <a:schemeClr val="dk1"/>
            </a:solidFill>
            <a:prstDash val="solid"/>
            <a:round/>
            <a:headEnd len="sm" w="sm" type="none"/>
            <a:tailEnd len="sm" w="sm" type="none"/>
          </a:ln>
        </p:spPr>
      </p:cxnSp>
      <p:cxnSp>
        <p:nvCxnSpPr>
          <p:cNvPr id="326" name="Google Shape;326;p6"/>
          <p:cNvCxnSpPr/>
          <p:nvPr/>
        </p:nvCxnSpPr>
        <p:spPr>
          <a:xfrm flipH="1" rot="10800000">
            <a:off x="4724584" y="3009183"/>
            <a:ext cx="539003" cy="8217"/>
          </a:xfrm>
          <a:prstGeom prst="straightConnector1">
            <a:avLst/>
          </a:prstGeom>
          <a:noFill/>
          <a:ln cap="flat" cmpd="sng" w="9525">
            <a:solidFill>
              <a:schemeClr val="dk1"/>
            </a:solidFill>
            <a:prstDash val="solid"/>
            <a:round/>
            <a:headEnd len="sm" w="sm" type="none"/>
            <a:tailEnd len="sm" w="sm" type="none"/>
          </a:ln>
        </p:spPr>
      </p:cxnSp>
      <p:cxnSp>
        <p:nvCxnSpPr>
          <p:cNvPr id="327" name="Google Shape;327;p6"/>
          <p:cNvCxnSpPr/>
          <p:nvPr/>
        </p:nvCxnSpPr>
        <p:spPr>
          <a:xfrm>
            <a:off x="2868641" y="3017400"/>
            <a:ext cx="425254" cy="544"/>
          </a:xfrm>
          <a:prstGeom prst="straightConnector1">
            <a:avLst/>
          </a:prstGeom>
          <a:noFill/>
          <a:ln cap="flat" cmpd="sng" w="9525">
            <a:solidFill>
              <a:schemeClr val="dk1"/>
            </a:solidFill>
            <a:prstDash val="solid"/>
            <a:round/>
            <a:headEnd len="sm" w="sm" type="none"/>
            <a:tailEnd len="sm" w="sm" type="none"/>
          </a:ln>
        </p:spPr>
      </p:cxnSp>
      <p:pic>
        <p:nvPicPr>
          <p:cNvPr id="328" name="Google Shape;328;p6"/>
          <p:cNvPicPr preferRelativeResize="0"/>
          <p:nvPr/>
        </p:nvPicPr>
        <p:blipFill rotWithShape="1">
          <a:blip r:embed="rId5">
            <a:alphaModFix/>
          </a:blip>
          <a:srcRect b="0" l="0" r="0" t="0"/>
          <a:stretch/>
        </p:blipFill>
        <p:spPr>
          <a:xfrm>
            <a:off x="4220334" y="4063952"/>
            <a:ext cx="794670" cy="496067"/>
          </a:xfrm>
          <a:prstGeom prst="rect">
            <a:avLst/>
          </a:prstGeom>
          <a:noFill/>
          <a:ln>
            <a:noFill/>
          </a:ln>
        </p:spPr>
      </p:pic>
      <p:pic>
        <p:nvPicPr>
          <p:cNvPr id="329" name="Google Shape;329;p6"/>
          <p:cNvPicPr preferRelativeResize="0"/>
          <p:nvPr/>
        </p:nvPicPr>
        <p:blipFill rotWithShape="1">
          <a:blip r:embed="rId6">
            <a:alphaModFix/>
          </a:blip>
          <a:srcRect b="0" l="0" r="0" t="0"/>
          <a:stretch/>
        </p:blipFill>
        <p:spPr>
          <a:xfrm>
            <a:off x="5742315" y="3512628"/>
            <a:ext cx="932421" cy="1010123"/>
          </a:xfrm>
          <a:prstGeom prst="rect">
            <a:avLst/>
          </a:prstGeom>
          <a:noFill/>
          <a:ln>
            <a:noFill/>
          </a:ln>
        </p:spPr>
      </p:pic>
      <p:pic>
        <p:nvPicPr>
          <p:cNvPr id="330" name="Google Shape;330;p6"/>
          <p:cNvPicPr preferRelativeResize="0"/>
          <p:nvPr/>
        </p:nvPicPr>
        <p:blipFill rotWithShape="1">
          <a:blip r:embed="rId7">
            <a:alphaModFix/>
          </a:blip>
          <a:srcRect b="0" l="0" r="0" t="0"/>
          <a:stretch/>
        </p:blipFill>
        <p:spPr>
          <a:xfrm>
            <a:off x="7932134" y="2622197"/>
            <a:ext cx="981212" cy="638264"/>
          </a:xfrm>
          <a:prstGeom prst="rect">
            <a:avLst/>
          </a:prstGeom>
          <a:noFill/>
          <a:ln>
            <a:noFill/>
          </a:ln>
        </p:spPr>
      </p:pic>
      <p:cxnSp>
        <p:nvCxnSpPr>
          <p:cNvPr id="331" name="Google Shape;331;p6"/>
          <p:cNvCxnSpPr/>
          <p:nvPr/>
        </p:nvCxnSpPr>
        <p:spPr>
          <a:xfrm flipH="1">
            <a:off x="9474127" y="1017422"/>
            <a:ext cx="21643" cy="3685460"/>
          </a:xfrm>
          <a:prstGeom prst="straightConnector1">
            <a:avLst/>
          </a:prstGeom>
          <a:noFill/>
          <a:ln cap="flat" cmpd="sng" w="9525">
            <a:solidFill>
              <a:schemeClr val="dk1"/>
            </a:solidFill>
            <a:prstDash val="solid"/>
            <a:round/>
            <a:headEnd len="sm" w="sm" type="none"/>
            <a:tailEnd len="sm" w="sm" type="none"/>
          </a:ln>
        </p:spPr>
      </p:cxnSp>
      <p:cxnSp>
        <p:nvCxnSpPr>
          <p:cNvPr id="332" name="Google Shape;332;p6"/>
          <p:cNvCxnSpPr/>
          <p:nvPr/>
        </p:nvCxnSpPr>
        <p:spPr>
          <a:xfrm flipH="1">
            <a:off x="7254020" y="955259"/>
            <a:ext cx="18091" cy="3719671"/>
          </a:xfrm>
          <a:prstGeom prst="straightConnector1">
            <a:avLst/>
          </a:prstGeom>
          <a:noFill/>
          <a:ln cap="flat" cmpd="sng" w="9525">
            <a:solidFill>
              <a:schemeClr val="dk1"/>
            </a:solidFill>
            <a:prstDash val="solid"/>
            <a:round/>
            <a:headEnd len="sm" w="sm" type="none"/>
            <a:tailEnd len="sm" w="sm" type="none"/>
          </a:ln>
        </p:spPr>
      </p:cxnSp>
      <p:cxnSp>
        <p:nvCxnSpPr>
          <p:cNvPr id="333" name="Google Shape;333;p6"/>
          <p:cNvCxnSpPr/>
          <p:nvPr/>
        </p:nvCxnSpPr>
        <p:spPr>
          <a:xfrm>
            <a:off x="7212850" y="3320690"/>
            <a:ext cx="425254" cy="544"/>
          </a:xfrm>
          <a:prstGeom prst="straightConnector1">
            <a:avLst/>
          </a:prstGeom>
          <a:noFill/>
          <a:ln cap="flat" cmpd="sng" w="9525">
            <a:solidFill>
              <a:schemeClr val="dk1"/>
            </a:solidFill>
            <a:prstDash val="solid"/>
            <a:round/>
            <a:headEnd len="sm" w="sm" type="none"/>
            <a:tailEnd len="sm" w="sm" type="none"/>
          </a:ln>
        </p:spPr>
      </p:cxnSp>
      <p:cxnSp>
        <p:nvCxnSpPr>
          <p:cNvPr id="334" name="Google Shape;334;p6"/>
          <p:cNvCxnSpPr/>
          <p:nvPr/>
        </p:nvCxnSpPr>
        <p:spPr>
          <a:xfrm>
            <a:off x="9077817" y="3320690"/>
            <a:ext cx="425254" cy="544"/>
          </a:xfrm>
          <a:prstGeom prst="straightConnector1">
            <a:avLst/>
          </a:prstGeom>
          <a:noFill/>
          <a:ln cap="flat" cmpd="sng" w="9525">
            <a:solidFill>
              <a:schemeClr val="dk1"/>
            </a:solidFill>
            <a:prstDash val="solid"/>
            <a:round/>
            <a:headEnd len="sm" w="sm" type="none"/>
            <a:tailEnd len="sm" w="sm" type="none"/>
          </a:ln>
        </p:spPr>
      </p:cxnSp>
      <p:sp>
        <p:nvSpPr>
          <p:cNvPr id="335" name="Google Shape;335;p6"/>
          <p:cNvSpPr/>
          <p:nvPr/>
        </p:nvSpPr>
        <p:spPr>
          <a:xfrm>
            <a:off x="7939519" y="3200424"/>
            <a:ext cx="87075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1400" u="none" cap="none" strike="noStrike">
                <a:solidFill>
                  <a:srgbClr val="000000"/>
                </a:solidFill>
                <a:latin typeface="Arial"/>
                <a:ea typeface="Arial"/>
                <a:cs typeface="Arial"/>
                <a:sym typeface="Arial"/>
              </a:rPr>
              <a:t>Canales</a:t>
            </a:r>
            <a:endParaRPr b="1" i="0" sz="1400" u="none" cap="none" strike="noStrike">
              <a:solidFill>
                <a:srgbClr val="000000"/>
              </a:solidFill>
              <a:latin typeface="Arial"/>
              <a:ea typeface="Arial"/>
              <a:cs typeface="Arial"/>
              <a:sym typeface="Arial"/>
            </a:endParaRPr>
          </a:p>
        </p:txBody>
      </p:sp>
      <p:sp>
        <p:nvSpPr>
          <p:cNvPr id="336" name="Google Shape;336;p6"/>
          <p:cNvSpPr/>
          <p:nvPr/>
        </p:nvSpPr>
        <p:spPr>
          <a:xfrm>
            <a:off x="7361880" y="3492552"/>
            <a:ext cx="1425027" cy="11387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900" u="none" cap="none" strike="noStrike">
                <a:solidFill>
                  <a:srgbClr val="000000"/>
                </a:solidFill>
                <a:latin typeface="Arial"/>
                <a:ea typeface="Arial"/>
                <a:cs typeface="Arial"/>
                <a:sym typeface="Arial"/>
              </a:rPr>
              <a:t>Página web informativa.</a:t>
            </a:r>
            <a:endParaRPr/>
          </a:p>
          <a:p>
            <a:pPr indent="0" lvl="0" marL="0" marR="0" rtl="0" algn="l">
              <a:lnSpc>
                <a:spcPct val="100000"/>
              </a:lnSpc>
              <a:spcBef>
                <a:spcPts val="0"/>
              </a:spcBef>
              <a:spcAft>
                <a:spcPts val="0"/>
              </a:spcAft>
              <a:buNone/>
            </a:pPr>
            <a:r>
              <a:rPr b="0" i="0" lang="es-ES" sz="900" u="none" cap="none" strike="noStrike">
                <a:solidFill>
                  <a:srgbClr val="000000"/>
                </a:solidFill>
                <a:latin typeface="Arial"/>
                <a:ea typeface="Arial"/>
                <a:cs typeface="Arial"/>
                <a:sym typeface="Arial"/>
              </a:rPr>
              <a:t>PWA (Progressive Web App).</a:t>
            </a:r>
            <a:endParaRPr/>
          </a:p>
          <a:p>
            <a:pPr indent="0" lvl="0" marL="0" marR="0" rtl="0" algn="l">
              <a:lnSpc>
                <a:spcPct val="100000"/>
              </a:lnSpc>
              <a:spcBef>
                <a:spcPts val="0"/>
              </a:spcBef>
              <a:spcAft>
                <a:spcPts val="0"/>
              </a:spcAft>
              <a:buNone/>
            </a:pPr>
            <a:r>
              <a:rPr b="0" i="0" lang="es-ES" sz="900" u="none" cap="none" strike="noStrike">
                <a:solidFill>
                  <a:srgbClr val="000000"/>
                </a:solidFill>
                <a:latin typeface="Arial"/>
                <a:ea typeface="Arial"/>
                <a:cs typeface="Arial"/>
                <a:sym typeface="Arial"/>
              </a:rPr>
              <a:t>Venta directa (B2B).</a:t>
            </a:r>
            <a:endParaRPr/>
          </a:p>
          <a:p>
            <a:pPr indent="0" lvl="0" marL="0" marR="0" rtl="0" algn="l">
              <a:lnSpc>
                <a:spcPct val="100000"/>
              </a:lnSpc>
              <a:spcBef>
                <a:spcPts val="0"/>
              </a:spcBef>
              <a:spcAft>
                <a:spcPts val="0"/>
              </a:spcAft>
              <a:buNone/>
            </a:pPr>
            <a:r>
              <a:rPr b="0" i="0" lang="es-ES" sz="900" u="none" cap="none" strike="noStrike">
                <a:solidFill>
                  <a:srgbClr val="000000"/>
                </a:solidFill>
                <a:latin typeface="Arial"/>
                <a:ea typeface="Arial"/>
                <a:cs typeface="Arial"/>
                <a:sym typeface="Arial"/>
              </a:rPr>
              <a:t>Redes sociales: Facebook, Instagram, YouTube y Twitter</a:t>
            </a:r>
            <a:r>
              <a:rPr b="0" i="0" lang="es-ES" sz="1200" u="none" cap="none" strike="noStrike">
                <a:solidFill>
                  <a:srgbClr val="000000"/>
                </a:solidFill>
                <a:latin typeface="Arial"/>
                <a:ea typeface="Arial"/>
                <a:cs typeface="Arial"/>
                <a:sym typeface="Arial"/>
              </a:rPr>
              <a:t>.</a:t>
            </a:r>
            <a:endParaRPr/>
          </a:p>
        </p:txBody>
      </p:sp>
      <p:pic>
        <p:nvPicPr>
          <p:cNvPr id="337" name="Google Shape;337;p6"/>
          <p:cNvPicPr preferRelativeResize="0"/>
          <p:nvPr/>
        </p:nvPicPr>
        <p:blipFill rotWithShape="1">
          <a:blip r:embed="rId8">
            <a:alphaModFix/>
          </a:blip>
          <a:srcRect b="0" l="0" r="0" t="0"/>
          <a:stretch/>
        </p:blipFill>
        <p:spPr>
          <a:xfrm>
            <a:off x="8636435" y="3743837"/>
            <a:ext cx="809738" cy="638264"/>
          </a:xfrm>
          <a:prstGeom prst="rect">
            <a:avLst/>
          </a:prstGeom>
          <a:noFill/>
          <a:ln>
            <a:noFill/>
          </a:ln>
        </p:spPr>
      </p:pic>
      <p:sp>
        <p:nvSpPr>
          <p:cNvPr id="338" name="Google Shape;338;p6"/>
          <p:cNvSpPr/>
          <p:nvPr/>
        </p:nvSpPr>
        <p:spPr>
          <a:xfrm>
            <a:off x="9582751" y="1010169"/>
            <a:ext cx="212269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1400" u="none" cap="none" strike="noStrike">
                <a:solidFill>
                  <a:srgbClr val="000000"/>
                </a:solidFill>
                <a:latin typeface="Arial"/>
                <a:ea typeface="Arial"/>
                <a:cs typeface="Arial"/>
                <a:sym typeface="Arial"/>
              </a:rPr>
              <a:t>Segmentos de clientes</a:t>
            </a:r>
            <a:endParaRPr/>
          </a:p>
        </p:txBody>
      </p:sp>
      <p:sp>
        <p:nvSpPr>
          <p:cNvPr id="339" name="Google Shape;339;p6"/>
          <p:cNvSpPr/>
          <p:nvPr/>
        </p:nvSpPr>
        <p:spPr>
          <a:xfrm>
            <a:off x="9657919" y="2010159"/>
            <a:ext cx="2534081" cy="116955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Colegios con servicio de comedor.</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Padres de familia y estudiantes.</a:t>
            </a:r>
            <a:endParaRPr/>
          </a:p>
        </p:txBody>
      </p:sp>
      <p:pic>
        <p:nvPicPr>
          <p:cNvPr id="340" name="Google Shape;340;p6"/>
          <p:cNvPicPr preferRelativeResize="0"/>
          <p:nvPr/>
        </p:nvPicPr>
        <p:blipFill rotWithShape="1">
          <a:blip r:embed="rId9">
            <a:alphaModFix/>
          </a:blip>
          <a:srcRect b="0" l="0" r="0" t="0"/>
          <a:stretch/>
        </p:blipFill>
        <p:spPr>
          <a:xfrm>
            <a:off x="9626506" y="3354312"/>
            <a:ext cx="2076740" cy="1114581"/>
          </a:xfrm>
          <a:prstGeom prst="rect">
            <a:avLst/>
          </a:prstGeom>
          <a:noFill/>
          <a:ln>
            <a:noFill/>
          </a:ln>
        </p:spPr>
      </p:pic>
      <p:cxnSp>
        <p:nvCxnSpPr>
          <p:cNvPr id="341" name="Google Shape;341;p6"/>
          <p:cNvCxnSpPr/>
          <p:nvPr/>
        </p:nvCxnSpPr>
        <p:spPr>
          <a:xfrm flipH="1" rot="10800000">
            <a:off x="99588" y="4674930"/>
            <a:ext cx="11950574" cy="55904"/>
          </a:xfrm>
          <a:prstGeom prst="straightConnector1">
            <a:avLst/>
          </a:prstGeom>
          <a:noFill/>
          <a:ln cap="flat" cmpd="sng" w="9525">
            <a:solidFill>
              <a:schemeClr val="dk1"/>
            </a:solidFill>
            <a:prstDash val="solid"/>
            <a:round/>
            <a:headEnd len="sm" w="sm" type="none"/>
            <a:tailEnd len="sm" w="sm" type="none"/>
          </a:ln>
        </p:spPr>
      </p:cxnSp>
      <p:sp>
        <p:nvSpPr>
          <p:cNvPr id="342" name="Google Shape;342;p6"/>
          <p:cNvSpPr txBox="1"/>
          <p:nvPr/>
        </p:nvSpPr>
        <p:spPr>
          <a:xfrm>
            <a:off x="3085453" y="4702882"/>
            <a:ext cx="228638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1400" u="none" cap="none" strike="noStrike">
                <a:solidFill>
                  <a:srgbClr val="000000"/>
                </a:solidFill>
                <a:latin typeface="Arial"/>
                <a:ea typeface="Arial"/>
                <a:cs typeface="Arial"/>
                <a:sym typeface="Arial"/>
              </a:rPr>
              <a:t>Estructura de costos</a:t>
            </a:r>
            <a:endParaRPr/>
          </a:p>
        </p:txBody>
      </p:sp>
      <p:sp>
        <p:nvSpPr>
          <p:cNvPr id="343" name="Google Shape;343;p6"/>
          <p:cNvSpPr/>
          <p:nvPr/>
        </p:nvSpPr>
        <p:spPr>
          <a:xfrm>
            <a:off x="374754" y="5168593"/>
            <a:ext cx="6096000" cy="116955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 Desarrollo tecnológico de la plataforma.</a:t>
            </a:r>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 Infraestructura digital y servidores.</a:t>
            </a:r>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 Soporte y mantenimiento del sistema.</a:t>
            </a:r>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 Marketing y promoción en instituciones educativas.</a:t>
            </a:r>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 Actualización de la base de datos nutricional.</a:t>
            </a:r>
            <a:endParaRPr/>
          </a:p>
        </p:txBody>
      </p:sp>
      <p:pic>
        <p:nvPicPr>
          <p:cNvPr id="344" name="Google Shape;344;p6"/>
          <p:cNvPicPr preferRelativeResize="0"/>
          <p:nvPr/>
        </p:nvPicPr>
        <p:blipFill rotWithShape="1">
          <a:blip r:embed="rId10">
            <a:alphaModFix/>
          </a:blip>
          <a:srcRect b="0" l="0" r="0" t="0"/>
          <a:stretch/>
        </p:blipFill>
        <p:spPr>
          <a:xfrm>
            <a:off x="5238438" y="4855061"/>
            <a:ext cx="1228896" cy="1267002"/>
          </a:xfrm>
          <a:prstGeom prst="rect">
            <a:avLst/>
          </a:prstGeom>
          <a:noFill/>
          <a:ln>
            <a:noFill/>
          </a:ln>
        </p:spPr>
      </p:pic>
      <p:cxnSp>
        <p:nvCxnSpPr>
          <p:cNvPr id="345" name="Google Shape;345;p6"/>
          <p:cNvCxnSpPr/>
          <p:nvPr/>
        </p:nvCxnSpPr>
        <p:spPr>
          <a:xfrm flipH="1">
            <a:off x="6957221" y="4699376"/>
            <a:ext cx="12255" cy="1842994"/>
          </a:xfrm>
          <a:prstGeom prst="straightConnector1">
            <a:avLst/>
          </a:prstGeom>
          <a:noFill/>
          <a:ln cap="flat" cmpd="sng" w="9525">
            <a:solidFill>
              <a:schemeClr val="dk1"/>
            </a:solidFill>
            <a:prstDash val="solid"/>
            <a:round/>
            <a:headEnd len="sm" w="sm" type="none"/>
            <a:tailEnd len="sm" w="sm" type="none"/>
          </a:ln>
        </p:spPr>
      </p:cxnSp>
      <p:sp>
        <p:nvSpPr>
          <p:cNvPr id="346" name="Google Shape;346;p6"/>
          <p:cNvSpPr/>
          <p:nvPr/>
        </p:nvSpPr>
        <p:spPr>
          <a:xfrm>
            <a:off x="8485012" y="4715886"/>
            <a:ext cx="192232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1400" u="none" cap="none" strike="noStrike">
                <a:solidFill>
                  <a:srgbClr val="000000"/>
                </a:solidFill>
                <a:latin typeface="Arial"/>
                <a:ea typeface="Arial"/>
                <a:cs typeface="Arial"/>
                <a:sym typeface="Arial"/>
              </a:rPr>
              <a:t>Fuentes de ingresos</a:t>
            </a:r>
            <a:endParaRPr/>
          </a:p>
        </p:txBody>
      </p:sp>
      <p:sp>
        <p:nvSpPr>
          <p:cNvPr id="347" name="Google Shape;347;p6"/>
          <p:cNvSpPr txBox="1"/>
          <p:nvPr/>
        </p:nvSpPr>
        <p:spPr>
          <a:xfrm>
            <a:off x="7212850" y="5064619"/>
            <a:ext cx="4225783"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Suscripción SaaS por colegio (mensual o anual).</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348" name="Google Shape;348;p6"/>
          <p:cNvPicPr preferRelativeResize="0"/>
          <p:nvPr/>
        </p:nvPicPr>
        <p:blipFill rotWithShape="1">
          <a:blip r:embed="rId11">
            <a:alphaModFix/>
          </a:blip>
          <a:srcRect b="0" l="0" r="0" t="0"/>
          <a:stretch/>
        </p:blipFill>
        <p:spPr>
          <a:xfrm>
            <a:off x="10229537" y="5362204"/>
            <a:ext cx="1390844" cy="105742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52" name="Shape 352"/>
        <p:cNvGrpSpPr/>
        <p:nvPr/>
      </p:nvGrpSpPr>
      <p:grpSpPr>
        <a:xfrm>
          <a:off x="0" y="0"/>
          <a:ext cx="0" cy="0"/>
          <a:chOff x="0" y="0"/>
          <a:chExt cx="0" cy="0"/>
        </a:xfrm>
      </p:grpSpPr>
      <p:sp>
        <p:nvSpPr>
          <p:cNvPr id="353" name="Google Shape;353;p99"/>
          <p:cNvSpPr txBox="1"/>
          <p:nvPr/>
        </p:nvSpPr>
        <p:spPr>
          <a:xfrm>
            <a:off x="456236" y="416689"/>
            <a:ext cx="10515600" cy="74156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FFFFFF"/>
              </a:buClr>
              <a:buSzPts val="4400"/>
              <a:buFont typeface="Arial"/>
              <a:buNone/>
            </a:pPr>
            <a:r>
              <a:rPr b="0" i="0" lang="es-ES" sz="4400" u="none" cap="none" strike="noStrike">
                <a:solidFill>
                  <a:srgbClr val="FFFFFF"/>
                </a:solidFill>
                <a:latin typeface="Work Sans Medium"/>
                <a:ea typeface="Work Sans Medium"/>
                <a:cs typeface="Work Sans Medium"/>
                <a:sym typeface="Work Sans Medium"/>
              </a:rPr>
              <a:t>Diseño de la base de datos</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4400"/>
              <a:buFont typeface="Arial"/>
              <a:buNone/>
            </a:pPr>
            <a:r>
              <a:t/>
            </a:r>
            <a:endParaRPr b="0" i="0" sz="4400" u="none" cap="none" strike="noStrike">
              <a:solidFill>
                <a:srgbClr val="FFFFFF"/>
              </a:solidFill>
              <a:latin typeface="Work Sans Medium"/>
              <a:ea typeface="Work Sans Medium"/>
              <a:cs typeface="Work Sans Medium"/>
              <a:sym typeface="Work Sans Medium"/>
            </a:endParaRPr>
          </a:p>
        </p:txBody>
      </p:sp>
      <p:pic>
        <p:nvPicPr>
          <p:cNvPr id="354" name="Google Shape;354;p99"/>
          <p:cNvPicPr preferRelativeResize="0"/>
          <p:nvPr/>
        </p:nvPicPr>
        <p:blipFill rotWithShape="1">
          <a:blip r:embed="rId4">
            <a:alphaModFix/>
          </a:blip>
          <a:srcRect b="0" l="0" r="0" t="0"/>
          <a:stretch/>
        </p:blipFill>
        <p:spPr>
          <a:xfrm>
            <a:off x="1158844" y="1158252"/>
            <a:ext cx="10284736" cy="533529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58" name="Shape 358"/>
        <p:cNvGrpSpPr/>
        <p:nvPr/>
      </p:nvGrpSpPr>
      <p:grpSpPr>
        <a:xfrm>
          <a:off x="0" y="0"/>
          <a:ext cx="0" cy="0"/>
          <a:chOff x="0" y="0"/>
          <a:chExt cx="0" cy="0"/>
        </a:xfrm>
      </p:grpSpPr>
      <p:sp>
        <p:nvSpPr>
          <p:cNvPr id="359" name="Google Shape;359;p100"/>
          <p:cNvSpPr txBox="1"/>
          <p:nvPr/>
        </p:nvSpPr>
        <p:spPr>
          <a:xfrm>
            <a:off x="456236" y="457723"/>
            <a:ext cx="10611814" cy="67659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C0C0C"/>
              </a:buClr>
              <a:buSzPts val="4400"/>
              <a:buFont typeface="Arial"/>
              <a:buNone/>
            </a:pPr>
            <a:r>
              <a:rPr b="0" i="0" lang="es-ES" sz="4000" u="none" cap="none" strike="noStrike">
                <a:solidFill>
                  <a:srgbClr val="0C0C0C"/>
                </a:solidFill>
                <a:latin typeface="Work Sans Medium"/>
                <a:ea typeface="Work Sans Medium"/>
                <a:cs typeface="Work Sans Medium"/>
                <a:sym typeface="Work Sans Medium"/>
              </a:rPr>
              <a:t>Base de datos – Modelo Entidad Relación</a:t>
            </a:r>
            <a:endParaRPr b="0" i="0" sz="4000" u="none" cap="none" strike="noStrike">
              <a:solidFill>
                <a:srgbClr val="000000"/>
              </a:solidFill>
              <a:latin typeface="Arial"/>
              <a:ea typeface="Arial"/>
              <a:cs typeface="Arial"/>
              <a:sym typeface="Arial"/>
            </a:endParaRPr>
          </a:p>
        </p:txBody>
      </p:sp>
      <p:pic>
        <p:nvPicPr>
          <p:cNvPr id="360" name="Google Shape;360;p100"/>
          <p:cNvPicPr preferRelativeResize="0"/>
          <p:nvPr/>
        </p:nvPicPr>
        <p:blipFill rotWithShape="1">
          <a:blip r:embed="rId4">
            <a:alphaModFix/>
          </a:blip>
          <a:srcRect b="0" l="0" r="0" t="0"/>
          <a:stretch/>
        </p:blipFill>
        <p:spPr>
          <a:xfrm>
            <a:off x="1024149" y="1261069"/>
            <a:ext cx="10410377" cy="540639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64" name="Shape 364"/>
        <p:cNvGrpSpPr/>
        <p:nvPr/>
      </p:nvGrpSpPr>
      <p:grpSpPr>
        <a:xfrm>
          <a:off x="0" y="0"/>
          <a:ext cx="0" cy="0"/>
          <a:chOff x="0" y="0"/>
          <a:chExt cx="0" cy="0"/>
        </a:xfrm>
      </p:grpSpPr>
      <p:sp>
        <p:nvSpPr>
          <p:cNvPr id="365" name="Google Shape;365;p101"/>
          <p:cNvSpPr txBox="1"/>
          <p:nvPr/>
        </p:nvSpPr>
        <p:spPr>
          <a:xfrm>
            <a:off x="627686" y="416689"/>
            <a:ext cx="10515600" cy="74156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FFFFFF"/>
              </a:buClr>
              <a:buSzPts val="4400"/>
              <a:buFont typeface="Arial"/>
              <a:buNone/>
            </a:pPr>
            <a:r>
              <a:rPr b="0" i="0" lang="es-ES" sz="4400" u="none" cap="none" strike="noStrike">
                <a:solidFill>
                  <a:srgbClr val="FFFFFF"/>
                </a:solidFill>
                <a:latin typeface="Work Sans Medium"/>
                <a:ea typeface="Work Sans Medium"/>
                <a:cs typeface="Work Sans Medium"/>
                <a:sym typeface="Work Sans Medium"/>
              </a:rPr>
              <a:t>Requerimientos Funcionales</a:t>
            </a:r>
            <a:endParaRPr b="0" i="0" sz="4400" u="none" cap="none" strike="noStrike">
              <a:solidFill>
                <a:srgbClr val="FFFFFF"/>
              </a:solidFill>
              <a:latin typeface="Work Sans Medium"/>
              <a:ea typeface="Work Sans Medium"/>
              <a:cs typeface="Work Sans Medium"/>
              <a:sym typeface="Work Sans Medium"/>
            </a:endParaRPr>
          </a:p>
        </p:txBody>
      </p:sp>
      <p:sp>
        <p:nvSpPr>
          <p:cNvPr id="366" name="Google Shape;366;p101"/>
          <p:cNvSpPr txBox="1"/>
          <p:nvPr/>
        </p:nvSpPr>
        <p:spPr>
          <a:xfrm>
            <a:off x="838179" y="2205283"/>
            <a:ext cx="488634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RQ001</a:t>
            </a:r>
            <a:endParaRPr/>
          </a:p>
        </p:txBody>
      </p:sp>
      <p:sp>
        <p:nvSpPr>
          <p:cNvPr id="367" name="Google Shape;367;p101"/>
          <p:cNvSpPr/>
          <p:nvPr/>
        </p:nvSpPr>
        <p:spPr>
          <a:xfrm>
            <a:off x="695304" y="1158252"/>
            <a:ext cx="5029221" cy="2537448"/>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cxnSp>
        <p:nvCxnSpPr>
          <p:cNvPr id="368" name="Google Shape;368;p101"/>
          <p:cNvCxnSpPr/>
          <p:nvPr/>
        </p:nvCxnSpPr>
        <p:spPr>
          <a:xfrm>
            <a:off x="1857365" y="1155942"/>
            <a:ext cx="0" cy="2537448"/>
          </a:xfrm>
          <a:prstGeom prst="straightConnector1">
            <a:avLst/>
          </a:prstGeom>
          <a:noFill/>
          <a:ln cap="flat" cmpd="sng" w="9525">
            <a:solidFill>
              <a:schemeClr val="dk1"/>
            </a:solidFill>
            <a:prstDash val="solid"/>
            <a:round/>
            <a:headEnd len="sm" w="sm" type="none"/>
            <a:tailEnd len="sm" w="sm" type="none"/>
          </a:ln>
        </p:spPr>
      </p:cxnSp>
      <p:cxnSp>
        <p:nvCxnSpPr>
          <p:cNvPr id="369" name="Google Shape;369;p101"/>
          <p:cNvCxnSpPr/>
          <p:nvPr/>
        </p:nvCxnSpPr>
        <p:spPr>
          <a:xfrm>
            <a:off x="695304" y="1466029"/>
            <a:ext cx="5029221" cy="0"/>
          </a:xfrm>
          <a:prstGeom prst="straightConnector1">
            <a:avLst/>
          </a:prstGeom>
          <a:noFill/>
          <a:ln cap="flat" cmpd="sng" w="9525">
            <a:solidFill>
              <a:schemeClr val="dk1"/>
            </a:solidFill>
            <a:prstDash val="solid"/>
            <a:round/>
            <a:headEnd len="sm" w="sm" type="none"/>
            <a:tailEnd len="sm" w="sm" type="none"/>
          </a:ln>
        </p:spPr>
      </p:cxnSp>
      <p:sp>
        <p:nvSpPr>
          <p:cNvPr id="370" name="Google Shape;370;p101"/>
          <p:cNvSpPr txBox="1"/>
          <p:nvPr/>
        </p:nvSpPr>
        <p:spPr>
          <a:xfrm>
            <a:off x="838179" y="1153632"/>
            <a:ext cx="133352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Código</a:t>
            </a:r>
            <a:endParaRPr b="0" i="0" sz="1400" u="none" cap="none" strike="noStrike">
              <a:solidFill>
                <a:srgbClr val="000000"/>
              </a:solidFill>
              <a:latin typeface="Arial"/>
              <a:ea typeface="Arial"/>
              <a:cs typeface="Arial"/>
              <a:sym typeface="Arial"/>
            </a:endParaRPr>
          </a:p>
        </p:txBody>
      </p:sp>
      <p:sp>
        <p:nvSpPr>
          <p:cNvPr id="371" name="Google Shape;371;p101"/>
          <p:cNvSpPr txBox="1"/>
          <p:nvPr/>
        </p:nvSpPr>
        <p:spPr>
          <a:xfrm>
            <a:off x="1938789" y="1155942"/>
            <a:ext cx="355282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Requisitos Funcionales</a:t>
            </a:r>
            <a:endParaRPr b="0" i="0" sz="1400" u="none" cap="none" strike="noStrike">
              <a:solidFill>
                <a:srgbClr val="000000"/>
              </a:solidFill>
              <a:latin typeface="Arial"/>
              <a:ea typeface="Arial"/>
              <a:cs typeface="Arial"/>
              <a:sym typeface="Arial"/>
            </a:endParaRPr>
          </a:p>
        </p:txBody>
      </p:sp>
      <p:sp>
        <p:nvSpPr>
          <p:cNvPr id="372" name="Google Shape;372;p101"/>
          <p:cNvSpPr txBox="1"/>
          <p:nvPr/>
        </p:nvSpPr>
        <p:spPr>
          <a:xfrm>
            <a:off x="1857364" y="1472868"/>
            <a:ext cx="355282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Nombre: Registro de usuarios</a:t>
            </a:r>
            <a:endParaRPr b="0" i="0" sz="1400" u="none" cap="none" strike="noStrike">
              <a:solidFill>
                <a:srgbClr val="000000"/>
              </a:solidFill>
              <a:latin typeface="Arial"/>
              <a:ea typeface="Arial"/>
              <a:cs typeface="Arial"/>
              <a:sym typeface="Arial"/>
            </a:endParaRPr>
          </a:p>
        </p:txBody>
      </p:sp>
      <p:sp>
        <p:nvSpPr>
          <p:cNvPr id="373" name="Google Shape;373;p101"/>
          <p:cNvSpPr txBox="1"/>
          <p:nvPr/>
        </p:nvSpPr>
        <p:spPr>
          <a:xfrm>
            <a:off x="1857364" y="1776119"/>
            <a:ext cx="3799541" cy="16004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Descripción: El sistema deberá permitir el registro de nuevos usuarios capturando nombre, correo electrónico y rol (Administrador, Docente, Estudiante, Acudiente), aplicando validaciones de formato y obligatoriedad</a:t>
            </a:r>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de datos.</a:t>
            </a:r>
            <a:endParaRPr b="0" i="0" sz="1400" u="none" cap="none" strike="noStrike">
              <a:solidFill>
                <a:srgbClr val="000000"/>
              </a:solidFill>
              <a:latin typeface="Arial"/>
              <a:ea typeface="Arial"/>
              <a:cs typeface="Arial"/>
              <a:sym typeface="Arial"/>
            </a:endParaRPr>
          </a:p>
        </p:txBody>
      </p:sp>
      <p:sp>
        <p:nvSpPr>
          <p:cNvPr id="374" name="Google Shape;374;p101"/>
          <p:cNvSpPr txBox="1"/>
          <p:nvPr/>
        </p:nvSpPr>
        <p:spPr>
          <a:xfrm>
            <a:off x="1857364" y="3345253"/>
            <a:ext cx="278131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Usuarios: Administradores</a:t>
            </a:r>
            <a:endParaRPr b="0" i="0" sz="1400" u="none" cap="none" strike="noStrike">
              <a:solidFill>
                <a:srgbClr val="000000"/>
              </a:solidFill>
              <a:latin typeface="Arial"/>
              <a:ea typeface="Arial"/>
              <a:cs typeface="Arial"/>
              <a:sym typeface="Arial"/>
            </a:endParaRPr>
          </a:p>
        </p:txBody>
      </p:sp>
      <p:sp>
        <p:nvSpPr>
          <p:cNvPr id="375" name="Google Shape;375;p101"/>
          <p:cNvSpPr txBox="1"/>
          <p:nvPr/>
        </p:nvSpPr>
        <p:spPr>
          <a:xfrm>
            <a:off x="6568165" y="2200663"/>
            <a:ext cx="488634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RQ002</a:t>
            </a:r>
            <a:endParaRPr/>
          </a:p>
        </p:txBody>
      </p:sp>
      <p:sp>
        <p:nvSpPr>
          <p:cNvPr id="376" name="Google Shape;376;p101"/>
          <p:cNvSpPr/>
          <p:nvPr/>
        </p:nvSpPr>
        <p:spPr>
          <a:xfrm>
            <a:off x="6425290" y="1153632"/>
            <a:ext cx="5395235" cy="2537448"/>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cxnSp>
        <p:nvCxnSpPr>
          <p:cNvPr id="377" name="Google Shape;377;p101"/>
          <p:cNvCxnSpPr/>
          <p:nvPr/>
        </p:nvCxnSpPr>
        <p:spPr>
          <a:xfrm>
            <a:off x="7587351" y="1151322"/>
            <a:ext cx="0" cy="2537448"/>
          </a:xfrm>
          <a:prstGeom prst="straightConnector1">
            <a:avLst/>
          </a:prstGeom>
          <a:noFill/>
          <a:ln cap="flat" cmpd="sng" w="9525">
            <a:solidFill>
              <a:schemeClr val="dk1"/>
            </a:solidFill>
            <a:prstDash val="solid"/>
            <a:round/>
            <a:headEnd len="sm" w="sm" type="none"/>
            <a:tailEnd len="sm" w="sm" type="none"/>
          </a:ln>
        </p:spPr>
      </p:cxnSp>
      <p:cxnSp>
        <p:nvCxnSpPr>
          <p:cNvPr id="378" name="Google Shape;378;p101"/>
          <p:cNvCxnSpPr/>
          <p:nvPr/>
        </p:nvCxnSpPr>
        <p:spPr>
          <a:xfrm>
            <a:off x="6425290" y="1461409"/>
            <a:ext cx="5395235" cy="11459"/>
          </a:xfrm>
          <a:prstGeom prst="straightConnector1">
            <a:avLst/>
          </a:prstGeom>
          <a:noFill/>
          <a:ln cap="flat" cmpd="sng" w="9525">
            <a:solidFill>
              <a:schemeClr val="dk1"/>
            </a:solidFill>
            <a:prstDash val="solid"/>
            <a:round/>
            <a:headEnd len="sm" w="sm" type="none"/>
            <a:tailEnd len="sm" w="sm" type="none"/>
          </a:ln>
        </p:spPr>
      </p:cxnSp>
      <p:sp>
        <p:nvSpPr>
          <p:cNvPr id="379" name="Google Shape;379;p101"/>
          <p:cNvSpPr txBox="1"/>
          <p:nvPr/>
        </p:nvSpPr>
        <p:spPr>
          <a:xfrm>
            <a:off x="6568165" y="1149012"/>
            <a:ext cx="133352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Código</a:t>
            </a:r>
            <a:endParaRPr b="0" i="0" sz="1400" u="none" cap="none" strike="noStrike">
              <a:solidFill>
                <a:srgbClr val="000000"/>
              </a:solidFill>
              <a:latin typeface="Arial"/>
              <a:ea typeface="Arial"/>
              <a:cs typeface="Arial"/>
              <a:sym typeface="Arial"/>
            </a:endParaRPr>
          </a:p>
        </p:txBody>
      </p:sp>
      <p:sp>
        <p:nvSpPr>
          <p:cNvPr id="380" name="Google Shape;380;p101"/>
          <p:cNvSpPr txBox="1"/>
          <p:nvPr/>
        </p:nvSpPr>
        <p:spPr>
          <a:xfrm>
            <a:off x="7668775" y="1151322"/>
            <a:ext cx="355282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Requisitos Funcionales</a:t>
            </a:r>
            <a:endParaRPr b="0" i="0" sz="1400" u="none" cap="none" strike="noStrike">
              <a:solidFill>
                <a:srgbClr val="000000"/>
              </a:solidFill>
              <a:latin typeface="Arial"/>
              <a:ea typeface="Arial"/>
              <a:cs typeface="Arial"/>
              <a:sym typeface="Arial"/>
            </a:endParaRPr>
          </a:p>
        </p:txBody>
      </p:sp>
      <p:sp>
        <p:nvSpPr>
          <p:cNvPr id="381" name="Google Shape;381;p101"/>
          <p:cNvSpPr txBox="1"/>
          <p:nvPr/>
        </p:nvSpPr>
        <p:spPr>
          <a:xfrm>
            <a:off x="7587350" y="1468248"/>
            <a:ext cx="355282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Nombre: Inicio de sesión</a:t>
            </a:r>
            <a:endParaRPr b="0" i="0" sz="1400" u="none" cap="none" strike="noStrike">
              <a:solidFill>
                <a:srgbClr val="000000"/>
              </a:solidFill>
              <a:latin typeface="Arial"/>
              <a:ea typeface="Arial"/>
              <a:cs typeface="Arial"/>
              <a:sym typeface="Arial"/>
            </a:endParaRPr>
          </a:p>
        </p:txBody>
      </p:sp>
      <p:sp>
        <p:nvSpPr>
          <p:cNvPr id="382" name="Google Shape;382;p101"/>
          <p:cNvSpPr txBox="1"/>
          <p:nvPr/>
        </p:nvSpPr>
        <p:spPr>
          <a:xfrm>
            <a:off x="7545416" y="2018054"/>
            <a:ext cx="3799541"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Descripción: El sistema deberá validar las credenciales (correo y contraseña) mediante conexión segura, aplicando hashing de contraseñas y gestión de sesiones activas.</a:t>
            </a:r>
            <a:endParaRPr b="0" i="0" sz="1400" u="none" cap="none" strike="noStrike">
              <a:solidFill>
                <a:srgbClr val="000000"/>
              </a:solidFill>
              <a:latin typeface="Arial"/>
              <a:ea typeface="Arial"/>
              <a:cs typeface="Arial"/>
              <a:sym typeface="Arial"/>
            </a:endParaRPr>
          </a:p>
        </p:txBody>
      </p:sp>
      <p:sp>
        <p:nvSpPr>
          <p:cNvPr id="383" name="Google Shape;383;p101"/>
          <p:cNvSpPr txBox="1"/>
          <p:nvPr/>
        </p:nvSpPr>
        <p:spPr>
          <a:xfrm>
            <a:off x="7587350" y="3340633"/>
            <a:ext cx="429985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Usuarios: Administradores, Estudiantes, Acudiente</a:t>
            </a:r>
            <a:endParaRPr b="0" i="0" sz="1400" u="none" cap="none" strike="noStrike">
              <a:solidFill>
                <a:srgbClr val="000000"/>
              </a:solidFill>
              <a:latin typeface="Arial"/>
              <a:ea typeface="Arial"/>
              <a:cs typeface="Arial"/>
              <a:sym typeface="Arial"/>
            </a:endParaRPr>
          </a:p>
        </p:txBody>
      </p:sp>
      <p:cxnSp>
        <p:nvCxnSpPr>
          <p:cNvPr id="384" name="Google Shape;384;p101"/>
          <p:cNvCxnSpPr/>
          <p:nvPr/>
        </p:nvCxnSpPr>
        <p:spPr>
          <a:xfrm>
            <a:off x="1857363" y="1759946"/>
            <a:ext cx="3900971" cy="0"/>
          </a:xfrm>
          <a:prstGeom prst="straightConnector1">
            <a:avLst/>
          </a:prstGeom>
          <a:noFill/>
          <a:ln cap="flat" cmpd="sng" w="9525">
            <a:solidFill>
              <a:schemeClr val="dk1"/>
            </a:solidFill>
            <a:prstDash val="solid"/>
            <a:round/>
            <a:headEnd len="sm" w="sm" type="none"/>
            <a:tailEnd len="sm" w="sm" type="none"/>
          </a:ln>
        </p:spPr>
      </p:cxnSp>
      <p:cxnSp>
        <p:nvCxnSpPr>
          <p:cNvPr id="385" name="Google Shape;385;p101"/>
          <p:cNvCxnSpPr/>
          <p:nvPr/>
        </p:nvCxnSpPr>
        <p:spPr>
          <a:xfrm>
            <a:off x="1857363" y="3340633"/>
            <a:ext cx="3900971" cy="0"/>
          </a:xfrm>
          <a:prstGeom prst="straightConnector1">
            <a:avLst/>
          </a:prstGeom>
          <a:noFill/>
          <a:ln cap="flat" cmpd="sng" w="9525">
            <a:solidFill>
              <a:schemeClr val="dk1"/>
            </a:solidFill>
            <a:prstDash val="solid"/>
            <a:round/>
            <a:headEnd len="sm" w="sm" type="none"/>
            <a:tailEnd len="sm" w="sm" type="none"/>
          </a:ln>
        </p:spPr>
      </p:cxnSp>
      <p:cxnSp>
        <p:nvCxnSpPr>
          <p:cNvPr id="386" name="Google Shape;386;p101"/>
          <p:cNvCxnSpPr/>
          <p:nvPr/>
        </p:nvCxnSpPr>
        <p:spPr>
          <a:xfrm flipH="1" rot="10800000">
            <a:off x="7553540" y="1776025"/>
            <a:ext cx="4266985" cy="9854"/>
          </a:xfrm>
          <a:prstGeom prst="straightConnector1">
            <a:avLst/>
          </a:prstGeom>
          <a:noFill/>
          <a:ln cap="flat" cmpd="sng" w="9525">
            <a:solidFill>
              <a:schemeClr val="dk1"/>
            </a:solidFill>
            <a:prstDash val="solid"/>
            <a:round/>
            <a:headEnd len="sm" w="sm" type="none"/>
            <a:tailEnd len="sm" w="sm" type="none"/>
          </a:ln>
        </p:spPr>
      </p:cxnSp>
      <p:cxnSp>
        <p:nvCxnSpPr>
          <p:cNvPr id="387" name="Google Shape;387;p101"/>
          <p:cNvCxnSpPr/>
          <p:nvPr/>
        </p:nvCxnSpPr>
        <p:spPr>
          <a:xfrm>
            <a:off x="7587350" y="3340633"/>
            <a:ext cx="4233175" cy="0"/>
          </a:xfrm>
          <a:prstGeom prst="straightConnector1">
            <a:avLst/>
          </a:prstGeom>
          <a:noFill/>
          <a:ln cap="flat" cmpd="sng" w="9525">
            <a:solidFill>
              <a:schemeClr val="dk1"/>
            </a:solidFill>
            <a:prstDash val="solid"/>
            <a:round/>
            <a:headEnd len="sm" w="sm" type="none"/>
            <a:tailEnd len="sm" w="sm" type="none"/>
          </a:ln>
        </p:spPr>
      </p:cxnSp>
      <p:sp>
        <p:nvSpPr>
          <p:cNvPr id="388" name="Google Shape;388;p101"/>
          <p:cNvSpPr txBox="1"/>
          <p:nvPr/>
        </p:nvSpPr>
        <p:spPr>
          <a:xfrm>
            <a:off x="838178" y="5032119"/>
            <a:ext cx="488634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RQ003</a:t>
            </a:r>
            <a:endParaRPr/>
          </a:p>
        </p:txBody>
      </p:sp>
      <p:sp>
        <p:nvSpPr>
          <p:cNvPr id="389" name="Google Shape;389;p101"/>
          <p:cNvSpPr/>
          <p:nvPr/>
        </p:nvSpPr>
        <p:spPr>
          <a:xfrm>
            <a:off x="695303" y="3985088"/>
            <a:ext cx="5029221" cy="2537448"/>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cxnSp>
        <p:nvCxnSpPr>
          <p:cNvPr id="390" name="Google Shape;390;p101"/>
          <p:cNvCxnSpPr/>
          <p:nvPr/>
        </p:nvCxnSpPr>
        <p:spPr>
          <a:xfrm>
            <a:off x="1857364" y="3982778"/>
            <a:ext cx="0" cy="2537448"/>
          </a:xfrm>
          <a:prstGeom prst="straightConnector1">
            <a:avLst/>
          </a:prstGeom>
          <a:noFill/>
          <a:ln cap="flat" cmpd="sng" w="9525">
            <a:solidFill>
              <a:schemeClr val="dk1"/>
            </a:solidFill>
            <a:prstDash val="solid"/>
            <a:round/>
            <a:headEnd len="sm" w="sm" type="none"/>
            <a:tailEnd len="sm" w="sm" type="none"/>
          </a:ln>
        </p:spPr>
      </p:cxnSp>
      <p:cxnSp>
        <p:nvCxnSpPr>
          <p:cNvPr id="391" name="Google Shape;391;p101"/>
          <p:cNvCxnSpPr/>
          <p:nvPr/>
        </p:nvCxnSpPr>
        <p:spPr>
          <a:xfrm>
            <a:off x="695303" y="4292865"/>
            <a:ext cx="5029221" cy="0"/>
          </a:xfrm>
          <a:prstGeom prst="straightConnector1">
            <a:avLst/>
          </a:prstGeom>
          <a:noFill/>
          <a:ln cap="flat" cmpd="sng" w="9525">
            <a:solidFill>
              <a:schemeClr val="dk1"/>
            </a:solidFill>
            <a:prstDash val="solid"/>
            <a:round/>
            <a:headEnd len="sm" w="sm" type="none"/>
            <a:tailEnd len="sm" w="sm" type="none"/>
          </a:ln>
        </p:spPr>
      </p:cxnSp>
      <p:sp>
        <p:nvSpPr>
          <p:cNvPr id="392" name="Google Shape;392;p101"/>
          <p:cNvSpPr txBox="1"/>
          <p:nvPr/>
        </p:nvSpPr>
        <p:spPr>
          <a:xfrm>
            <a:off x="838178" y="3980468"/>
            <a:ext cx="133352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Código</a:t>
            </a:r>
            <a:endParaRPr b="0" i="0" sz="1400" u="none" cap="none" strike="noStrike">
              <a:solidFill>
                <a:srgbClr val="000000"/>
              </a:solidFill>
              <a:latin typeface="Arial"/>
              <a:ea typeface="Arial"/>
              <a:cs typeface="Arial"/>
              <a:sym typeface="Arial"/>
            </a:endParaRPr>
          </a:p>
        </p:txBody>
      </p:sp>
      <p:sp>
        <p:nvSpPr>
          <p:cNvPr id="393" name="Google Shape;393;p101"/>
          <p:cNvSpPr txBox="1"/>
          <p:nvPr/>
        </p:nvSpPr>
        <p:spPr>
          <a:xfrm>
            <a:off x="1938788" y="3982778"/>
            <a:ext cx="355282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Requisitos Funcionales</a:t>
            </a:r>
            <a:endParaRPr b="0" i="0" sz="1400" u="none" cap="none" strike="noStrike">
              <a:solidFill>
                <a:srgbClr val="000000"/>
              </a:solidFill>
              <a:latin typeface="Arial"/>
              <a:ea typeface="Arial"/>
              <a:cs typeface="Arial"/>
              <a:sym typeface="Arial"/>
            </a:endParaRPr>
          </a:p>
        </p:txBody>
      </p:sp>
      <p:sp>
        <p:nvSpPr>
          <p:cNvPr id="394" name="Google Shape;394;p101"/>
          <p:cNvSpPr txBox="1"/>
          <p:nvPr/>
        </p:nvSpPr>
        <p:spPr>
          <a:xfrm>
            <a:off x="1857363" y="4299704"/>
            <a:ext cx="355282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Nombre: Gestión de usuarios</a:t>
            </a:r>
            <a:endParaRPr b="0" i="0" sz="1400" u="none" cap="none" strike="noStrike">
              <a:solidFill>
                <a:srgbClr val="000000"/>
              </a:solidFill>
              <a:latin typeface="Arial"/>
              <a:ea typeface="Arial"/>
              <a:cs typeface="Arial"/>
              <a:sym typeface="Arial"/>
            </a:endParaRPr>
          </a:p>
        </p:txBody>
      </p:sp>
      <p:sp>
        <p:nvSpPr>
          <p:cNvPr id="395" name="Google Shape;395;p101"/>
          <p:cNvSpPr txBox="1"/>
          <p:nvPr/>
        </p:nvSpPr>
        <p:spPr>
          <a:xfrm>
            <a:off x="1904975" y="4937302"/>
            <a:ext cx="3799541"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Descripción: El sistema deberá permitir al administrador crear, editar y desactivar usuarios, restringiendo estas acciones a dicho rol.</a:t>
            </a:r>
            <a:endParaRPr b="0" i="0" sz="1400" u="none" cap="none" strike="noStrike">
              <a:solidFill>
                <a:srgbClr val="000000"/>
              </a:solidFill>
              <a:latin typeface="Arial"/>
              <a:ea typeface="Arial"/>
              <a:cs typeface="Arial"/>
              <a:sym typeface="Arial"/>
            </a:endParaRPr>
          </a:p>
        </p:txBody>
      </p:sp>
      <p:sp>
        <p:nvSpPr>
          <p:cNvPr id="396" name="Google Shape;396;p101"/>
          <p:cNvSpPr txBox="1"/>
          <p:nvPr/>
        </p:nvSpPr>
        <p:spPr>
          <a:xfrm>
            <a:off x="1857363" y="6172089"/>
            <a:ext cx="278131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Usuarios: Administradores</a:t>
            </a:r>
            <a:endParaRPr b="0" i="0" sz="1400" u="none" cap="none" strike="noStrike">
              <a:solidFill>
                <a:srgbClr val="000000"/>
              </a:solidFill>
              <a:latin typeface="Arial"/>
              <a:ea typeface="Arial"/>
              <a:cs typeface="Arial"/>
              <a:sym typeface="Arial"/>
            </a:endParaRPr>
          </a:p>
        </p:txBody>
      </p:sp>
      <p:cxnSp>
        <p:nvCxnSpPr>
          <p:cNvPr id="397" name="Google Shape;397;p101"/>
          <p:cNvCxnSpPr/>
          <p:nvPr/>
        </p:nvCxnSpPr>
        <p:spPr>
          <a:xfrm>
            <a:off x="1857362" y="4586782"/>
            <a:ext cx="3900971" cy="0"/>
          </a:xfrm>
          <a:prstGeom prst="straightConnector1">
            <a:avLst/>
          </a:prstGeom>
          <a:noFill/>
          <a:ln cap="flat" cmpd="sng" w="9525">
            <a:solidFill>
              <a:schemeClr val="dk1"/>
            </a:solidFill>
            <a:prstDash val="solid"/>
            <a:round/>
            <a:headEnd len="sm" w="sm" type="none"/>
            <a:tailEnd len="sm" w="sm" type="none"/>
          </a:ln>
        </p:spPr>
      </p:cxnSp>
      <p:cxnSp>
        <p:nvCxnSpPr>
          <p:cNvPr id="398" name="Google Shape;398;p101"/>
          <p:cNvCxnSpPr/>
          <p:nvPr/>
        </p:nvCxnSpPr>
        <p:spPr>
          <a:xfrm>
            <a:off x="1857362" y="6167469"/>
            <a:ext cx="3900971" cy="0"/>
          </a:xfrm>
          <a:prstGeom prst="straightConnector1">
            <a:avLst/>
          </a:prstGeom>
          <a:noFill/>
          <a:ln cap="flat" cmpd="sng" w="9525">
            <a:solidFill>
              <a:schemeClr val="dk1"/>
            </a:solidFill>
            <a:prstDash val="solid"/>
            <a:round/>
            <a:headEnd len="sm" w="sm" type="none"/>
            <a:tailEnd len="sm" w="sm" type="none"/>
          </a:ln>
        </p:spPr>
      </p:cxnSp>
      <p:sp>
        <p:nvSpPr>
          <p:cNvPr id="399" name="Google Shape;399;p101"/>
          <p:cNvSpPr txBox="1"/>
          <p:nvPr/>
        </p:nvSpPr>
        <p:spPr>
          <a:xfrm>
            <a:off x="6568165" y="4989449"/>
            <a:ext cx="488634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RQ004</a:t>
            </a:r>
            <a:endParaRPr/>
          </a:p>
        </p:txBody>
      </p:sp>
      <p:sp>
        <p:nvSpPr>
          <p:cNvPr id="400" name="Google Shape;400;p101"/>
          <p:cNvSpPr/>
          <p:nvPr/>
        </p:nvSpPr>
        <p:spPr>
          <a:xfrm>
            <a:off x="6425290" y="3942418"/>
            <a:ext cx="5395235" cy="2537448"/>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cxnSp>
        <p:nvCxnSpPr>
          <p:cNvPr id="401" name="Google Shape;401;p101"/>
          <p:cNvCxnSpPr/>
          <p:nvPr/>
        </p:nvCxnSpPr>
        <p:spPr>
          <a:xfrm>
            <a:off x="7587351" y="3940108"/>
            <a:ext cx="0" cy="2537448"/>
          </a:xfrm>
          <a:prstGeom prst="straightConnector1">
            <a:avLst/>
          </a:prstGeom>
          <a:noFill/>
          <a:ln cap="flat" cmpd="sng" w="9525">
            <a:solidFill>
              <a:schemeClr val="dk1"/>
            </a:solidFill>
            <a:prstDash val="solid"/>
            <a:round/>
            <a:headEnd len="sm" w="sm" type="none"/>
            <a:tailEnd len="sm" w="sm" type="none"/>
          </a:ln>
        </p:spPr>
      </p:cxnSp>
      <p:cxnSp>
        <p:nvCxnSpPr>
          <p:cNvPr id="402" name="Google Shape;402;p101"/>
          <p:cNvCxnSpPr/>
          <p:nvPr/>
        </p:nvCxnSpPr>
        <p:spPr>
          <a:xfrm>
            <a:off x="6425290" y="4250195"/>
            <a:ext cx="5395235" cy="11459"/>
          </a:xfrm>
          <a:prstGeom prst="straightConnector1">
            <a:avLst/>
          </a:prstGeom>
          <a:noFill/>
          <a:ln cap="flat" cmpd="sng" w="9525">
            <a:solidFill>
              <a:schemeClr val="dk1"/>
            </a:solidFill>
            <a:prstDash val="solid"/>
            <a:round/>
            <a:headEnd len="sm" w="sm" type="none"/>
            <a:tailEnd len="sm" w="sm" type="none"/>
          </a:ln>
        </p:spPr>
      </p:cxnSp>
      <p:sp>
        <p:nvSpPr>
          <p:cNvPr id="403" name="Google Shape;403;p101"/>
          <p:cNvSpPr txBox="1"/>
          <p:nvPr/>
        </p:nvSpPr>
        <p:spPr>
          <a:xfrm>
            <a:off x="6568165" y="3937798"/>
            <a:ext cx="133352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Código</a:t>
            </a:r>
            <a:endParaRPr b="0" i="0" sz="1400" u="none" cap="none" strike="noStrike">
              <a:solidFill>
                <a:srgbClr val="000000"/>
              </a:solidFill>
              <a:latin typeface="Arial"/>
              <a:ea typeface="Arial"/>
              <a:cs typeface="Arial"/>
              <a:sym typeface="Arial"/>
            </a:endParaRPr>
          </a:p>
        </p:txBody>
      </p:sp>
      <p:sp>
        <p:nvSpPr>
          <p:cNvPr id="404" name="Google Shape;404;p101"/>
          <p:cNvSpPr txBox="1"/>
          <p:nvPr/>
        </p:nvSpPr>
        <p:spPr>
          <a:xfrm>
            <a:off x="7668775" y="3940108"/>
            <a:ext cx="355282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Requisitos Funcionales</a:t>
            </a:r>
            <a:endParaRPr b="0" i="0" sz="1400" u="none" cap="none" strike="noStrike">
              <a:solidFill>
                <a:srgbClr val="000000"/>
              </a:solidFill>
              <a:latin typeface="Arial"/>
              <a:ea typeface="Arial"/>
              <a:cs typeface="Arial"/>
              <a:sym typeface="Arial"/>
            </a:endParaRPr>
          </a:p>
        </p:txBody>
      </p:sp>
      <p:sp>
        <p:nvSpPr>
          <p:cNvPr id="405" name="Google Shape;405;p101"/>
          <p:cNvSpPr txBox="1"/>
          <p:nvPr/>
        </p:nvSpPr>
        <p:spPr>
          <a:xfrm>
            <a:off x="7587350" y="4257034"/>
            <a:ext cx="355282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Nombre: Registro de alimentos</a:t>
            </a:r>
            <a:endParaRPr b="0" i="0" sz="1400" u="none" cap="none" strike="noStrike">
              <a:solidFill>
                <a:srgbClr val="000000"/>
              </a:solidFill>
              <a:latin typeface="Arial"/>
              <a:ea typeface="Arial"/>
              <a:cs typeface="Arial"/>
              <a:sym typeface="Arial"/>
            </a:endParaRPr>
          </a:p>
        </p:txBody>
      </p:sp>
      <p:sp>
        <p:nvSpPr>
          <p:cNvPr id="406" name="Google Shape;406;p101"/>
          <p:cNvSpPr txBox="1"/>
          <p:nvPr/>
        </p:nvSpPr>
        <p:spPr>
          <a:xfrm>
            <a:off x="7545416" y="4806840"/>
            <a:ext cx="3799541"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Descripción: El sistema deberá registrar alimentos incluyendo valores nutricionales obligatorios como calorías, proteínas, grasas y carbohidratos por porción estándar</a:t>
            </a:r>
            <a:endParaRPr b="0" i="0" sz="1400" u="none" cap="none" strike="noStrike">
              <a:solidFill>
                <a:srgbClr val="000000"/>
              </a:solidFill>
              <a:latin typeface="Arial"/>
              <a:ea typeface="Arial"/>
              <a:cs typeface="Arial"/>
              <a:sym typeface="Arial"/>
            </a:endParaRPr>
          </a:p>
        </p:txBody>
      </p:sp>
      <p:sp>
        <p:nvSpPr>
          <p:cNvPr id="407" name="Google Shape;407;p101"/>
          <p:cNvSpPr txBox="1"/>
          <p:nvPr/>
        </p:nvSpPr>
        <p:spPr>
          <a:xfrm>
            <a:off x="7587350" y="6129419"/>
            <a:ext cx="429985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Usuarios: Administradores </a:t>
            </a:r>
            <a:endParaRPr b="0" i="0" sz="1400" u="none" cap="none" strike="noStrike">
              <a:solidFill>
                <a:srgbClr val="000000"/>
              </a:solidFill>
              <a:latin typeface="Arial"/>
              <a:ea typeface="Arial"/>
              <a:cs typeface="Arial"/>
              <a:sym typeface="Arial"/>
            </a:endParaRPr>
          </a:p>
        </p:txBody>
      </p:sp>
      <p:cxnSp>
        <p:nvCxnSpPr>
          <p:cNvPr id="408" name="Google Shape;408;p101"/>
          <p:cNvCxnSpPr/>
          <p:nvPr/>
        </p:nvCxnSpPr>
        <p:spPr>
          <a:xfrm flipH="1" rot="10800000">
            <a:off x="7553540" y="4564811"/>
            <a:ext cx="4266985" cy="9854"/>
          </a:xfrm>
          <a:prstGeom prst="straightConnector1">
            <a:avLst/>
          </a:prstGeom>
          <a:noFill/>
          <a:ln cap="flat" cmpd="sng" w="9525">
            <a:solidFill>
              <a:schemeClr val="dk1"/>
            </a:solidFill>
            <a:prstDash val="solid"/>
            <a:round/>
            <a:headEnd len="sm" w="sm" type="none"/>
            <a:tailEnd len="sm" w="sm" type="none"/>
          </a:ln>
        </p:spPr>
      </p:cxnSp>
      <p:cxnSp>
        <p:nvCxnSpPr>
          <p:cNvPr id="409" name="Google Shape;409;p101"/>
          <p:cNvCxnSpPr/>
          <p:nvPr/>
        </p:nvCxnSpPr>
        <p:spPr>
          <a:xfrm>
            <a:off x="7587350" y="6129419"/>
            <a:ext cx="4233175" cy="0"/>
          </a:xfrm>
          <a:prstGeom prst="straightConnector1">
            <a:avLst/>
          </a:prstGeom>
          <a:noFill/>
          <a:ln cap="flat" cmpd="sng" w="9525">
            <a:solidFill>
              <a:schemeClr val="dk1"/>
            </a:solidFill>
            <a:prstDash val="solid"/>
            <a:round/>
            <a:headEnd len="sm" w="sm" type="none"/>
            <a:tailEnd len="sm" w="sm"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7"/>
          <p:cNvSpPr txBox="1"/>
          <p:nvPr/>
        </p:nvSpPr>
        <p:spPr>
          <a:xfrm>
            <a:off x="627686" y="416689"/>
            <a:ext cx="10515600" cy="74156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FFFFFF"/>
              </a:buClr>
              <a:buSzPts val="4400"/>
              <a:buFont typeface="Arial"/>
              <a:buNone/>
            </a:pPr>
            <a:r>
              <a:rPr b="0" i="0" lang="es-ES" sz="4400" u="none" cap="none" strike="noStrike">
                <a:solidFill>
                  <a:schemeClr val="dk1"/>
                </a:solidFill>
                <a:latin typeface="Work Sans Medium"/>
                <a:ea typeface="Work Sans Medium"/>
                <a:cs typeface="Work Sans Medium"/>
                <a:sym typeface="Work Sans Medium"/>
              </a:rPr>
              <a:t>Requerimientos Funcionales</a:t>
            </a:r>
            <a:endParaRPr b="0" i="0" sz="4400" u="none" cap="none" strike="noStrike">
              <a:solidFill>
                <a:schemeClr val="dk1"/>
              </a:solidFill>
              <a:latin typeface="Work Sans Medium"/>
              <a:ea typeface="Work Sans Medium"/>
              <a:cs typeface="Work Sans Medium"/>
              <a:sym typeface="Work Sans Medium"/>
            </a:endParaRPr>
          </a:p>
        </p:txBody>
      </p:sp>
      <p:sp>
        <p:nvSpPr>
          <p:cNvPr id="415" name="Google Shape;415;p7"/>
          <p:cNvSpPr txBox="1"/>
          <p:nvPr/>
        </p:nvSpPr>
        <p:spPr>
          <a:xfrm>
            <a:off x="838179" y="2205283"/>
            <a:ext cx="488634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RQ005</a:t>
            </a:r>
            <a:endParaRPr/>
          </a:p>
        </p:txBody>
      </p:sp>
      <p:sp>
        <p:nvSpPr>
          <p:cNvPr id="416" name="Google Shape;416;p7"/>
          <p:cNvSpPr/>
          <p:nvPr/>
        </p:nvSpPr>
        <p:spPr>
          <a:xfrm>
            <a:off x="695304" y="1158252"/>
            <a:ext cx="5029221" cy="2537448"/>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cxnSp>
        <p:nvCxnSpPr>
          <p:cNvPr id="417" name="Google Shape;417;p7"/>
          <p:cNvCxnSpPr/>
          <p:nvPr/>
        </p:nvCxnSpPr>
        <p:spPr>
          <a:xfrm>
            <a:off x="1857365" y="1155942"/>
            <a:ext cx="0" cy="2537448"/>
          </a:xfrm>
          <a:prstGeom prst="straightConnector1">
            <a:avLst/>
          </a:prstGeom>
          <a:noFill/>
          <a:ln cap="flat" cmpd="sng" w="9525">
            <a:solidFill>
              <a:schemeClr val="dk1"/>
            </a:solidFill>
            <a:prstDash val="solid"/>
            <a:round/>
            <a:headEnd len="sm" w="sm" type="none"/>
            <a:tailEnd len="sm" w="sm" type="none"/>
          </a:ln>
        </p:spPr>
      </p:cxnSp>
      <p:cxnSp>
        <p:nvCxnSpPr>
          <p:cNvPr id="418" name="Google Shape;418;p7"/>
          <p:cNvCxnSpPr/>
          <p:nvPr/>
        </p:nvCxnSpPr>
        <p:spPr>
          <a:xfrm>
            <a:off x="695304" y="1466029"/>
            <a:ext cx="5029221" cy="0"/>
          </a:xfrm>
          <a:prstGeom prst="straightConnector1">
            <a:avLst/>
          </a:prstGeom>
          <a:noFill/>
          <a:ln cap="flat" cmpd="sng" w="9525">
            <a:solidFill>
              <a:schemeClr val="dk1"/>
            </a:solidFill>
            <a:prstDash val="solid"/>
            <a:round/>
            <a:headEnd len="sm" w="sm" type="none"/>
            <a:tailEnd len="sm" w="sm" type="none"/>
          </a:ln>
        </p:spPr>
      </p:cxnSp>
      <p:sp>
        <p:nvSpPr>
          <p:cNvPr id="419" name="Google Shape;419;p7"/>
          <p:cNvSpPr txBox="1"/>
          <p:nvPr/>
        </p:nvSpPr>
        <p:spPr>
          <a:xfrm>
            <a:off x="838179" y="1153632"/>
            <a:ext cx="133352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Código</a:t>
            </a:r>
            <a:endParaRPr b="0" i="0" sz="1400" u="none" cap="none" strike="noStrike">
              <a:solidFill>
                <a:srgbClr val="000000"/>
              </a:solidFill>
              <a:latin typeface="Arial"/>
              <a:ea typeface="Arial"/>
              <a:cs typeface="Arial"/>
              <a:sym typeface="Arial"/>
            </a:endParaRPr>
          </a:p>
        </p:txBody>
      </p:sp>
      <p:sp>
        <p:nvSpPr>
          <p:cNvPr id="420" name="Google Shape;420;p7"/>
          <p:cNvSpPr txBox="1"/>
          <p:nvPr/>
        </p:nvSpPr>
        <p:spPr>
          <a:xfrm>
            <a:off x="1857364" y="1155942"/>
            <a:ext cx="355282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Requisitos Funcionales</a:t>
            </a:r>
            <a:endParaRPr b="0" i="0" sz="1400" u="none" cap="none" strike="noStrike">
              <a:solidFill>
                <a:srgbClr val="000000"/>
              </a:solidFill>
              <a:latin typeface="Arial"/>
              <a:ea typeface="Arial"/>
              <a:cs typeface="Arial"/>
              <a:sym typeface="Arial"/>
            </a:endParaRPr>
          </a:p>
        </p:txBody>
      </p:sp>
      <p:sp>
        <p:nvSpPr>
          <p:cNvPr id="421" name="Google Shape;421;p7"/>
          <p:cNvSpPr txBox="1"/>
          <p:nvPr/>
        </p:nvSpPr>
        <p:spPr>
          <a:xfrm>
            <a:off x="1857364" y="1472868"/>
            <a:ext cx="355282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Nombre: Creación de menús </a:t>
            </a:r>
            <a:endParaRPr b="0" i="0" sz="1400" u="none" cap="none" strike="noStrike">
              <a:solidFill>
                <a:srgbClr val="000000"/>
              </a:solidFill>
              <a:latin typeface="Arial"/>
              <a:ea typeface="Arial"/>
              <a:cs typeface="Arial"/>
              <a:sym typeface="Arial"/>
            </a:endParaRPr>
          </a:p>
        </p:txBody>
      </p:sp>
      <p:sp>
        <p:nvSpPr>
          <p:cNvPr id="422" name="Google Shape;422;p7"/>
          <p:cNvSpPr txBox="1"/>
          <p:nvPr/>
        </p:nvSpPr>
        <p:spPr>
          <a:xfrm>
            <a:off x="1815429" y="2218188"/>
            <a:ext cx="3799541"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Descripción: El sistema deberá permitir la creación de menús diarios y semanales, validando fechas y evitando solapamientos.</a:t>
            </a:r>
            <a:endParaRPr b="0" i="0" sz="1400" u="none" cap="none" strike="noStrike">
              <a:solidFill>
                <a:srgbClr val="000000"/>
              </a:solidFill>
              <a:latin typeface="Arial"/>
              <a:ea typeface="Arial"/>
              <a:cs typeface="Arial"/>
              <a:sym typeface="Arial"/>
            </a:endParaRPr>
          </a:p>
        </p:txBody>
      </p:sp>
      <p:sp>
        <p:nvSpPr>
          <p:cNvPr id="423" name="Google Shape;423;p7"/>
          <p:cNvSpPr txBox="1"/>
          <p:nvPr/>
        </p:nvSpPr>
        <p:spPr>
          <a:xfrm>
            <a:off x="1857364" y="3345253"/>
            <a:ext cx="278131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Usuarios: Administradores</a:t>
            </a:r>
            <a:endParaRPr b="0" i="0" sz="1400" u="none" cap="none" strike="noStrike">
              <a:solidFill>
                <a:srgbClr val="000000"/>
              </a:solidFill>
              <a:latin typeface="Arial"/>
              <a:ea typeface="Arial"/>
              <a:cs typeface="Arial"/>
              <a:sym typeface="Arial"/>
            </a:endParaRPr>
          </a:p>
        </p:txBody>
      </p:sp>
      <p:sp>
        <p:nvSpPr>
          <p:cNvPr id="424" name="Google Shape;424;p7"/>
          <p:cNvSpPr txBox="1"/>
          <p:nvPr/>
        </p:nvSpPr>
        <p:spPr>
          <a:xfrm>
            <a:off x="6568165" y="2200663"/>
            <a:ext cx="95251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RQ006</a:t>
            </a:r>
            <a:endParaRPr/>
          </a:p>
        </p:txBody>
      </p:sp>
      <p:sp>
        <p:nvSpPr>
          <p:cNvPr id="425" name="Google Shape;425;p7"/>
          <p:cNvSpPr/>
          <p:nvPr/>
        </p:nvSpPr>
        <p:spPr>
          <a:xfrm>
            <a:off x="6425290" y="1153632"/>
            <a:ext cx="5395235" cy="2537448"/>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cxnSp>
        <p:nvCxnSpPr>
          <p:cNvPr id="426" name="Google Shape;426;p7"/>
          <p:cNvCxnSpPr/>
          <p:nvPr/>
        </p:nvCxnSpPr>
        <p:spPr>
          <a:xfrm>
            <a:off x="7587351" y="1151322"/>
            <a:ext cx="0" cy="2537448"/>
          </a:xfrm>
          <a:prstGeom prst="straightConnector1">
            <a:avLst/>
          </a:prstGeom>
          <a:noFill/>
          <a:ln cap="flat" cmpd="sng" w="9525">
            <a:solidFill>
              <a:schemeClr val="dk1"/>
            </a:solidFill>
            <a:prstDash val="solid"/>
            <a:round/>
            <a:headEnd len="sm" w="sm" type="none"/>
            <a:tailEnd len="sm" w="sm" type="none"/>
          </a:ln>
        </p:spPr>
      </p:cxnSp>
      <p:cxnSp>
        <p:nvCxnSpPr>
          <p:cNvPr id="427" name="Google Shape;427;p7"/>
          <p:cNvCxnSpPr/>
          <p:nvPr/>
        </p:nvCxnSpPr>
        <p:spPr>
          <a:xfrm>
            <a:off x="6425290" y="1461409"/>
            <a:ext cx="5395235" cy="11459"/>
          </a:xfrm>
          <a:prstGeom prst="straightConnector1">
            <a:avLst/>
          </a:prstGeom>
          <a:noFill/>
          <a:ln cap="flat" cmpd="sng" w="9525">
            <a:solidFill>
              <a:schemeClr val="dk1"/>
            </a:solidFill>
            <a:prstDash val="solid"/>
            <a:round/>
            <a:headEnd len="sm" w="sm" type="none"/>
            <a:tailEnd len="sm" w="sm" type="none"/>
          </a:ln>
        </p:spPr>
      </p:cxnSp>
      <p:sp>
        <p:nvSpPr>
          <p:cNvPr id="428" name="Google Shape;428;p7"/>
          <p:cNvSpPr txBox="1"/>
          <p:nvPr/>
        </p:nvSpPr>
        <p:spPr>
          <a:xfrm>
            <a:off x="6568165" y="1149012"/>
            <a:ext cx="133352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Código</a:t>
            </a:r>
            <a:endParaRPr b="0" i="0" sz="1400" u="none" cap="none" strike="noStrike">
              <a:solidFill>
                <a:srgbClr val="000000"/>
              </a:solidFill>
              <a:latin typeface="Arial"/>
              <a:ea typeface="Arial"/>
              <a:cs typeface="Arial"/>
              <a:sym typeface="Arial"/>
            </a:endParaRPr>
          </a:p>
        </p:txBody>
      </p:sp>
      <p:sp>
        <p:nvSpPr>
          <p:cNvPr id="429" name="Google Shape;429;p7"/>
          <p:cNvSpPr txBox="1"/>
          <p:nvPr/>
        </p:nvSpPr>
        <p:spPr>
          <a:xfrm>
            <a:off x="7593964" y="1151322"/>
            <a:ext cx="355282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Requisitos Funcionales</a:t>
            </a:r>
            <a:endParaRPr b="0" i="0" sz="1400" u="none" cap="none" strike="noStrike">
              <a:solidFill>
                <a:srgbClr val="000000"/>
              </a:solidFill>
              <a:latin typeface="Arial"/>
              <a:ea typeface="Arial"/>
              <a:cs typeface="Arial"/>
              <a:sym typeface="Arial"/>
            </a:endParaRPr>
          </a:p>
        </p:txBody>
      </p:sp>
      <p:sp>
        <p:nvSpPr>
          <p:cNvPr id="430" name="Google Shape;430;p7"/>
          <p:cNvSpPr txBox="1"/>
          <p:nvPr/>
        </p:nvSpPr>
        <p:spPr>
          <a:xfrm>
            <a:off x="7592790" y="1493613"/>
            <a:ext cx="484277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Nombre: Asignación de alimentos a menús</a:t>
            </a:r>
            <a:endParaRPr b="0" i="0" sz="1400" u="none" cap="none" strike="noStrike">
              <a:solidFill>
                <a:srgbClr val="000000"/>
              </a:solidFill>
              <a:latin typeface="Arial"/>
              <a:ea typeface="Arial"/>
              <a:cs typeface="Arial"/>
              <a:sym typeface="Arial"/>
            </a:endParaRPr>
          </a:p>
        </p:txBody>
      </p:sp>
      <p:sp>
        <p:nvSpPr>
          <p:cNvPr id="431" name="Google Shape;431;p7"/>
          <p:cNvSpPr txBox="1"/>
          <p:nvPr/>
        </p:nvSpPr>
        <p:spPr>
          <a:xfrm>
            <a:off x="7663551" y="2083802"/>
            <a:ext cx="3799541"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Descripción: El sistema deberá permitir asociar múltiples alimentos a un menú específico desde el catálogo de alimentos activos</a:t>
            </a:r>
            <a:endParaRPr b="0" i="0" sz="1400" u="none" cap="none" strike="noStrike">
              <a:solidFill>
                <a:srgbClr val="000000"/>
              </a:solidFill>
              <a:latin typeface="Arial"/>
              <a:ea typeface="Arial"/>
              <a:cs typeface="Arial"/>
              <a:sym typeface="Arial"/>
            </a:endParaRPr>
          </a:p>
        </p:txBody>
      </p:sp>
      <p:sp>
        <p:nvSpPr>
          <p:cNvPr id="432" name="Google Shape;432;p7"/>
          <p:cNvSpPr txBox="1"/>
          <p:nvPr/>
        </p:nvSpPr>
        <p:spPr>
          <a:xfrm>
            <a:off x="7587350" y="3340633"/>
            <a:ext cx="429985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Usuarios: Administradores</a:t>
            </a:r>
            <a:endParaRPr b="0" i="0" sz="1400" u="none" cap="none" strike="noStrike">
              <a:solidFill>
                <a:srgbClr val="000000"/>
              </a:solidFill>
              <a:latin typeface="Arial"/>
              <a:ea typeface="Arial"/>
              <a:cs typeface="Arial"/>
              <a:sym typeface="Arial"/>
            </a:endParaRPr>
          </a:p>
        </p:txBody>
      </p:sp>
      <p:cxnSp>
        <p:nvCxnSpPr>
          <p:cNvPr id="433" name="Google Shape;433;p7"/>
          <p:cNvCxnSpPr/>
          <p:nvPr/>
        </p:nvCxnSpPr>
        <p:spPr>
          <a:xfrm>
            <a:off x="1857363" y="1759946"/>
            <a:ext cx="3900971" cy="0"/>
          </a:xfrm>
          <a:prstGeom prst="straightConnector1">
            <a:avLst/>
          </a:prstGeom>
          <a:noFill/>
          <a:ln cap="flat" cmpd="sng" w="9525">
            <a:solidFill>
              <a:schemeClr val="dk1"/>
            </a:solidFill>
            <a:prstDash val="solid"/>
            <a:round/>
            <a:headEnd len="sm" w="sm" type="none"/>
            <a:tailEnd len="sm" w="sm" type="none"/>
          </a:ln>
        </p:spPr>
      </p:cxnSp>
      <p:cxnSp>
        <p:nvCxnSpPr>
          <p:cNvPr id="434" name="Google Shape;434;p7"/>
          <p:cNvCxnSpPr/>
          <p:nvPr/>
        </p:nvCxnSpPr>
        <p:spPr>
          <a:xfrm>
            <a:off x="1857363" y="3340633"/>
            <a:ext cx="3900971" cy="0"/>
          </a:xfrm>
          <a:prstGeom prst="straightConnector1">
            <a:avLst/>
          </a:prstGeom>
          <a:noFill/>
          <a:ln cap="flat" cmpd="sng" w="9525">
            <a:solidFill>
              <a:schemeClr val="dk1"/>
            </a:solidFill>
            <a:prstDash val="solid"/>
            <a:round/>
            <a:headEnd len="sm" w="sm" type="none"/>
            <a:tailEnd len="sm" w="sm" type="none"/>
          </a:ln>
        </p:spPr>
      </p:cxnSp>
      <p:cxnSp>
        <p:nvCxnSpPr>
          <p:cNvPr id="435" name="Google Shape;435;p7"/>
          <p:cNvCxnSpPr/>
          <p:nvPr/>
        </p:nvCxnSpPr>
        <p:spPr>
          <a:xfrm flipH="1" rot="10800000">
            <a:off x="7593964" y="1776025"/>
            <a:ext cx="4226561" cy="9854"/>
          </a:xfrm>
          <a:prstGeom prst="straightConnector1">
            <a:avLst/>
          </a:prstGeom>
          <a:noFill/>
          <a:ln cap="flat" cmpd="sng" w="9525">
            <a:solidFill>
              <a:schemeClr val="dk1"/>
            </a:solidFill>
            <a:prstDash val="solid"/>
            <a:round/>
            <a:headEnd len="sm" w="sm" type="none"/>
            <a:tailEnd len="sm" w="sm" type="none"/>
          </a:ln>
        </p:spPr>
      </p:cxnSp>
      <p:cxnSp>
        <p:nvCxnSpPr>
          <p:cNvPr id="436" name="Google Shape;436;p7"/>
          <p:cNvCxnSpPr/>
          <p:nvPr/>
        </p:nvCxnSpPr>
        <p:spPr>
          <a:xfrm>
            <a:off x="7587350" y="3340633"/>
            <a:ext cx="4233175" cy="0"/>
          </a:xfrm>
          <a:prstGeom prst="straightConnector1">
            <a:avLst/>
          </a:prstGeom>
          <a:noFill/>
          <a:ln cap="flat" cmpd="sng" w="9525">
            <a:solidFill>
              <a:schemeClr val="dk1"/>
            </a:solidFill>
            <a:prstDash val="solid"/>
            <a:round/>
            <a:headEnd len="sm" w="sm" type="none"/>
            <a:tailEnd len="sm" w="sm" type="none"/>
          </a:ln>
        </p:spPr>
      </p:cxnSp>
      <p:sp>
        <p:nvSpPr>
          <p:cNvPr id="437" name="Google Shape;437;p7"/>
          <p:cNvSpPr txBox="1"/>
          <p:nvPr/>
        </p:nvSpPr>
        <p:spPr>
          <a:xfrm>
            <a:off x="838178" y="5032119"/>
            <a:ext cx="488634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RQ008</a:t>
            </a:r>
            <a:endParaRPr/>
          </a:p>
        </p:txBody>
      </p:sp>
      <p:sp>
        <p:nvSpPr>
          <p:cNvPr id="438" name="Google Shape;438;p7"/>
          <p:cNvSpPr/>
          <p:nvPr/>
        </p:nvSpPr>
        <p:spPr>
          <a:xfrm>
            <a:off x="695303" y="3985088"/>
            <a:ext cx="5029221" cy="2537448"/>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cxnSp>
        <p:nvCxnSpPr>
          <p:cNvPr id="439" name="Google Shape;439;p7"/>
          <p:cNvCxnSpPr/>
          <p:nvPr/>
        </p:nvCxnSpPr>
        <p:spPr>
          <a:xfrm>
            <a:off x="1857364" y="3982778"/>
            <a:ext cx="0" cy="2537448"/>
          </a:xfrm>
          <a:prstGeom prst="straightConnector1">
            <a:avLst/>
          </a:prstGeom>
          <a:noFill/>
          <a:ln cap="flat" cmpd="sng" w="9525">
            <a:solidFill>
              <a:schemeClr val="dk1"/>
            </a:solidFill>
            <a:prstDash val="solid"/>
            <a:round/>
            <a:headEnd len="sm" w="sm" type="none"/>
            <a:tailEnd len="sm" w="sm" type="none"/>
          </a:ln>
        </p:spPr>
      </p:cxnSp>
      <p:cxnSp>
        <p:nvCxnSpPr>
          <p:cNvPr id="440" name="Google Shape;440;p7"/>
          <p:cNvCxnSpPr/>
          <p:nvPr/>
        </p:nvCxnSpPr>
        <p:spPr>
          <a:xfrm>
            <a:off x="695303" y="4292865"/>
            <a:ext cx="5029221" cy="0"/>
          </a:xfrm>
          <a:prstGeom prst="straightConnector1">
            <a:avLst/>
          </a:prstGeom>
          <a:noFill/>
          <a:ln cap="flat" cmpd="sng" w="9525">
            <a:solidFill>
              <a:schemeClr val="dk1"/>
            </a:solidFill>
            <a:prstDash val="solid"/>
            <a:round/>
            <a:headEnd len="sm" w="sm" type="none"/>
            <a:tailEnd len="sm" w="sm" type="none"/>
          </a:ln>
        </p:spPr>
      </p:cxnSp>
      <p:sp>
        <p:nvSpPr>
          <p:cNvPr id="441" name="Google Shape;441;p7"/>
          <p:cNvSpPr txBox="1"/>
          <p:nvPr/>
        </p:nvSpPr>
        <p:spPr>
          <a:xfrm>
            <a:off x="838178" y="3980468"/>
            <a:ext cx="133352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Código</a:t>
            </a:r>
            <a:endParaRPr b="0" i="0" sz="1400" u="none" cap="none" strike="noStrike">
              <a:solidFill>
                <a:srgbClr val="000000"/>
              </a:solidFill>
              <a:latin typeface="Arial"/>
              <a:ea typeface="Arial"/>
              <a:cs typeface="Arial"/>
              <a:sym typeface="Arial"/>
            </a:endParaRPr>
          </a:p>
        </p:txBody>
      </p:sp>
      <p:sp>
        <p:nvSpPr>
          <p:cNvPr id="442" name="Google Shape;442;p7"/>
          <p:cNvSpPr txBox="1"/>
          <p:nvPr/>
        </p:nvSpPr>
        <p:spPr>
          <a:xfrm>
            <a:off x="1938788" y="3982778"/>
            <a:ext cx="355282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Requisitos Funcionales</a:t>
            </a:r>
            <a:endParaRPr b="0" i="0" sz="1400" u="none" cap="none" strike="noStrike">
              <a:solidFill>
                <a:srgbClr val="000000"/>
              </a:solidFill>
              <a:latin typeface="Arial"/>
              <a:ea typeface="Arial"/>
              <a:cs typeface="Arial"/>
              <a:sym typeface="Arial"/>
            </a:endParaRPr>
          </a:p>
        </p:txBody>
      </p:sp>
      <p:sp>
        <p:nvSpPr>
          <p:cNvPr id="443" name="Google Shape;443;p7"/>
          <p:cNvSpPr txBox="1"/>
          <p:nvPr/>
        </p:nvSpPr>
        <p:spPr>
          <a:xfrm>
            <a:off x="1857363" y="4299704"/>
            <a:ext cx="390909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Nombre: Registro de consumo</a:t>
            </a:r>
            <a:endParaRPr b="0" i="0" sz="1400" u="none" cap="none" strike="noStrike">
              <a:solidFill>
                <a:srgbClr val="000000"/>
              </a:solidFill>
              <a:latin typeface="Arial"/>
              <a:ea typeface="Arial"/>
              <a:cs typeface="Arial"/>
              <a:sym typeface="Arial"/>
            </a:endParaRPr>
          </a:p>
        </p:txBody>
      </p:sp>
      <p:sp>
        <p:nvSpPr>
          <p:cNvPr id="444" name="Google Shape;444;p7"/>
          <p:cNvSpPr txBox="1"/>
          <p:nvPr/>
        </p:nvSpPr>
        <p:spPr>
          <a:xfrm>
            <a:off x="1904975" y="4937302"/>
            <a:ext cx="3799541"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Descripción: El sistema deberá registrar el consumo de alimentos por estudiante, incluyendo ID del estudiante, menú y fecha/hora del registro.</a:t>
            </a:r>
            <a:endParaRPr/>
          </a:p>
        </p:txBody>
      </p:sp>
      <p:sp>
        <p:nvSpPr>
          <p:cNvPr id="445" name="Google Shape;445;p7"/>
          <p:cNvSpPr txBox="1"/>
          <p:nvPr/>
        </p:nvSpPr>
        <p:spPr>
          <a:xfrm>
            <a:off x="1857363" y="6172089"/>
            <a:ext cx="278131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Usuarios: Administradores</a:t>
            </a:r>
            <a:endParaRPr b="0" i="0" sz="1400" u="none" cap="none" strike="noStrike">
              <a:solidFill>
                <a:srgbClr val="000000"/>
              </a:solidFill>
              <a:latin typeface="Arial"/>
              <a:ea typeface="Arial"/>
              <a:cs typeface="Arial"/>
              <a:sym typeface="Arial"/>
            </a:endParaRPr>
          </a:p>
        </p:txBody>
      </p:sp>
      <p:cxnSp>
        <p:nvCxnSpPr>
          <p:cNvPr id="446" name="Google Shape;446;p7"/>
          <p:cNvCxnSpPr/>
          <p:nvPr/>
        </p:nvCxnSpPr>
        <p:spPr>
          <a:xfrm>
            <a:off x="1857362" y="4586782"/>
            <a:ext cx="3900971" cy="0"/>
          </a:xfrm>
          <a:prstGeom prst="straightConnector1">
            <a:avLst/>
          </a:prstGeom>
          <a:noFill/>
          <a:ln cap="flat" cmpd="sng" w="9525">
            <a:solidFill>
              <a:schemeClr val="dk1"/>
            </a:solidFill>
            <a:prstDash val="solid"/>
            <a:round/>
            <a:headEnd len="sm" w="sm" type="none"/>
            <a:tailEnd len="sm" w="sm" type="none"/>
          </a:ln>
        </p:spPr>
      </p:cxnSp>
      <p:cxnSp>
        <p:nvCxnSpPr>
          <p:cNvPr id="447" name="Google Shape;447;p7"/>
          <p:cNvCxnSpPr/>
          <p:nvPr/>
        </p:nvCxnSpPr>
        <p:spPr>
          <a:xfrm>
            <a:off x="1857362" y="6167469"/>
            <a:ext cx="3900971" cy="0"/>
          </a:xfrm>
          <a:prstGeom prst="straightConnector1">
            <a:avLst/>
          </a:prstGeom>
          <a:noFill/>
          <a:ln cap="flat" cmpd="sng" w="9525">
            <a:solidFill>
              <a:schemeClr val="dk1"/>
            </a:solidFill>
            <a:prstDash val="solid"/>
            <a:round/>
            <a:headEnd len="sm" w="sm" type="none"/>
            <a:tailEnd len="sm" w="sm" type="none"/>
          </a:ln>
        </p:spPr>
      </p:cxnSp>
      <p:sp>
        <p:nvSpPr>
          <p:cNvPr id="448" name="Google Shape;448;p7"/>
          <p:cNvSpPr txBox="1"/>
          <p:nvPr/>
        </p:nvSpPr>
        <p:spPr>
          <a:xfrm>
            <a:off x="6568165" y="4989449"/>
            <a:ext cx="488634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RQ007</a:t>
            </a:r>
            <a:endParaRPr/>
          </a:p>
        </p:txBody>
      </p:sp>
      <p:sp>
        <p:nvSpPr>
          <p:cNvPr id="449" name="Google Shape;449;p7"/>
          <p:cNvSpPr/>
          <p:nvPr/>
        </p:nvSpPr>
        <p:spPr>
          <a:xfrm>
            <a:off x="6425290" y="3942418"/>
            <a:ext cx="5395235" cy="2537448"/>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cxnSp>
        <p:nvCxnSpPr>
          <p:cNvPr id="450" name="Google Shape;450;p7"/>
          <p:cNvCxnSpPr/>
          <p:nvPr/>
        </p:nvCxnSpPr>
        <p:spPr>
          <a:xfrm>
            <a:off x="7587351" y="3940108"/>
            <a:ext cx="0" cy="2537448"/>
          </a:xfrm>
          <a:prstGeom prst="straightConnector1">
            <a:avLst/>
          </a:prstGeom>
          <a:noFill/>
          <a:ln cap="flat" cmpd="sng" w="9525">
            <a:solidFill>
              <a:schemeClr val="dk1"/>
            </a:solidFill>
            <a:prstDash val="solid"/>
            <a:round/>
            <a:headEnd len="sm" w="sm" type="none"/>
            <a:tailEnd len="sm" w="sm" type="none"/>
          </a:ln>
        </p:spPr>
      </p:cxnSp>
      <p:cxnSp>
        <p:nvCxnSpPr>
          <p:cNvPr id="451" name="Google Shape;451;p7"/>
          <p:cNvCxnSpPr/>
          <p:nvPr/>
        </p:nvCxnSpPr>
        <p:spPr>
          <a:xfrm>
            <a:off x="6425290" y="4250195"/>
            <a:ext cx="5395235" cy="11459"/>
          </a:xfrm>
          <a:prstGeom prst="straightConnector1">
            <a:avLst/>
          </a:prstGeom>
          <a:noFill/>
          <a:ln cap="flat" cmpd="sng" w="9525">
            <a:solidFill>
              <a:schemeClr val="dk1"/>
            </a:solidFill>
            <a:prstDash val="solid"/>
            <a:round/>
            <a:headEnd len="sm" w="sm" type="none"/>
            <a:tailEnd len="sm" w="sm" type="none"/>
          </a:ln>
        </p:spPr>
      </p:cxnSp>
      <p:sp>
        <p:nvSpPr>
          <p:cNvPr id="452" name="Google Shape;452;p7"/>
          <p:cNvSpPr txBox="1"/>
          <p:nvPr/>
        </p:nvSpPr>
        <p:spPr>
          <a:xfrm>
            <a:off x="6568165" y="3937798"/>
            <a:ext cx="133352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Código</a:t>
            </a:r>
            <a:endParaRPr b="0" i="0" sz="1400" u="none" cap="none" strike="noStrike">
              <a:solidFill>
                <a:srgbClr val="000000"/>
              </a:solidFill>
              <a:latin typeface="Arial"/>
              <a:ea typeface="Arial"/>
              <a:cs typeface="Arial"/>
              <a:sym typeface="Arial"/>
            </a:endParaRPr>
          </a:p>
        </p:txBody>
      </p:sp>
      <p:sp>
        <p:nvSpPr>
          <p:cNvPr id="453" name="Google Shape;453;p7"/>
          <p:cNvSpPr txBox="1"/>
          <p:nvPr/>
        </p:nvSpPr>
        <p:spPr>
          <a:xfrm>
            <a:off x="7668775" y="3940108"/>
            <a:ext cx="355282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Requisitos Funcionales</a:t>
            </a:r>
            <a:endParaRPr b="0" i="0" sz="1400" u="none" cap="none" strike="noStrike">
              <a:solidFill>
                <a:srgbClr val="000000"/>
              </a:solidFill>
              <a:latin typeface="Arial"/>
              <a:ea typeface="Arial"/>
              <a:cs typeface="Arial"/>
              <a:sym typeface="Arial"/>
            </a:endParaRPr>
          </a:p>
        </p:txBody>
      </p:sp>
      <p:sp>
        <p:nvSpPr>
          <p:cNvPr id="454" name="Google Shape;454;p7"/>
          <p:cNvSpPr txBox="1"/>
          <p:nvPr/>
        </p:nvSpPr>
        <p:spPr>
          <a:xfrm>
            <a:off x="7587350" y="6129419"/>
            <a:ext cx="429985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Usuarios: Administradores, Estudiante, Acudiente</a:t>
            </a:r>
            <a:endParaRPr b="0" i="0" sz="1400" u="none" cap="none" strike="noStrike">
              <a:solidFill>
                <a:srgbClr val="000000"/>
              </a:solidFill>
              <a:latin typeface="Arial"/>
              <a:ea typeface="Arial"/>
              <a:cs typeface="Arial"/>
              <a:sym typeface="Arial"/>
            </a:endParaRPr>
          </a:p>
        </p:txBody>
      </p:sp>
      <p:cxnSp>
        <p:nvCxnSpPr>
          <p:cNvPr id="455" name="Google Shape;455;p7"/>
          <p:cNvCxnSpPr/>
          <p:nvPr/>
        </p:nvCxnSpPr>
        <p:spPr>
          <a:xfrm flipH="1" rot="10800000">
            <a:off x="7553540" y="4564811"/>
            <a:ext cx="4266985" cy="9854"/>
          </a:xfrm>
          <a:prstGeom prst="straightConnector1">
            <a:avLst/>
          </a:prstGeom>
          <a:noFill/>
          <a:ln cap="flat" cmpd="sng" w="9525">
            <a:solidFill>
              <a:schemeClr val="dk1"/>
            </a:solidFill>
            <a:prstDash val="solid"/>
            <a:round/>
            <a:headEnd len="sm" w="sm" type="none"/>
            <a:tailEnd len="sm" w="sm" type="none"/>
          </a:ln>
        </p:spPr>
      </p:cxnSp>
      <p:cxnSp>
        <p:nvCxnSpPr>
          <p:cNvPr id="456" name="Google Shape;456;p7"/>
          <p:cNvCxnSpPr/>
          <p:nvPr/>
        </p:nvCxnSpPr>
        <p:spPr>
          <a:xfrm>
            <a:off x="7587350" y="6129419"/>
            <a:ext cx="4233175" cy="0"/>
          </a:xfrm>
          <a:prstGeom prst="straightConnector1">
            <a:avLst/>
          </a:prstGeom>
          <a:noFill/>
          <a:ln cap="flat" cmpd="sng" w="9525">
            <a:solidFill>
              <a:schemeClr val="dk1"/>
            </a:solidFill>
            <a:prstDash val="solid"/>
            <a:round/>
            <a:headEnd len="sm" w="sm" type="none"/>
            <a:tailEnd len="sm" w="sm" type="none"/>
          </a:ln>
        </p:spPr>
      </p:cxnSp>
      <p:sp>
        <p:nvSpPr>
          <p:cNvPr id="457" name="Google Shape;457;p7"/>
          <p:cNvSpPr txBox="1"/>
          <p:nvPr/>
        </p:nvSpPr>
        <p:spPr>
          <a:xfrm>
            <a:off x="7553996" y="4269779"/>
            <a:ext cx="390909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Nombre: Consulta de información nutricional</a:t>
            </a:r>
            <a:endParaRPr b="0" i="0" sz="1400" u="none" cap="none" strike="noStrike">
              <a:solidFill>
                <a:srgbClr val="000000"/>
              </a:solidFill>
              <a:latin typeface="Arial"/>
              <a:ea typeface="Arial"/>
              <a:cs typeface="Arial"/>
              <a:sym typeface="Arial"/>
            </a:endParaRPr>
          </a:p>
        </p:txBody>
      </p:sp>
      <p:sp>
        <p:nvSpPr>
          <p:cNvPr id="458" name="Google Shape;458;p7"/>
          <p:cNvSpPr txBox="1"/>
          <p:nvPr/>
        </p:nvSpPr>
        <p:spPr>
          <a:xfrm>
            <a:off x="7578503" y="4937302"/>
            <a:ext cx="3799541"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Descripción: El sistema deberá permitir a los usuarios autenticados consultar la información nutricional detallada de los alimentos.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62" name="Shape 462"/>
        <p:cNvGrpSpPr/>
        <p:nvPr/>
      </p:nvGrpSpPr>
      <p:grpSpPr>
        <a:xfrm>
          <a:off x="0" y="0"/>
          <a:ext cx="0" cy="0"/>
          <a:chOff x="0" y="0"/>
          <a:chExt cx="0" cy="0"/>
        </a:xfrm>
      </p:grpSpPr>
      <p:sp>
        <p:nvSpPr>
          <p:cNvPr id="463" name="Google Shape;463;p8"/>
          <p:cNvSpPr txBox="1"/>
          <p:nvPr/>
        </p:nvSpPr>
        <p:spPr>
          <a:xfrm>
            <a:off x="624575" y="414379"/>
            <a:ext cx="10515600" cy="74156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FFFFFF"/>
              </a:buClr>
              <a:buSzPts val="4400"/>
              <a:buFont typeface="Arial"/>
              <a:buNone/>
            </a:pPr>
            <a:r>
              <a:rPr b="0" i="0" lang="es-ES" sz="4400" u="none" cap="none" strike="noStrike">
                <a:solidFill>
                  <a:schemeClr val="dk1"/>
                </a:solidFill>
                <a:latin typeface="Work Sans Medium"/>
                <a:ea typeface="Work Sans Medium"/>
                <a:cs typeface="Work Sans Medium"/>
                <a:sym typeface="Work Sans Medium"/>
              </a:rPr>
              <a:t>Requerimientos Funcionales</a:t>
            </a:r>
            <a:endParaRPr b="0" i="0" sz="4400" u="none" cap="none" strike="noStrike">
              <a:solidFill>
                <a:schemeClr val="dk1"/>
              </a:solidFill>
              <a:latin typeface="Work Sans Medium"/>
              <a:ea typeface="Work Sans Medium"/>
              <a:cs typeface="Work Sans Medium"/>
              <a:sym typeface="Work Sans Medium"/>
            </a:endParaRPr>
          </a:p>
        </p:txBody>
      </p:sp>
      <p:sp>
        <p:nvSpPr>
          <p:cNvPr id="464" name="Google Shape;464;p8"/>
          <p:cNvSpPr txBox="1"/>
          <p:nvPr/>
        </p:nvSpPr>
        <p:spPr>
          <a:xfrm>
            <a:off x="838179" y="2205283"/>
            <a:ext cx="488634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RQ009</a:t>
            </a:r>
            <a:endParaRPr/>
          </a:p>
        </p:txBody>
      </p:sp>
      <p:sp>
        <p:nvSpPr>
          <p:cNvPr id="465" name="Google Shape;465;p8"/>
          <p:cNvSpPr/>
          <p:nvPr/>
        </p:nvSpPr>
        <p:spPr>
          <a:xfrm>
            <a:off x="695304" y="1158252"/>
            <a:ext cx="5029221" cy="2537448"/>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cxnSp>
        <p:nvCxnSpPr>
          <p:cNvPr id="466" name="Google Shape;466;p8"/>
          <p:cNvCxnSpPr/>
          <p:nvPr/>
        </p:nvCxnSpPr>
        <p:spPr>
          <a:xfrm>
            <a:off x="1857365" y="1155942"/>
            <a:ext cx="0" cy="2537448"/>
          </a:xfrm>
          <a:prstGeom prst="straightConnector1">
            <a:avLst/>
          </a:prstGeom>
          <a:noFill/>
          <a:ln cap="flat" cmpd="sng" w="9525">
            <a:solidFill>
              <a:schemeClr val="dk1"/>
            </a:solidFill>
            <a:prstDash val="solid"/>
            <a:round/>
            <a:headEnd len="sm" w="sm" type="none"/>
            <a:tailEnd len="sm" w="sm" type="none"/>
          </a:ln>
        </p:spPr>
      </p:cxnSp>
      <p:cxnSp>
        <p:nvCxnSpPr>
          <p:cNvPr id="467" name="Google Shape;467;p8"/>
          <p:cNvCxnSpPr/>
          <p:nvPr/>
        </p:nvCxnSpPr>
        <p:spPr>
          <a:xfrm>
            <a:off x="695304" y="1466029"/>
            <a:ext cx="5029221" cy="0"/>
          </a:xfrm>
          <a:prstGeom prst="straightConnector1">
            <a:avLst/>
          </a:prstGeom>
          <a:noFill/>
          <a:ln cap="flat" cmpd="sng" w="9525">
            <a:solidFill>
              <a:schemeClr val="dk1"/>
            </a:solidFill>
            <a:prstDash val="solid"/>
            <a:round/>
            <a:headEnd len="sm" w="sm" type="none"/>
            <a:tailEnd len="sm" w="sm" type="none"/>
          </a:ln>
        </p:spPr>
      </p:cxnSp>
      <p:sp>
        <p:nvSpPr>
          <p:cNvPr id="468" name="Google Shape;468;p8"/>
          <p:cNvSpPr txBox="1"/>
          <p:nvPr/>
        </p:nvSpPr>
        <p:spPr>
          <a:xfrm>
            <a:off x="838179" y="1153632"/>
            <a:ext cx="133352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Código</a:t>
            </a:r>
            <a:endParaRPr b="0" i="0" sz="1400" u="none" cap="none" strike="noStrike">
              <a:solidFill>
                <a:srgbClr val="000000"/>
              </a:solidFill>
              <a:latin typeface="Arial"/>
              <a:ea typeface="Arial"/>
              <a:cs typeface="Arial"/>
              <a:sym typeface="Arial"/>
            </a:endParaRPr>
          </a:p>
        </p:txBody>
      </p:sp>
      <p:sp>
        <p:nvSpPr>
          <p:cNvPr id="469" name="Google Shape;469;p8"/>
          <p:cNvSpPr txBox="1"/>
          <p:nvPr/>
        </p:nvSpPr>
        <p:spPr>
          <a:xfrm>
            <a:off x="1938789" y="1155942"/>
            <a:ext cx="355282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Requisitos Funcionales</a:t>
            </a:r>
            <a:endParaRPr b="0" i="0" sz="1400" u="none" cap="none" strike="noStrike">
              <a:solidFill>
                <a:srgbClr val="000000"/>
              </a:solidFill>
              <a:latin typeface="Arial"/>
              <a:ea typeface="Arial"/>
              <a:cs typeface="Arial"/>
              <a:sym typeface="Arial"/>
            </a:endParaRPr>
          </a:p>
        </p:txBody>
      </p:sp>
      <p:sp>
        <p:nvSpPr>
          <p:cNvPr id="470" name="Google Shape;470;p8"/>
          <p:cNvSpPr txBox="1"/>
          <p:nvPr/>
        </p:nvSpPr>
        <p:spPr>
          <a:xfrm>
            <a:off x="1857364" y="1472868"/>
            <a:ext cx="355282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Nombre: Generación de reportes</a:t>
            </a:r>
            <a:endParaRPr b="0" i="0" sz="1400" u="none" cap="none" strike="noStrike">
              <a:solidFill>
                <a:srgbClr val="000000"/>
              </a:solidFill>
              <a:latin typeface="Arial"/>
              <a:ea typeface="Arial"/>
              <a:cs typeface="Arial"/>
              <a:sym typeface="Arial"/>
            </a:endParaRPr>
          </a:p>
        </p:txBody>
      </p:sp>
      <p:sp>
        <p:nvSpPr>
          <p:cNvPr id="471" name="Google Shape;471;p8"/>
          <p:cNvSpPr txBox="1"/>
          <p:nvPr/>
        </p:nvSpPr>
        <p:spPr>
          <a:xfrm>
            <a:off x="1825137" y="2148348"/>
            <a:ext cx="3799541"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Descripción: El sistema deberá generar reportes en formato PDF y Excel, permitiendo filtrar por rango de fechas y tipo de usuario..</a:t>
            </a:r>
            <a:endParaRPr b="0" i="0" sz="1400" u="none" cap="none" strike="noStrike">
              <a:solidFill>
                <a:srgbClr val="000000"/>
              </a:solidFill>
              <a:latin typeface="Arial"/>
              <a:ea typeface="Arial"/>
              <a:cs typeface="Arial"/>
              <a:sym typeface="Arial"/>
            </a:endParaRPr>
          </a:p>
        </p:txBody>
      </p:sp>
      <p:sp>
        <p:nvSpPr>
          <p:cNvPr id="472" name="Google Shape;472;p8"/>
          <p:cNvSpPr txBox="1"/>
          <p:nvPr/>
        </p:nvSpPr>
        <p:spPr>
          <a:xfrm>
            <a:off x="1857364" y="3345253"/>
            <a:ext cx="278131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Usuarios: Administradores</a:t>
            </a:r>
            <a:endParaRPr b="0" i="0" sz="1400" u="none" cap="none" strike="noStrike">
              <a:solidFill>
                <a:srgbClr val="000000"/>
              </a:solidFill>
              <a:latin typeface="Arial"/>
              <a:ea typeface="Arial"/>
              <a:cs typeface="Arial"/>
              <a:sym typeface="Arial"/>
            </a:endParaRPr>
          </a:p>
        </p:txBody>
      </p:sp>
      <p:sp>
        <p:nvSpPr>
          <p:cNvPr id="473" name="Google Shape;473;p8"/>
          <p:cNvSpPr txBox="1"/>
          <p:nvPr/>
        </p:nvSpPr>
        <p:spPr>
          <a:xfrm>
            <a:off x="6568165" y="2200663"/>
            <a:ext cx="488634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RQ010</a:t>
            </a:r>
            <a:endParaRPr/>
          </a:p>
        </p:txBody>
      </p:sp>
      <p:sp>
        <p:nvSpPr>
          <p:cNvPr id="474" name="Google Shape;474;p8"/>
          <p:cNvSpPr/>
          <p:nvPr/>
        </p:nvSpPr>
        <p:spPr>
          <a:xfrm>
            <a:off x="6425290" y="1153632"/>
            <a:ext cx="5395235" cy="2537448"/>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cxnSp>
        <p:nvCxnSpPr>
          <p:cNvPr id="475" name="Google Shape;475;p8"/>
          <p:cNvCxnSpPr/>
          <p:nvPr/>
        </p:nvCxnSpPr>
        <p:spPr>
          <a:xfrm>
            <a:off x="7587351" y="1151322"/>
            <a:ext cx="0" cy="2537448"/>
          </a:xfrm>
          <a:prstGeom prst="straightConnector1">
            <a:avLst/>
          </a:prstGeom>
          <a:noFill/>
          <a:ln cap="flat" cmpd="sng" w="9525">
            <a:solidFill>
              <a:schemeClr val="dk1"/>
            </a:solidFill>
            <a:prstDash val="solid"/>
            <a:round/>
            <a:headEnd len="sm" w="sm" type="none"/>
            <a:tailEnd len="sm" w="sm" type="none"/>
          </a:ln>
        </p:spPr>
      </p:cxnSp>
      <p:cxnSp>
        <p:nvCxnSpPr>
          <p:cNvPr id="476" name="Google Shape;476;p8"/>
          <p:cNvCxnSpPr/>
          <p:nvPr/>
        </p:nvCxnSpPr>
        <p:spPr>
          <a:xfrm>
            <a:off x="6425290" y="1461409"/>
            <a:ext cx="5395235" cy="11459"/>
          </a:xfrm>
          <a:prstGeom prst="straightConnector1">
            <a:avLst/>
          </a:prstGeom>
          <a:noFill/>
          <a:ln cap="flat" cmpd="sng" w="9525">
            <a:solidFill>
              <a:schemeClr val="dk1"/>
            </a:solidFill>
            <a:prstDash val="solid"/>
            <a:round/>
            <a:headEnd len="sm" w="sm" type="none"/>
            <a:tailEnd len="sm" w="sm" type="none"/>
          </a:ln>
        </p:spPr>
      </p:cxnSp>
      <p:sp>
        <p:nvSpPr>
          <p:cNvPr id="477" name="Google Shape;477;p8"/>
          <p:cNvSpPr txBox="1"/>
          <p:nvPr/>
        </p:nvSpPr>
        <p:spPr>
          <a:xfrm>
            <a:off x="6568165" y="1149012"/>
            <a:ext cx="133352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Código</a:t>
            </a:r>
            <a:endParaRPr b="0" i="0" sz="1400" u="none" cap="none" strike="noStrike">
              <a:solidFill>
                <a:srgbClr val="000000"/>
              </a:solidFill>
              <a:latin typeface="Arial"/>
              <a:ea typeface="Arial"/>
              <a:cs typeface="Arial"/>
              <a:sym typeface="Arial"/>
            </a:endParaRPr>
          </a:p>
        </p:txBody>
      </p:sp>
      <p:sp>
        <p:nvSpPr>
          <p:cNvPr id="478" name="Google Shape;478;p8"/>
          <p:cNvSpPr txBox="1"/>
          <p:nvPr/>
        </p:nvSpPr>
        <p:spPr>
          <a:xfrm>
            <a:off x="7668775" y="1151322"/>
            <a:ext cx="355282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Requisitos Funcionales</a:t>
            </a:r>
            <a:endParaRPr b="0" i="0" sz="1400" u="none" cap="none" strike="noStrike">
              <a:solidFill>
                <a:srgbClr val="000000"/>
              </a:solidFill>
              <a:latin typeface="Arial"/>
              <a:ea typeface="Arial"/>
              <a:cs typeface="Arial"/>
              <a:sym typeface="Arial"/>
            </a:endParaRPr>
          </a:p>
        </p:txBody>
      </p:sp>
      <p:sp>
        <p:nvSpPr>
          <p:cNvPr id="479" name="Google Shape;479;p8"/>
          <p:cNvSpPr txBox="1"/>
          <p:nvPr/>
        </p:nvSpPr>
        <p:spPr>
          <a:xfrm>
            <a:off x="7587350" y="1468248"/>
            <a:ext cx="355282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Nombre: Búsqueda de información</a:t>
            </a:r>
            <a:endParaRPr b="0" i="0" sz="1400" u="none" cap="none" strike="noStrike">
              <a:solidFill>
                <a:srgbClr val="000000"/>
              </a:solidFill>
              <a:latin typeface="Arial"/>
              <a:ea typeface="Arial"/>
              <a:cs typeface="Arial"/>
              <a:sym typeface="Arial"/>
            </a:endParaRPr>
          </a:p>
        </p:txBody>
      </p:sp>
      <p:sp>
        <p:nvSpPr>
          <p:cNvPr id="480" name="Google Shape;480;p8"/>
          <p:cNvSpPr txBox="1"/>
          <p:nvPr/>
        </p:nvSpPr>
        <p:spPr>
          <a:xfrm>
            <a:off x="7545416" y="2018054"/>
            <a:ext cx="3799541"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Descripción: El sistema deberá permitir la búsqueda de alimentos y menús mediante filtros por nombre y fecha, mostrando resultados en tiempo real.</a:t>
            </a:r>
            <a:endParaRPr b="0" i="0" sz="1400" u="none" cap="none" strike="noStrike">
              <a:solidFill>
                <a:srgbClr val="000000"/>
              </a:solidFill>
              <a:latin typeface="Arial"/>
              <a:ea typeface="Arial"/>
              <a:cs typeface="Arial"/>
              <a:sym typeface="Arial"/>
            </a:endParaRPr>
          </a:p>
        </p:txBody>
      </p:sp>
      <p:sp>
        <p:nvSpPr>
          <p:cNvPr id="481" name="Google Shape;481;p8"/>
          <p:cNvSpPr txBox="1"/>
          <p:nvPr/>
        </p:nvSpPr>
        <p:spPr>
          <a:xfrm>
            <a:off x="7587350" y="3340633"/>
            <a:ext cx="429985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Usuarios: Administradores, Estudiantes, Acudiente</a:t>
            </a:r>
            <a:endParaRPr b="0" i="0" sz="1400" u="none" cap="none" strike="noStrike">
              <a:solidFill>
                <a:srgbClr val="000000"/>
              </a:solidFill>
              <a:latin typeface="Arial"/>
              <a:ea typeface="Arial"/>
              <a:cs typeface="Arial"/>
              <a:sym typeface="Arial"/>
            </a:endParaRPr>
          </a:p>
        </p:txBody>
      </p:sp>
      <p:cxnSp>
        <p:nvCxnSpPr>
          <p:cNvPr id="482" name="Google Shape;482;p8"/>
          <p:cNvCxnSpPr/>
          <p:nvPr/>
        </p:nvCxnSpPr>
        <p:spPr>
          <a:xfrm>
            <a:off x="1857363" y="1759946"/>
            <a:ext cx="3900971" cy="0"/>
          </a:xfrm>
          <a:prstGeom prst="straightConnector1">
            <a:avLst/>
          </a:prstGeom>
          <a:noFill/>
          <a:ln cap="flat" cmpd="sng" w="9525">
            <a:solidFill>
              <a:schemeClr val="dk1"/>
            </a:solidFill>
            <a:prstDash val="solid"/>
            <a:round/>
            <a:headEnd len="sm" w="sm" type="none"/>
            <a:tailEnd len="sm" w="sm" type="none"/>
          </a:ln>
        </p:spPr>
      </p:cxnSp>
      <p:cxnSp>
        <p:nvCxnSpPr>
          <p:cNvPr id="483" name="Google Shape;483;p8"/>
          <p:cNvCxnSpPr/>
          <p:nvPr/>
        </p:nvCxnSpPr>
        <p:spPr>
          <a:xfrm>
            <a:off x="1857363" y="3340633"/>
            <a:ext cx="3900971" cy="0"/>
          </a:xfrm>
          <a:prstGeom prst="straightConnector1">
            <a:avLst/>
          </a:prstGeom>
          <a:noFill/>
          <a:ln cap="flat" cmpd="sng" w="9525">
            <a:solidFill>
              <a:schemeClr val="dk1"/>
            </a:solidFill>
            <a:prstDash val="solid"/>
            <a:round/>
            <a:headEnd len="sm" w="sm" type="none"/>
            <a:tailEnd len="sm" w="sm" type="none"/>
          </a:ln>
        </p:spPr>
      </p:cxnSp>
      <p:cxnSp>
        <p:nvCxnSpPr>
          <p:cNvPr id="484" name="Google Shape;484;p8"/>
          <p:cNvCxnSpPr/>
          <p:nvPr/>
        </p:nvCxnSpPr>
        <p:spPr>
          <a:xfrm flipH="1" rot="10800000">
            <a:off x="7553540" y="1776025"/>
            <a:ext cx="4266985" cy="9854"/>
          </a:xfrm>
          <a:prstGeom prst="straightConnector1">
            <a:avLst/>
          </a:prstGeom>
          <a:noFill/>
          <a:ln cap="flat" cmpd="sng" w="9525">
            <a:solidFill>
              <a:schemeClr val="dk1"/>
            </a:solidFill>
            <a:prstDash val="solid"/>
            <a:round/>
            <a:headEnd len="sm" w="sm" type="none"/>
            <a:tailEnd len="sm" w="sm" type="none"/>
          </a:ln>
        </p:spPr>
      </p:cxnSp>
      <p:cxnSp>
        <p:nvCxnSpPr>
          <p:cNvPr id="485" name="Google Shape;485;p8"/>
          <p:cNvCxnSpPr/>
          <p:nvPr/>
        </p:nvCxnSpPr>
        <p:spPr>
          <a:xfrm>
            <a:off x="7587350" y="3340633"/>
            <a:ext cx="4233175" cy="0"/>
          </a:xfrm>
          <a:prstGeom prst="straightConnector1">
            <a:avLst/>
          </a:prstGeom>
          <a:noFill/>
          <a:ln cap="flat" cmpd="sng" w="9525">
            <a:solidFill>
              <a:schemeClr val="dk1"/>
            </a:solidFill>
            <a:prstDash val="solid"/>
            <a:round/>
            <a:headEnd len="sm" w="sm" type="none"/>
            <a:tailEnd len="sm" w="sm" type="none"/>
          </a:ln>
        </p:spPr>
      </p:cxnSp>
      <p:sp>
        <p:nvSpPr>
          <p:cNvPr id="486" name="Google Shape;486;p8"/>
          <p:cNvSpPr txBox="1"/>
          <p:nvPr/>
        </p:nvSpPr>
        <p:spPr>
          <a:xfrm>
            <a:off x="3741021" y="5029809"/>
            <a:ext cx="488634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RQ011</a:t>
            </a:r>
            <a:endParaRPr/>
          </a:p>
        </p:txBody>
      </p:sp>
      <p:sp>
        <p:nvSpPr>
          <p:cNvPr id="487" name="Google Shape;487;p8"/>
          <p:cNvSpPr/>
          <p:nvPr/>
        </p:nvSpPr>
        <p:spPr>
          <a:xfrm>
            <a:off x="3598146" y="3982778"/>
            <a:ext cx="5029221" cy="2537448"/>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cxnSp>
        <p:nvCxnSpPr>
          <p:cNvPr id="488" name="Google Shape;488;p8"/>
          <p:cNvCxnSpPr/>
          <p:nvPr/>
        </p:nvCxnSpPr>
        <p:spPr>
          <a:xfrm>
            <a:off x="4760207" y="3980468"/>
            <a:ext cx="0" cy="2537448"/>
          </a:xfrm>
          <a:prstGeom prst="straightConnector1">
            <a:avLst/>
          </a:prstGeom>
          <a:noFill/>
          <a:ln cap="flat" cmpd="sng" w="9525">
            <a:solidFill>
              <a:schemeClr val="dk1"/>
            </a:solidFill>
            <a:prstDash val="solid"/>
            <a:round/>
            <a:headEnd len="sm" w="sm" type="none"/>
            <a:tailEnd len="sm" w="sm" type="none"/>
          </a:ln>
        </p:spPr>
      </p:cxnSp>
      <p:cxnSp>
        <p:nvCxnSpPr>
          <p:cNvPr id="489" name="Google Shape;489;p8"/>
          <p:cNvCxnSpPr/>
          <p:nvPr/>
        </p:nvCxnSpPr>
        <p:spPr>
          <a:xfrm>
            <a:off x="3598146" y="4290555"/>
            <a:ext cx="5029221" cy="0"/>
          </a:xfrm>
          <a:prstGeom prst="straightConnector1">
            <a:avLst/>
          </a:prstGeom>
          <a:noFill/>
          <a:ln cap="flat" cmpd="sng" w="9525">
            <a:solidFill>
              <a:schemeClr val="dk1"/>
            </a:solidFill>
            <a:prstDash val="solid"/>
            <a:round/>
            <a:headEnd len="sm" w="sm" type="none"/>
            <a:tailEnd len="sm" w="sm" type="none"/>
          </a:ln>
        </p:spPr>
      </p:cxnSp>
      <p:sp>
        <p:nvSpPr>
          <p:cNvPr id="490" name="Google Shape;490;p8"/>
          <p:cNvSpPr txBox="1"/>
          <p:nvPr/>
        </p:nvSpPr>
        <p:spPr>
          <a:xfrm>
            <a:off x="3741021" y="3978158"/>
            <a:ext cx="133352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Código</a:t>
            </a:r>
            <a:endParaRPr b="0" i="0" sz="1400" u="none" cap="none" strike="noStrike">
              <a:solidFill>
                <a:srgbClr val="000000"/>
              </a:solidFill>
              <a:latin typeface="Arial"/>
              <a:ea typeface="Arial"/>
              <a:cs typeface="Arial"/>
              <a:sym typeface="Arial"/>
            </a:endParaRPr>
          </a:p>
        </p:txBody>
      </p:sp>
      <p:sp>
        <p:nvSpPr>
          <p:cNvPr id="491" name="Google Shape;491;p8"/>
          <p:cNvSpPr txBox="1"/>
          <p:nvPr/>
        </p:nvSpPr>
        <p:spPr>
          <a:xfrm>
            <a:off x="4841631" y="3980468"/>
            <a:ext cx="355282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Requisitos Funcionales</a:t>
            </a:r>
            <a:endParaRPr b="0" i="0" sz="1400" u="none" cap="none" strike="noStrike">
              <a:solidFill>
                <a:srgbClr val="000000"/>
              </a:solidFill>
              <a:latin typeface="Arial"/>
              <a:ea typeface="Arial"/>
              <a:cs typeface="Arial"/>
              <a:sym typeface="Arial"/>
            </a:endParaRPr>
          </a:p>
        </p:txBody>
      </p:sp>
      <p:sp>
        <p:nvSpPr>
          <p:cNvPr id="492" name="Google Shape;492;p8"/>
          <p:cNvSpPr txBox="1"/>
          <p:nvPr/>
        </p:nvSpPr>
        <p:spPr>
          <a:xfrm>
            <a:off x="4760206" y="4297394"/>
            <a:ext cx="355282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Nombre: Alertas nutricionales</a:t>
            </a:r>
            <a:endParaRPr b="0" i="0" sz="1400" u="none" cap="none" strike="noStrike">
              <a:solidFill>
                <a:srgbClr val="000000"/>
              </a:solidFill>
              <a:latin typeface="Arial"/>
              <a:ea typeface="Arial"/>
              <a:cs typeface="Arial"/>
              <a:sym typeface="Arial"/>
            </a:endParaRPr>
          </a:p>
        </p:txBody>
      </p:sp>
      <p:sp>
        <p:nvSpPr>
          <p:cNvPr id="493" name="Google Shape;493;p8"/>
          <p:cNvSpPr txBox="1"/>
          <p:nvPr/>
        </p:nvSpPr>
        <p:spPr>
          <a:xfrm>
            <a:off x="4807818" y="4934992"/>
            <a:ext cx="3799541"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Descripción: El sistema deberá generar alertas cuando un alimento supere niveles definidos de azúcar, grasa o sodio.</a:t>
            </a:r>
            <a:endParaRPr b="0" i="0" sz="1400" u="none" cap="none" strike="noStrike">
              <a:solidFill>
                <a:srgbClr val="000000"/>
              </a:solidFill>
              <a:latin typeface="Arial"/>
              <a:ea typeface="Arial"/>
              <a:cs typeface="Arial"/>
              <a:sym typeface="Arial"/>
            </a:endParaRPr>
          </a:p>
        </p:txBody>
      </p:sp>
      <p:sp>
        <p:nvSpPr>
          <p:cNvPr id="494" name="Google Shape;494;p8"/>
          <p:cNvSpPr txBox="1"/>
          <p:nvPr/>
        </p:nvSpPr>
        <p:spPr>
          <a:xfrm>
            <a:off x="4760206" y="6169779"/>
            <a:ext cx="376731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Usuarios: Sistema, Administradores</a:t>
            </a:r>
            <a:endParaRPr b="0" i="0" sz="1400" u="none" cap="none" strike="noStrike">
              <a:solidFill>
                <a:srgbClr val="000000"/>
              </a:solidFill>
              <a:latin typeface="Arial"/>
              <a:ea typeface="Arial"/>
              <a:cs typeface="Arial"/>
              <a:sym typeface="Arial"/>
            </a:endParaRPr>
          </a:p>
        </p:txBody>
      </p:sp>
      <p:cxnSp>
        <p:nvCxnSpPr>
          <p:cNvPr id="495" name="Google Shape;495;p8"/>
          <p:cNvCxnSpPr/>
          <p:nvPr/>
        </p:nvCxnSpPr>
        <p:spPr>
          <a:xfrm>
            <a:off x="4760205" y="4584472"/>
            <a:ext cx="3900971" cy="0"/>
          </a:xfrm>
          <a:prstGeom prst="straightConnector1">
            <a:avLst/>
          </a:prstGeom>
          <a:noFill/>
          <a:ln cap="flat" cmpd="sng" w="9525">
            <a:solidFill>
              <a:schemeClr val="dk1"/>
            </a:solidFill>
            <a:prstDash val="solid"/>
            <a:round/>
            <a:headEnd len="sm" w="sm" type="none"/>
            <a:tailEnd len="sm" w="sm" type="none"/>
          </a:ln>
        </p:spPr>
      </p:cxnSp>
      <p:cxnSp>
        <p:nvCxnSpPr>
          <p:cNvPr id="496" name="Google Shape;496;p8"/>
          <p:cNvCxnSpPr/>
          <p:nvPr/>
        </p:nvCxnSpPr>
        <p:spPr>
          <a:xfrm>
            <a:off x="4760205" y="6165159"/>
            <a:ext cx="3900971" cy="0"/>
          </a:xfrm>
          <a:prstGeom prst="straightConnector1">
            <a:avLst/>
          </a:prstGeom>
          <a:noFill/>
          <a:ln cap="flat" cmpd="sng" w="9525">
            <a:solidFill>
              <a:schemeClr val="dk1"/>
            </a:solidFill>
            <a:prstDash val="solid"/>
            <a:round/>
            <a:headEnd len="sm" w="sm" type="none"/>
            <a:tailEnd len="sm" w="sm" type="non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9"/>
          <p:cNvSpPr txBox="1"/>
          <p:nvPr/>
        </p:nvSpPr>
        <p:spPr>
          <a:xfrm>
            <a:off x="627686" y="416689"/>
            <a:ext cx="10515600" cy="74156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FFFFFF"/>
              </a:buClr>
              <a:buSzPts val="4400"/>
              <a:buFont typeface="Arial"/>
              <a:buNone/>
            </a:pPr>
            <a:r>
              <a:rPr b="0" i="0" lang="es-ES" sz="4400" u="none" cap="none" strike="noStrike">
                <a:solidFill>
                  <a:schemeClr val="dk1"/>
                </a:solidFill>
                <a:latin typeface="Work Sans Medium"/>
                <a:ea typeface="Work Sans Medium"/>
                <a:cs typeface="Work Sans Medium"/>
                <a:sym typeface="Work Sans Medium"/>
              </a:rPr>
              <a:t>Requerimientos No Funcionales</a:t>
            </a:r>
            <a:endParaRPr b="0" i="0" sz="4400" u="none" cap="none" strike="noStrike">
              <a:solidFill>
                <a:schemeClr val="dk1"/>
              </a:solidFill>
              <a:latin typeface="Work Sans Medium"/>
              <a:ea typeface="Work Sans Medium"/>
              <a:cs typeface="Work Sans Medium"/>
              <a:sym typeface="Work Sans Medium"/>
            </a:endParaRPr>
          </a:p>
        </p:txBody>
      </p:sp>
      <p:sp>
        <p:nvSpPr>
          <p:cNvPr id="502" name="Google Shape;502;p9"/>
          <p:cNvSpPr txBox="1"/>
          <p:nvPr/>
        </p:nvSpPr>
        <p:spPr>
          <a:xfrm>
            <a:off x="838179" y="2205283"/>
            <a:ext cx="488634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RQ001</a:t>
            </a:r>
            <a:endParaRPr/>
          </a:p>
        </p:txBody>
      </p:sp>
      <p:sp>
        <p:nvSpPr>
          <p:cNvPr id="503" name="Google Shape;503;p9"/>
          <p:cNvSpPr/>
          <p:nvPr/>
        </p:nvSpPr>
        <p:spPr>
          <a:xfrm>
            <a:off x="695304" y="1158252"/>
            <a:ext cx="5029221" cy="2537448"/>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cxnSp>
        <p:nvCxnSpPr>
          <p:cNvPr id="504" name="Google Shape;504;p9"/>
          <p:cNvCxnSpPr/>
          <p:nvPr/>
        </p:nvCxnSpPr>
        <p:spPr>
          <a:xfrm>
            <a:off x="1857365" y="1155942"/>
            <a:ext cx="0" cy="2537448"/>
          </a:xfrm>
          <a:prstGeom prst="straightConnector1">
            <a:avLst/>
          </a:prstGeom>
          <a:noFill/>
          <a:ln cap="flat" cmpd="sng" w="9525">
            <a:solidFill>
              <a:schemeClr val="dk1"/>
            </a:solidFill>
            <a:prstDash val="solid"/>
            <a:round/>
            <a:headEnd len="sm" w="sm" type="none"/>
            <a:tailEnd len="sm" w="sm" type="none"/>
          </a:ln>
        </p:spPr>
      </p:cxnSp>
      <p:cxnSp>
        <p:nvCxnSpPr>
          <p:cNvPr id="505" name="Google Shape;505;p9"/>
          <p:cNvCxnSpPr/>
          <p:nvPr/>
        </p:nvCxnSpPr>
        <p:spPr>
          <a:xfrm>
            <a:off x="695304" y="1466029"/>
            <a:ext cx="5029221" cy="0"/>
          </a:xfrm>
          <a:prstGeom prst="straightConnector1">
            <a:avLst/>
          </a:prstGeom>
          <a:noFill/>
          <a:ln cap="flat" cmpd="sng" w="9525">
            <a:solidFill>
              <a:schemeClr val="dk1"/>
            </a:solidFill>
            <a:prstDash val="solid"/>
            <a:round/>
            <a:headEnd len="sm" w="sm" type="none"/>
            <a:tailEnd len="sm" w="sm" type="none"/>
          </a:ln>
        </p:spPr>
      </p:cxnSp>
      <p:sp>
        <p:nvSpPr>
          <p:cNvPr id="506" name="Google Shape;506;p9"/>
          <p:cNvSpPr txBox="1"/>
          <p:nvPr/>
        </p:nvSpPr>
        <p:spPr>
          <a:xfrm>
            <a:off x="838179" y="1153632"/>
            <a:ext cx="133352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Código</a:t>
            </a:r>
            <a:endParaRPr b="0" i="0" sz="1400" u="none" cap="none" strike="noStrike">
              <a:solidFill>
                <a:srgbClr val="000000"/>
              </a:solidFill>
              <a:latin typeface="Arial"/>
              <a:ea typeface="Arial"/>
              <a:cs typeface="Arial"/>
              <a:sym typeface="Arial"/>
            </a:endParaRPr>
          </a:p>
        </p:txBody>
      </p:sp>
      <p:sp>
        <p:nvSpPr>
          <p:cNvPr id="507" name="Google Shape;507;p9"/>
          <p:cNvSpPr txBox="1"/>
          <p:nvPr/>
        </p:nvSpPr>
        <p:spPr>
          <a:xfrm>
            <a:off x="1855797" y="1155941"/>
            <a:ext cx="355282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Requisitos No Funcionales</a:t>
            </a:r>
            <a:endParaRPr b="0" i="0" sz="1400" u="none" cap="none" strike="noStrike">
              <a:solidFill>
                <a:srgbClr val="000000"/>
              </a:solidFill>
              <a:latin typeface="Arial"/>
              <a:ea typeface="Arial"/>
              <a:cs typeface="Arial"/>
              <a:sym typeface="Arial"/>
            </a:endParaRPr>
          </a:p>
        </p:txBody>
      </p:sp>
      <p:sp>
        <p:nvSpPr>
          <p:cNvPr id="508" name="Google Shape;508;p9"/>
          <p:cNvSpPr txBox="1"/>
          <p:nvPr/>
        </p:nvSpPr>
        <p:spPr>
          <a:xfrm>
            <a:off x="1857364" y="1472868"/>
            <a:ext cx="355282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Nombre: Seguridad</a:t>
            </a:r>
            <a:endParaRPr b="0" i="0" sz="1400" u="none" cap="none" strike="noStrike">
              <a:solidFill>
                <a:srgbClr val="000000"/>
              </a:solidFill>
              <a:latin typeface="Arial"/>
              <a:ea typeface="Arial"/>
              <a:cs typeface="Arial"/>
              <a:sym typeface="Arial"/>
            </a:endParaRPr>
          </a:p>
        </p:txBody>
      </p:sp>
      <p:sp>
        <p:nvSpPr>
          <p:cNvPr id="509" name="Google Shape;509;p9"/>
          <p:cNvSpPr txBox="1"/>
          <p:nvPr/>
        </p:nvSpPr>
        <p:spPr>
          <a:xfrm>
            <a:off x="1849940" y="2096473"/>
            <a:ext cx="3799541" cy="116955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Descripción: El sistema deberá garantizar la seguridad mediante HTTPS, hashing de contraseñas (Bcrypt) y validación de entradas para prevenir ataques como SQL Injection y XSS.</a:t>
            </a:r>
            <a:endParaRPr b="0" i="0" sz="1400" u="none" cap="none" strike="noStrike">
              <a:solidFill>
                <a:srgbClr val="000000"/>
              </a:solidFill>
              <a:latin typeface="Arial"/>
              <a:ea typeface="Arial"/>
              <a:cs typeface="Arial"/>
              <a:sym typeface="Arial"/>
            </a:endParaRPr>
          </a:p>
        </p:txBody>
      </p:sp>
      <p:sp>
        <p:nvSpPr>
          <p:cNvPr id="510" name="Google Shape;510;p9"/>
          <p:cNvSpPr txBox="1"/>
          <p:nvPr/>
        </p:nvSpPr>
        <p:spPr>
          <a:xfrm>
            <a:off x="6568165" y="2200663"/>
            <a:ext cx="95251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RQ002</a:t>
            </a:r>
            <a:endParaRPr/>
          </a:p>
        </p:txBody>
      </p:sp>
      <p:sp>
        <p:nvSpPr>
          <p:cNvPr id="511" name="Google Shape;511;p9"/>
          <p:cNvSpPr/>
          <p:nvPr/>
        </p:nvSpPr>
        <p:spPr>
          <a:xfrm>
            <a:off x="6425290" y="1153632"/>
            <a:ext cx="5395235" cy="2537448"/>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cxnSp>
        <p:nvCxnSpPr>
          <p:cNvPr id="512" name="Google Shape;512;p9"/>
          <p:cNvCxnSpPr/>
          <p:nvPr/>
        </p:nvCxnSpPr>
        <p:spPr>
          <a:xfrm>
            <a:off x="7587351" y="1151322"/>
            <a:ext cx="0" cy="2537448"/>
          </a:xfrm>
          <a:prstGeom prst="straightConnector1">
            <a:avLst/>
          </a:prstGeom>
          <a:noFill/>
          <a:ln cap="flat" cmpd="sng" w="9525">
            <a:solidFill>
              <a:schemeClr val="dk1"/>
            </a:solidFill>
            <a:prstDash val="solid"/>
            <a:round/>
            <a:headEnd len="sm" w="sm" type="none"/>
            <a:tailEnd len="sm" w="sm" type="none"/>
          </a:ln>
        </p:spPr>
      </p:cxnSp>
      <p:cxnSp>
        <p:nvCxnSpPr>
          <p:cNvPr id="513" name="Google Shape;513;p9"/>
          <p:cNvCxnSpPr/>
          <p:nvPr/>
        </p:nvCxnSpPr>
        <p:spPr>
          <a:xfrm>
            <a:off x="6425290" y="1461409"/>
            <a:ext cx="5395235" cy="11459"/>
          </a:xfrm>
          <a:prstGeom prst="straightConnector1">
            <a:avLst/>
          </a:prstGeom>
          <a:noFill/>
          <a:ln cap="flat" cmpd="sng" w="9525">
            <a:solidFill>
              <a:schemeClr val="dk1"/>
            </a:solidFill>
            <a:prstDash val="solid"/>
            <a:round/>
            <a:headEnd len="sm" w="sm" type="none"/>
            <a:tailEnd len="sm" w="sm" type="none"/>
          </a:ln>
        </p:spPr>
      </p:cxnSp>
      <p:sp>
        <p:nvSpPr>
          <p:cNvPr id="514" name="Google Shape;514;p9"/>
          <p:cNvSpPr txBox="1"/>
          <p:nvPr/>
        </p:nvSpPr>
        <p:spPr>
          <a:xfrm>
            <a:off x="6568165" y="1149012"/>
            <a:ext cx="133352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Código</a:t>
            </a:r>
            <a:endParaRPr b="0" i="0" sz="1400" u="none" cap="none" strike="noStrike">
              <a:solidFill>
                <a:srgbClr val="000000"/>
              </a:solidFill>
              <a:latin typeface="Arial"/>
              <a:ea typeface="Arial"/>
              <a:cs typeface="Arial"/>
              <a:sym typeface="Arial"/>
            </a:endParaRPr>
          </a:p>
        </p:txBody>
      </p:sp>
      <p:sp>
        <p:nvSpPr>
          <p:cNvPr id="515" name="Google Shape;515;p9"/>
          <p:cNvSpPr txBox="1"/>
          <p:nvPr/>
        </p:nvSpPr>
        <p:spPr>
          <a:xfrm>
            <a:off x="7592575" y="1151322"/>
            <a:ext cx="355282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Requisitos No Funcionales</a:t>
            </a:r>
            <a:endParaRPr b="0" i="0" sz="1400" u="none" cap="none" strike="noStrike">
              <a:solidFill>
                <a:srgbClr val="000000"/>
              </a:solidFill>
              <a:latin typeface="Arial"/>
              <a:ea typeface="Arial"/>
              <a:cs typeface="Arial"/>
              <a:sym typeface="Arial"/>
            </a:endParaRPr>
          </a:p>
        </p:txBody>
      </p:sp>
      <p:sp>
        <p:nvSpPr>
          <p:cNvPr id="516" name="Google Shape;516;p9"/>
          <p:cNvSpPr txBox="1"/>
          <p:nvPr/>
        </p:nvSpPr>
        <p:spPr>
          <a:xfrm>
            <a:off x="7592790" y="1493613"/>
            <a:ext cx="484277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Nombre: Rendimiento</a:t>
            </a:r>
            <a:endParaRPr b="0" i="0" sz="1400" u="none" cap="none" strike="noStrike">
              <a:solidFill>
                <a:srgbClr val="000000"/>
              </a:solidFill>
              <a:latin typeface="Arial"/>
              <a:ea typeface="Arial"/>
              <a:cs typeface="Arial"/>
              <a:sym typeface="Arial"/>
            </a:endParaRPr>
          </a:p>
        </p:txBody>
      </p:sp>
      <p:sp>
        <p:nvSpPr>
          <p:cNvPr id="517" name="Google Shape;517;p9"/>
          <p:cNvSpPr txBox="1"/>
          <p:nvPr/>
        </p:nvSpPr>
        <p:spPr>
          <a:xfrm>
            <a:off x="7663551" y="2237646"/>
            <a:ext cx="3799541"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Descripción: El sistema deberá responder a las solicitudes en un tiempo menor a 2 segundos bajo condiciones normales de uso.</a:t>
            </a:r>
            <a:endParaRPr b="0" i="0" sz="1400" u="none" cap="none" strike="noStrike">
              <a:solidFill>
                <a:srgbClr val="000000"/>
              </a:solidFill>
              <a:latin typeface="Arial"/>
              <a:ea typeface="Arial"/>
              <a:cs typeface="Arial"/>
              <a:sym typeface="Arial"/>
            </a:endParaRPr>
          </a:p>
        </p:txBody>
      </p:sp>
      <p:cxnSp>
        <p:nvCxnSpPr>
          <p:cNvPr id="518" name="Google Shape;518;p9"/>
          <p:cNvCxnSpPr/>
          <p:nvPr/>
        </p:nvCxnSpPr>
        <p:spPr>
          <a:xfrm>
            <a:off x="1857363" y="1759946"/>
            <a:ext cx="3900971" cy="0"/>
          </a:xfrm>
          <a:prstGeom prst="straightConnector1">
            <a:avLst/>
          </a:prstGeom>
          <a:noFill/>
          <a:ln cap="flat" cmpd="sng" w="9525">
            <a:solidFill>
              <a:schemeClr val="dk1"/>
            </a:solidFill>
            <a:prstDash val="solid"/>
            <a:round/>
            <a:headEnd len="sm" w="sm" type="none"/>
            <a:tailEnd len="sm" w="sm" type="none"/>
          </a:ln>
        </p:spPr>
      </p:cxnSp>
      <p:cxnSp>
        <p:nvCxnSpPr>
          <p:cNvPr id="519" name="Google Shape;519;p9"/>
          <p:cNvCxnSpPr/>
          <p:nvPr/>
        </p:nvCxnSpPr>
        <p:spPr>
          <a:xfrm flipH="1" rot="10800000">
            <a:off x="7587350" y="1776025"/>
            <a:ext cx="4233175" cy="25365"/>
          </a:xfrm>
          <a:prstGeom prst="straightConnector1">
            <a:avLst/>
          </a:prstGeom>
          <a:noFill/>
          <a:ln cap="flat" cmpd="sng" w="9525">
            <a:solidFill>
              <a:schemeClr val="dk1"/>
            </a:solidFill>
            <a:prstDash val="solid"/>
            <a:round/>
            <a:headEnd len="sm" w="sm" type="none"/>
            <a:tailEnd len="sm" w="sm" type="none"/>
          </a:ln>
        </p:spPr>
      </p:cxnSp>
      <p:sp>
        <p:nvSpPr>
          <p:cNvPr id="520" name="Google Shape;520;p9"/>
          <p:cNvSpPr txBox="1"/>
          <p:nvPr/>
        </p:nvSpPr>
        <p:spPr>
          <a:xfrm>
            <a:off x="838178" y="5032119"/>
            <a:ext cx="488634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RQ003</a:t>
            </a:r>
            <a:endParaRPr/>
          </a:p>
        </p:txBody>
      </p:sp>
      <p:sp>
        <p:nvSpPr>
          <p:cNvPr id="521" name="Google Shape;521;p9"/>
          <p:cNvSpPr/>
          <p:nvPr/>
        </p:nvSpPr>
        <p:spPr>
          <a:xfrm>
            <a:off x="695303" y="3985088"/>
            <a:ext cx="5029221" cy="2537448"/>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cxnSp>
        <p:nvCxnSpPr>
          <p:cNvPr id="522" name="Google Shape;522;p9"/>
          <p:cNvCxnSpPr/>
          <p:nvPr/>
        </p:nvCxnSpPr>
        <p:spPr>
          <a:xfrm>
            <a:off x="1857364" y="3982778"/>
            <a:ext cx="0" cy="2537448"/>
          </a:xfrm>
          <a:prstGeom prst="straightConnector1">
            <a:avLst/>
          </a:prstGeom>
          <a:noFill/>
          <a:ln cap="flat" cmpd="sng" w="9525">
            <a:solidFill>
              <a:schemeClr val="dk1"/>
            </a:solidFill>
            <a:prstDash val="solid"/>
            <a:round/>
            <a:headEnd len="sm" w="sm" type="none"/>
            <a:tailEnd len="sm" w="sm" type="none"/>
          </a:ln>
        </p:spPr>
      </p:cxnSp>
      <p:cxnSp>
        <p:nvCxnSpPr>
          <p:cNvPr id="523" name="Google Shape;523;p9"/>
          <p:cNvCxnSpPr/>
          <p:nvPr/>
        </p:nvCxnSpPr>
        <p:spPr>
          <a:xfrm>
            <a:off x="695303" y="4292865"/>
            <a:ext cx="5029221" cy="0"/>
          </a:xfrm>
          <a:prstGeom prst="straightConnector1">
            <a:avLst/>
          </a:prstGeom>
          <a:noFill/>
          <a:ln cap="flat" cmpd="sng" w="9525">
            <a:solidFill>
              <a:schemeClr val="dk1"/>
            </a:solidFill>
            <a:prstDash val="solid"/>
            <a:round/>
            <a:headEnd len="sm" w="sm" type="none"/>
            <a:tailEnd len="sm" w="sm" type="none"/>
          </a:ln>
        </p:spPr>
      </p:cxnSp>
      <p:sp>
        <p:nvSpPr>
          <p:cNvPr id="524" name="Google Shape;524;p9"/>
          <p:cNvSpPr txBox="1"/>
          <p:nvPr/>
        </p:nvSpPr>
        <p:spPr>
          <a:xfrm>
            <a:off x="838178" y="3980468"/>
            <a:ext cx="133352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Código</a:t>
            </a:r>
            <a:endParaRPr b="0" i="0" sz="1400" u="none" cap="none" strike="noStrike">
              <a:solidFill>
                <a:srgbClr val="000000"/>
              </a:solidFill>
              <a:latin typeface="Arial"/>
              <a:ea typeface="Arial"/>
              <a:cs typeface="Arial"/>
              <a:sym typeface="Arial"/>
            </a:endParaRPr>
          </a:p>
        </p:txBody>
      </p:sp>
      <p:sp>
        <p:nvSpPr>
          <p:cNvPr id="525" name="Google Shape;525;p9"/>
          <p:cNvSpPr txBox="1"/>
          <p:nvPr/>
        </p:nvSpPr>
        <p:spPr>
          <a:xfrm>
            <a:off x="1853063" y="3982778"/>
            <a:ext cx="355282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Requisitos No Funcionales</a:t>
            </a:r>
            <a:endParaRPr b="0" i="0" sz="1400" u="none" cap="none" strike="noStrike">
              <a:solidFill>
                <a:srgbClr val="000000"/>
              </a:solidFill>
              <a:latin typeface="Arial"/>
              <a:ea typeface="Arial"/>
              <a:cs typeface="Arial"/>
              <a:sym typeface="Arial"/>
            </a:endParaRPr>
          </a:p>
        </p:txBody>
      </p:sp>
      <p:sp>
        <p:nvSpPr>
          <p:cNvPr id="526" name="Google Shape;526;p9"/>
          <p:cNvSpPr txBox="1"/>
          <p:nvPr/>
        </p:nvSpPr>
        <p:spPr>
          <a:xfrm>
            <a:off x="1857363" y="4299704"/>
            <a:ext cx="390909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Nombre: Usabilidad</a:t>
            </a:r>
            <a:endParaRPr b="0" i="0" sz="1400" u="none" cap="none" strike="noStrike">
              <a:solidFill>
                <a:srgbClr val="000000"/>
              </a:solidFill>
              <a:latin typeface="Arial"/>
              <a:ea typeface="Arial"/>
              <a:cs typeface="Arial"/>
              <a:sym typeface="Arial"/>
            </a:endParaRPr>
          </a:p>
        </p:txBody>
      </p:sp>
      <p:sp>
        <p:nvSpPr>
          <p:cNvPr id="527" name="Google Shape;527;p9"/>
          <p:cNvSpPr txBox="1"/>
          <p:nvPr/>
        </p:nvSpPr>
        <p:spPr>
          <a:xfrm>
            <a:off x="1849939" y="5110702"/>
            <a:ext cx="3799541"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Descripción: El sistema deberá contar con una interfaz intuitiva, clara y fácil de usar para todos los roles de usuario.</a:t>
            </a:r>
            <a:endParaRPr/>
          </a:p>
        </p:txBody>
      </p:sp>
      <p:cxnSp>
        <p:nvCxnSpPr>
          <p:cNvPr id="528" name="Google Shape;528;p9"/>
          <p:cNvCxnSpPr/>
          <p:nvPr/>
        </p:nvCxnSpPr>
        <p:spPr>
          <a:xfrm>
            <a:off x="1857362" y="4586782"/>
            <a:ext cx="3900971" cy="0"/>
          </a:xfrm>
          <a:prstGeom prst="straightConnector1">
            <a:avLst/>
          </a:prstGeom>
          <a:noFill/>
          <a:ln cap="flat" cmpd="sng" w="9525">
            <a:solidFill>
              <a:schemeClr val="dk1"/>
            </a:solidFill>
            <a:prstDash val="solid"/>
            <a:round/>
            <a:headEnd len="sm" w="sm" type="none"/>
            <a:tailEnd len="sm" w="sm" type="none"/>
          </a:ln>
        </p:spPr>
      </p:cxnSp>
      <p:sp>
        <p:nvSpPr>
          <p:cNvPr id="529" name="Google Shape;529;p9"/>
          <p:cNvSpPr txBox="1"/>
          <p:nvPr/>
        </p:nvSpPr>
        <p:spPr>
          <a:xfrm>
            <a:off x="6568165" y="4989449"/>
            <a:ext cx="488634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RQ004</a:t>
            </a:r>
            <a:endParaRPr/>
          </a:p>
        </p:txBody>
      </p:sp>
      <p:sp>
        <p:nvSpPr>
          <p:cNvPr id="530" name="Google Shape;530;p9"/>
          <p:cNvSpPr/>
          <p:nvPr/>
        </p:nvSpPr>
        <p:spPr>
          <a:xfrm>
            <a:off x="6425290" y="3942418"/>
            <a:ext cx="5395235" cy="2537448"/>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cxnSp>
        <p:nvCxnSpPr>
          <p:cNvPr id="531" name="Google Shape;531;p9"/>
          <p:cNvCxnSpPr/>
          <p:nvPr/>
        </p:nvCxnSpPr>
        <p:spPr>
          <a:xfrm>
            <a:off x="7587351" y="3940108"/>
            <a:ext cx="0" cy="2537448"/>
          </a:xfrm>
          <a:prstGeom prst="straightConnector1">
            <a:avLst/>
          </a:prstGeom>
          <a:noFill/>
          <a:ln cap="flat" cmpd="sng" w="9525">
            <a:solidFill>
              <a:schemeClr val="dk1"/>
            </a:solidFill>
            <a:prstDash val="solid"/>
            <a:round/>
            <a:headEnd len="sm" w="sm" type="none"/>
            <a:tailEnd len="sm" w="sm" type="none"/>
          </a:ln>
        </p:spPr>
      </p:cxnSp>
      <p:cxnSp>
        <p:nvCxnSpPr>
          <p:cNvPr id="532" name="Google Shape;532;p9"/>
          <p:cNvCxnSpPr/>
          <p:nvPr/>
        </p:nvCxnSpPr>
        <p:spPr>
          <a:xfrm>
            <a:off x="6425290" y="4250195"/>
            <a:ext cx="5395235" cy="11459"/>
          </a:xfrm>
          <a:prstGeom prst="straightConnector1">
            <a:avLst/>
          </a:prstGeom>
          <a:noFill/>
          <a:ln cap="flat" cmpd="sng" w="9525">
            <a:solidFill>
              <a:schemeClr val="dk1"/>
            </a:solidFill>
            <a:prstDash val="solid"/>
            <a:round/>
            <a:headEnd len="sm" w="sm" type="none"/>
            <a:tailEnd len="sm" w="sm" type="none"/>
          </a:ln>
        </p:spPr>
      </p:cxnSp>
      <p:sp>
        <p:nvSpPr>
          <p:cNvPr id="533" name="Google Shape;533;p9"/>
          <p:cNvSpPr txBox="1"/>
          <p:nvPr/>
        </p:nvSpPr>
        <p:spPr>
          <a:xfrm>
            <a:off x="6568165" y="3937798"/>
            <a:ext cx="133352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Código</a:t>
            </a:r>
            <a:endParaRPr b="0" i="0" sz="1400" u="none" cap="none" strike="noStrike">
              <a:solidFill>
                <a:srgbClr val="000000"/>
              </a:solidFill>
              <a:latin typeface="Arial"/>
              <a:ea typeface="Arial"/>
              <a:cs typeface="Arial"/>
              <a:sym typeface="Arial"/>
            </a:endParaRPr>
          </a:p>
        </p:txBody>
      </p:sp>
      <p:sp>
        <p:nvSpPr>
          <p:cNvPr id="534" name="Google Shape;534;p9"/>
          <p:cNvSpPr txBox="1"/>
          <p:nvPr/>
        </p:nvSpPr>
        <p:spPr>
          <a:xfrm>
            <a:off x="7573525" y="3940108"/>
            <a:ext cx="355282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Requisitos No Funcionales</a:t>
            </a:r>
            <a:endParaRPr b="0" i="0" sz="1400" u="none" cap="none" strike="noStrike">
              <a:solidFill>
                <a:srgbClr val="000000"/>
              </a:solidFill>
              <a:latin typeface="Arial"/>
              <a:ea typeface="Arial"/>
              <a:cs typeface="Arial"/>
              <a:sym typeface="Arial"/>
            </a:endParaRPr>
          </a:p>
        </p:txBody>
      </p:sp>
      <p:cxnSp>
        <p:nvCxnSpPr>
          <p:cNvPr id="535" name="Google Shape;535;p9"/>
          <p:cNvCxnSpPr/>
          <p:nvPr/>
        </p:nvCxnSpPr>
        <p:spPr>
          <a:xfrm flipH="1" rot="10800000">
            <a:off x="7587350" y="4564811"/>
            <a:ext cx="4233175" cy="4620"/>
          </a:xfrm>
          <a:prstGeom prst="straightConnector1">
            <a:avLst/>
          </a:prstGeom>
          <a:noFill/>
          <a:ln cap="flat" cmpd="sng" w="9525">
            <a:solidFill>
              <a:schemeClr val="dk1"/>
            </a:solidFill>
            <a:prstDash val="solid"/>
            <a:round/>
            <a:headEnd len="sm" w="sm" type="none"/>
            <a:tailEnd len="sm" w="sm" type="none"/>
          </a:ln>
        </p:spPr>
      </p:cxnSp>
      <p:sp>
        <p:nvSpPr>
          <p:cNvPr id="536" name="Google Shape;536;p9"/>
          <p:cNvSpPr txBox="1"/>
          <p:nvPr/>
        </p:nvSpPr>
        <p:spPr>
          <a:xfrm>
            <a:off x="7578502" y="4269779"/>
            <a:ext cx="3884589" cy="31700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Nombre: Compatibilidad</a:t>
            </a:r>
            <a:endParaRPr b="0" i="0" sz="1400" u="none" cap="none" strike="noStrike">
              <a:solidFill>
                <a:srgbClr val="000000"/>
              </a:solidFill>
              <a:latin typeface="Arial"/>
              <a:ea typeface="Arial"/>
              <a:cs typeface="Arial"/>
              <a:sym typeface="Arial"/>
            </a:endParaRPr>
          </a:p>
        </p:txBody>
      </p:sp>
      <p:sp>
        <p:nvSpPr>
          <p:cNvPr id="537" name="Google Shape;537;p9"/>
          <p:cNvSpPr txBox="1"/>
          <p:nvPr/>
        </p:nvSpPr>
        <p:spPr>
          <a:xfrm>
            <a:off x="7596201" y="4872588"/>
            <a:ext cx="3799541" cy="116955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Descripción: El sistema deberá ser responsivo (RWD), funcionando correctamente en navegadores como Chrome y Firefox, así como en dispositivos móviles Android.</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10"/>
          <p:cNvSpPr txBox="1"/>
          <p:nvPr/>
        </p:nvSpPr>
        <p:spPr>
          <a:xfrm>
            <a:off x="627686" y="416689"/>
            <a:ext cx="10515600" cy="74156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FFFFFF"/>
              </a:buClr>
              <a:buSzPts val="4400"/>
              <a:buFont typeface="Arial"/>
              <a:buNone/>
            </a:pPr>
            <a:r>
              <a:rPr b="0" i="0" lang="es-ES" sz="4400" u="none" cap="none" strike="noStrike">
                <a:solidFill>
                  <a:schemeClr val="dk1"/>
                </a:solidFill>
                <a:latin typeface="Work Sans Medium"/>
                <a:ea typeface="Work Sans Medium"/>
                <a:cs typeface="Work Sans Medium"/>
                <a:sym typeface="Work Sans Medium"/>
              </a:rPr>
              <a:t>Requerimientos No Funcionales</a:t>
            </a:r>
            <a:endParaRPr b="0" i="0" sz="4400" u="none" cap="none" strike="noStrike">
              <a:solidFill>
                <a:schemeClr val="dk1"/>
              </a:solidFill>
              <a:latin typeface="Work Sans Medium"/>
              <a:ea typeface="Work Sans Medium"/>
              <a:cs typeface="Work Sans Medium"/>
              <a:sym typeface="Work Sans Medium"/>
            </a:endParaRPr>
          </a:p>
        </p:txBody>
      </p:sp>
      <p:sp>
        <p:nvSpPr>
          <p:cNvPr id="543" name="Google Shape;543;p10"/>
          <p:cNvSpPr txBox="1"/>
          <p:nvPr/>
        </p:nvSpPr>
        <p:spPr>
          <a:xfrm>
            <a:off x="838179" y="2205283"/>
            <a:ext cx="488634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RQ005</a:t>
            </a:r>
            <a:endParaRPr/>
          </a:p>
        </p:txBody>
      </p:sp>
      <p:sp>
        <p:nvSpPr>
          <p:cNvPr id="544" name="Google Shape;544;p10"/>
          <p:cNvSpPr/>
          <p:nvPr/>
        </p:nvSpPr>
        <p:spPr>
          <a:xfrm>
            <a:off x="695304" y="1158252"/>
            <a:ext cx="5029221" cy="2537448"/>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cxnSp>
        <p:nvCxnSpPr>
          <p:cNvPr id="545" name="Google Shape;545;p10"/>
          <p:cNvCxnSpPr/>
          <p:nvPr/>
        </p:nvCxnSpPr>
        <p:spPr>
          <a:xfrm>
            <a:off x="1857365" y="1155942"/>
            <a:ext cx="0" cy="2537448"/>
          </a:xfrm>
          <a:prstGeom prst="straightConnector1">
            <a:avLst/>
          </a:prstGeom>
          <a:noFill/>
          <a:ln cap="flat" cmpd="sng" w="9525">
            <a:solidFill>
              <a:schemeClr val="dk1"/>
            </a:solidFill>
            <a:prstDash val="solid"/>
            <a:round/>
            <a:headEnd len="sm" w="sm" type="none"/>
            <a:tailEnd len="sm" w="sm" type="none"/>
          </a:ln>
        </p:spPr>
      </p:cxnSp>
      <p:cxnSp>
        <p:nvCxnSpPr>
          <p:cNvPr id="546" name="Google Shape;546;p10"/>
          <p:cNvCxnSpPr/>
          <p:nvPr/>
        </p:nvCxnSpPr>
        <p:spPr>
          <a:xfrm>
            <a:off x="695304" y="1466029"/>
            <a:ext cx="5029221" cy="0"/>
          </a:xfrm>
          <a:prstGeom prst="straightConnector1">
            <a:avLst/>
          </a:prstGeom>
          <a:noFill/>
          <a:ln cap="flat" cmpd="sng" w="9525">
            <a:solidFill>
              <a:schemeClr val="dk1"/>
            </a:solidFill>
            <a:prstDash val="solid"/>
            <a:round/>
            <a:headEnd len="sm" w="sm" type="none"/>
            <a:tailEnd len="sm" w="sm" type="none"/>
          </a:ln>
        </p:spPr>
      </p:cxnSp>
      <p:sp>
        <p:nvSpPr>
          <p:cNvPr id="547" name="Google Shape;547;p10"/>
          <p:cNvSpPr txBox="1"/>
          <p:nvPr/>
        </p:nvSpPr>
        <p:spPr>
          <a:xfrm>
            <a:off x="838179" y="1153632"/>
            <a:ext cx="133352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Código</a:t>
            </a:r>
            <a:endParaRPr b="0" i="0" sz="1400" u="none" cap="none" strike="noStrike">
              <a:solidFill>
                <a:srgbClr val="000000"/>
              </a:solidFill>
              <a:latin typeface="Arial"/>
              <a:ea typeface="Arial"/>
              <a:cs typeface="Arial"/>
              <a:sym typeface="Arial"/>
            </a:endParaRPr>
          </a:p>
        </p:txBody>
      </p:sp>
      <p:sp>
        <p:nvSpPr>
          <p:cNvPr id="548" name="Google Shape;548;p10"/>
          <p:cNvSpPr txBox="1"/>
          <p:nvPr/>
        </p:nvSpPr>
        <p:spPr>
          <a:xfrm>
            <a:off x="1855797" y="1155941"/>
            <a:ext cx="355282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Requisitos No Funcionales</a:t>
            </a:r>
            <a:endParaRPr b="0" i="0" sz="1400" u="none" cap="none" strike="noStrike">
              <a:solidFill>
                <a:srgbClr val="000000"/>
              </a:solidFill>
              <a:latin typeface="Arial"/>
              <a:ea typeface="Arial"/>
              <a:cs typeface="Arial"/>
              <a:sym typeface="Arial"/>
            </a:endParaRPr>
          </a:p>
        </p:txBody>
      </p:sp>
      <p:sp>
        <p:nvSpPr>
          <p:cNvPr id="549" name="Google Shape;549;p10"/>
          <p:cNvSpPr txBox="1"/>
          <p:nvPr/>
        </p:nvSpPr>
        <p:spPr>
          <a:xfrm>
            <a:off x="1857364" y="1472868"/>
            <a:ext cx="355282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Nombre: Disponibilidad</a:t>
            </a:r>
            <a:endParaRPr b="0" i="0" sz="1400" u="none" cap="none" strike="noStrike">
              <a:solidFill>
                <a:srgbClr val="000000"/>
              </a:solidFill>
              <a:latin typeface="Arial"/>
              <a:ea typeface="Arial"/>
              <a:cs typeface="Arial"/>
              <a:sym typeface="Arial"/>
            </a:endParaRPr>
          </a:p>
        </p:txBody>
      </p:sp>
      <p:sp>
        <p:nvSpPr>
          <p:cNvPr id="550" name="Google Shape;550;p10"/>
          <p:cNvSpPr txBox="1"/>
          <p:nvPr/>
        </p:nvSpPr>
        <p:spPr>
          <a:xfrm>
            <a:off x="1849938" y="2237646"/>
            <a:ext cx="3799541"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Descripción: El sistema deberá estar disponible durante la jornada escolar sin interrupciones críticas.</a:t>
            </a:r>
            <a:endParaRPr b="0" i="0" sz="1400" u="none" cap="none" strike="noStrike">
              <a:solidFill>
                <a:srgbClr val="000000"/>
              </a:solidFill>
              <a:latin typeface="Arial"/>
              <a:ea typeface="Arial"/>
              <a:cs typeface="Arial"/>
              <a:sym typeface="Arial"/>
            </a:endParaRPr>
          </a:p>
        </p:txBody>
      </p:sp>
      <p:sp>
        <p:nvSpPr>
          <p:cNvPr id="551" name="Google Shape;551;p10"/>
          <p:cNvSpPr txBox="1"/>
          <p:nvPr/>
        </p:nvSpPr>
        <p:spPr>
          <a:xfrm>
            <a:off x="6568165" y="2200663"/>
            <a:ext cx="95251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RQ006</a:t>
            </a:r>
            <a:endParaRPr/>
          </a:p>
        </p:txBody>
      </p:sp>
      <p:sp>
        <p:nvSpPr>
          <p:cNvPr id="552" name="Google Shape;552;p10"/>
          <p:cNvSpPr/>
          <p:nvPr/>
        </p:nvSpPr>
        <p:spPr>
          <a:xfrm>
            <a:off x="6425290" y="1153632"/>
            <a:ext cx="5395235" cy="2537448"/>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cxnSp>
        <p:nvCxnSpPr>
          <p:cNvPr id="553" name="Google Shape;553;p10"/>
          <p:cNvCxnSpPr/>
          <p:nvPr/>
        </p:nvCxnSpPr>
        <p:spPr>
          <a:xfrm>
            <a:off x="7587351" y="1151322"/>
            <a:ext cx="0" cy="2537448"/>
          </a:xfrm>
          <a:prstGeom prst="straightConnector1">
            <a:avLst/>
          </a:prstGeom>
          <a:noFill/>
          <a:ln cap="flat" cmpd="sng" w="9525">
            <a:solidFill>
              <a:schemeClr val="dk1"/>
            </a:solidFill>
            <a:prstDash val="solid"/>
            <a:round/>
            <a:headEnd len="sm" w="sm" type="none"/>
            <a:tailEnd len="sm" w="sm" type="none"/>
          </a:ln>
        </p:spPr>
      </p:cxnSp>
      <p:cxnSp>
        <p:nvCxnSpPr>
          <p:cNvPr id="554" name="Google Shape;554;p10"/>
          <p:cNvCxnSpPr/>
          <p:nvPr/>
        </p:nvCxnSpPr>
        <p:spPr>
          <a:xfrm>
            <a:off x="6425290" y="1461409"/>
            <a:ext cx="5395235" cy="11459"/>
          </a:xfrm>
          <a:prstGeom prst="straightConnector1">
            <a:avLst/>
          </a:prstGeom>
          <a:noFill/>
          <a:ln cap="flat" cmpd="sng" w="9525">
            <a:solidFill>
              <a:schemeClr val="dk1"/>
            </a:solidFill>
            <a:prstDash val="solid"/>
            <a:round/>
            <a:headEnd len="sm" w="sm" type="none"/>
            <a:tailEnd len="sm" w="sm" type="none"/>
          </a:ln>
        </p:spPr>
      </p:cxnSp>
      <p:sp>
        <p:nvSpPr>
          <p:cNvPr id="555" name="Google Shape;555;p10"/>
          <p:cNvSpPr txBox="1"/>
          <p:nvPr/>
        </p:nvSpPr>
        <p:spPr>
          <a:xfrm>
            <a:off x="6568165" y="1149012"/>
            <a:ext cx="133352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Código</a:t>
            </a:r>
            <a:endParaRPr b="0" i="0" sz="1400" u="none" cap="none" strike="noStrike">
              <a:solidFill>
                <a:srgbClr val="000000"/>
              </a:solidFill>
              <a:latin typeface="Arial"/>
              <a:ea typeface="Arial"/>
              <a:cs typeface="Arial"/>
              <a:sym typeface="Arial"/>
            </a:endParaRPr>
          </a:p>
        </p:txBody>
      </p:sp>
      <p:sp>
        <p:nvSpPr>
          <p:cNvPr id="556" name="Google Shape;556;p10"/>
          <p:cNvSpPr txBox="1"/>
          <p:nvPr/>
        </p:nvSpPr>
        <p:spPr>
          <a:xfrm>
            <a:off x="7592575" y="1151322"/>
            <a:ext cx="355282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Requisitos No Funcionales</a:t>
            </a:r>
            <a:endParaRPr b="0" i="0" sz="1400" u="none" cap="none" strike="noStrike">
              <a:solidFill>
                <a:srgbClr val="000000"/>
              </a:solidFill>
              <a:latin typeface="Arial"/>
              <a:ea typeface="Arial"/>
              <a:cs typeface="Arial"/>
              <a:sym typeface="Arial"/>
            </a:endParaRPr>
          </a:p>
        </p:txBody>
      </p:sp>
      <p:sp>
        <p:nvSpPr>
          <p:cNvPr id="557" name="Google Shape;557;p10"/>
          <p:cNvSpPr txBox="1"/>
          <p:nvPr/>
        </p:nvSpPr>
        <p:spPr>
          <a:xfrm>
            <a:off x="7592790" y="1493613"/>
            <a:ext cx="484277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Nombre: Mantenibilidad</a:t>
            </a:r>
            <a:endParaRPr b="0" i="0" sz="1400" u="none" cap="none" strike="noStrike">
              <a:solidFill>
                <a:srgbClr val="000000"/>
              </a:solidFill>
              <a:latin typeface="Arial"/>
              <a:ea typeface="Arial"/>
              <a:cs typeface="Arial"/>
              <a:sym typeface="Arial"/>
            </a:endParaRPr>
          </a:p>
        </p:txBody>
      </p:sp>
      <p:sp>
        <p:nvSpPr>
          <p:cNvPr id="558" name="Google Shape;558;p10"/>
          <p:cNvSpPr txBox="1"/>
          <p:nvPr/>
        </p:nvSpPr>
        <p:spPr>
          <a:xfrm>
            <a:off x="7663551" y="2237646"/>
            <a:ext cx="3799541"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Descripción: El sistema deberá permitir actualizaciones y mejoras sin afectar su funcionamiento principal.</a:t>
            </a:r>
            <a:endParaRPr b="0" i="0" sz="1400" u="none" cap="none" strike="noStrike">
              <a:solidFill>
                <a:srgbClr val="000000"/>
              </a:solidFill>
              <a:latin typeface="Arial"/>
              <a:ea typeface="Arial"/>
              <a:cs typeface="Arial"/>
              <a:sym typeface="Arial"/>
            </a:endParaRPr>
          </a:p>
        </p:txBody>
      </p:sp>
      <p:cxnSp>
        <p:nvCxnSpPr>
          <p:cNvPr id="559" name="Google Shape;559;p10"/>
          <p:cNvCxnSpPr/>
          <p:nvPr/>
        </p:nvCxnSpPr>
        <p:spPr>
          <a:xfrm>
            <a:off x="1857363" y="1759946"/>
            <a:ext cx="3900971" cy="0"/>
          </a:xfrm>
          <a:prstGeom prst="straightConnector1">
            <a:avLst/>
          </a:prstGeom>
          <a:noFill/>
          <a:ln cap="flat" cmpd="sng" w="9525">
            <a:solidFill>
              <a:schemeClr val="dk1"/>
            </a:solidFill>
            <a:prstDash val="solid"/>
            <a:round/>
            <a:headEnd len="sm" w="sm" type="none"/>
            <a:tailEnd len="sm" w="sm" type="none"/>
          </a:ln>
        </p:spPr>
      </p:cxnSp>
      <p:cxnSp>
        <p:nvCxnSpPr>
          <p:cNvPr id="560" name="Google Shape;560;p10"/>
          <p:cNvCxnSpPr/>
          <p:nvPr/>
        </p:nvCxnSpPr>
        <p:spPr>
          <a:xfrm flipH="1" rot="10800000">
            <a:off x="7587350" y="1776025"/>
            <a:ext cx="4233175" cy="25365"/>
          </a:xfrm>
          <a:prstGeom prst="straightConnector1">
            <a:avLst/>
          </a:prstGeom>
          <a:noFill/>
          <a:ln cap="flat" cmpd="sng" w="9525">
            <a:solidFill>
              <a:schemeClr val="dk1"/>
            </a:solidFill>
            <a:prstDash val="solid"/>
            <a:round/>
            <a:headEnd len="sm" w="sm" type="none"/>
            <a:tailEnd len="sm" w="sm" type="none"/>
          </a:ln>
        </p:spPr>
      </p:cxnSp>
      <p:sp>
        <p:nvSpPr>
          <p:cNvPr id="561" name="Google Shape;561;p10"/>
          <p:cNvSpPr txBox="1"/>
          <p:nvPr/>
        </p:nvSpPr>
        <p:spPr>
          <a:xfrm>
            <a:off x="3469210" y="5018213"/>
            <a:ext cx="488634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RQ007</a:t>
            </a:r>
            <a:endParaRPr/>
          </a:p>
        </p:txBody>
      </p:sp>
      <p:sp>
        <p:nvSpPr>
          <p:cNvPr id="562" name="Google Shape;562;p10"/>
          <p:cNvSpPr/>
          <p:nvPr/>
        </p:nvSpPr>
        <p:spPr>
          <a:xfrm>
            <a:off x="3326335" y="3971182"/>
            <a:ext cx="5029221" cy="2537448"/>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cxnSp>
        <p:nvCxnSpPr>
          <p:cNvPr id="563" name="Google Shape;563;p10"/>
          <p:cNvCxnSpPr/>
          <p:nvPr/>
        </p:nvCxnSpPr>
        <p:spPr>
          <a:xfrm>
            <a:off x="4488396" y="3968872"/>
            <a:ext cx="0" cy="2537448"/>
          </a:xfrm>
          <a:prstGeom prst="straightConnector1">
            <a:avLst/>
          </a:prstGeom>
          <a:noFill/>
          <a:ln cap="flat" cmpd="sng" w="9525">
            <a:solidFill>
              <a:schemeClr val="dk1"/>
            </a:solidFill>
            <a:prstDash val="solid"/>
            <a:round/>
            <a:headEnd len="sm" w="sm" type="none"/>
            <a:tailEnd len="sm" w="sm" type="none"/>
          </a:ln>
        </p:spPr>
      </p:cxnSp>
      <p:cxnSp>
        <p:nvCxnSpPr>
          <p:cNvPr id="564" name="Google Shape;564;p10"/>
          <p:cNvCxnSpPr/>
          <p:nvPr/>
        </p:nvCxnSpPr>
        <p:spPr>
          <a:xfrm>
            <a:off x="3326335" y="4278959"/>
            <a:ext cx="5029221" cy="0"/>
          </a:xfrm>
          <a:prstGeom prst="straightConnector1">
            <a:avLst/>
          </a:prstGeom>
          <a:noFill/>
          <a:ln cap="flat" cmpd="sng" w="9525">
            <a:solidFill>
              <a:schemeClr val="dk1"/>
            </a:solidFill>
            <a:prstDash val="solid"/>
            <a:round/>
            <a:headEnd len="sm" w="sm" type="none"/>
            <a:tailEnd len="sm" w="sm" type="none"/>
          </a:ln>
        </p:spPr>
      </p:cxnSp>
      <p:sp>
        <p:nvSpPr>
          <p:cNvPr id="565" name="Google Shape;565;p10"/>
          <p:cNvSpPr txBox="1"/>
          <p:nvPr/>
        </p:nvSpPr>
        <p:spPr>
          <a:xfrm>
            <a:off x="3469210" y="3966562"/>
            <a:ext cx="133352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Código</a:t>
            </a:r>
            <a:endParaRPr b="0" i="0" sz="1400" u="none" cap="none" strike="noStrike">
              <a:solidFill>
                <a:srgbClr val="000000"/>
              </a:solidFill>
              <a:latin typeface="Arial"/>
              <a:ea typeface="Arial"/>
              <a:cs typeface="Arial"/>
              <a:sym typeface="Arial"/>
            </a:endParaRPr>
          </a:p>
        </p:txBody>
      </p:sp>
      <p:sp>
        <p:nvSpPr>
          <p:cNvPr id="566" name="Google Shape;566;p10"/>
          <p:cNvSpPr txBox="1"/>
          <p:nvPr/>
        </p:nvSpPr>
        <p:spPr>
          <a:xfrm>
            <a:off x="4484095" y="3968872"/>
            <a:ext cx="355282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Requisitos No Funcionales</a:t>
            </a:r>
            <a:endParaRPr b="0" i="0" sz="1400" u="none" cap="none" strike="noStrike">
              <a:solidFill>
                <a:srgbClr val="000000"/>
              </a:solidFill>
              <a:latin typeface="Arial"/>
              <a:ea typeface="Arial"/>
              <a:cs typeface="Arial"/>
              <a:sym typeface="Arial"/>
            </a:endParaRPr>
          </a:p>
        </p:txBody>
      </p:sp>
      <p:sp>
        <p:nvSpPr>
          <p:cNvPr id="567" name="Google Shape;567;p10"/>
          <p:cNvSpPr txBox="1"/>
          <p:nvPr/>
        </p:nvSpPr>
        <p:spPr>
          <a:xfrm>
            <a:off x="4488395" y="4285798"/>
            <a:ext cx="390909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Nombre: Escalabilidad</a:t>
            </a:r>
            <a:endParaRPr b="0" i="0" sz="1400" u="none" cap="none" strike="noStrike">
              <a:solidFill>
                <a:srgbClr val="000000"/>
              </a:solidFill>
              <a:latin typeface="Arial"/>
              <a:ea typeface="Arial"/>
              <a:cs typeface="Arial"/>
              <a:sym typeface="Arial"/>
            </a:endParaRPr>
          </a:p>
        </p:txBody>
      </p:sp>
      <p:sp>
        <p:nvSpPr>
          <p:cNvPr id="568" name="Google Shape;568;p10"/>
          <p:cNvSpPr txBox="1"/>
          <p:nvPr/>
        </p:nvSpPr>
        <p:spPr>
          <a:xfrm>
            <a:off x="4480971" y="5096796"/>
            <a:ext cx="3799541"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Descripción: El sistema deberá soportar el crecimiento de usuarios y datos sin afectar el rendimiento.</a:t>
            </a:r>
            <a:endParaRPr b="0" i="0" sz="1400" u="none" cap="none" strike="noStrike">
              <a:solidFill>
                <a:srgbClr val="000000"/>
              </a:solidFill>
              <a:latin typeface="Arial"/>
              <a:ea typeface="Arial"/>
              <a:cs typeface="Arial"/>
              <a:sym typeface="Arial"/>
            </a:endParaRPr>
          </a:p>
        </p:txBody>
      </p:sp>
      <p:cxnSp>
        <p:nvCxnSpPr>
          <p:cNvPr id="569" name="Google Shape;569;p10"/>
          <p:cNvCxnSpPr/>
          <p:nvPr/>
        </p:nvCxnSpPr>
        <p:spPr>
          <a:xfrm>
            <a:off x="4488394" y="4572876"/>
            <a:ext cx="3900971" cy="0"/>
          </a:xfrm>
          <a:prstGeom prst="straightConnector1">
            <a:avLst/>
          </a:prstGeom>
          <a:noFill/>
          <a:ln cap="flat" cmpd="sng" w="9525">
            <a:solidFill>
              <a:schemeClr val="dk1"/>
            </a:solidFill>
            <a:prstDash val="solid"/>
            <a:round/>
            <a:headEnd len="sm" w="sm" type="none"/>
            <a:tailEnd len="sm" w="sm" type="non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73" name="Shape 573"/>
        <p:cNvGrpSpPr/>
        <p:nvPr/>
      </p:nvGrpSpPr>
      <p:grpSpPr>
        <a:xfrm>
          <a:off x="0" y="0"/>
          <a:ext cx="0" cy="0"/>
          <a:chOff x="0" y="0"/>
          <a:chExt cx="0" cy="0"/>
        </a:xfrm>
      </p:grpSpPr>
      <p:sp>
        <p:nvSpPr>
          <p:cNvPr id="574" name="Google Shape;574;p102"/>
          <p:cNvSpPr txBox="1"/>
          <p:nvPr/>
        </p:nvSpPr>
        <p:spPr>
          <a:xfrm>
            <a:off x="456236" y="457723"/>
            <a:ext cx="10611814" cy="67659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C0C0C"/>
              </a:buClr>
              <a:buSzPts val="4400"/>
              <a:buFont typeface="Arial"/>
              <a:buNone/>
            </a:pPr>
            <a:r>
              <a:rPr b="0" i="0" lang="es-ES" sz="4400" u="none" cap="none" strike="noStrike">
                <a:solidFill>
                  <a:srgbClr val="0C0C0C"/>
                </a:solidFill>
                <a:latin typeface="Work Sans Medium"/>
                <a:ea typeface="Work Sans Medium"/>
                <a:cs typeface="Work Sans Medium"/>
                <a:sym typeface="Work Sans Medium"/>
              </a:rPr>
              <a:t>Herramientas y/o software utilizado</a:t>
            </a:r>
            <a:endParaRPr b="0" i="0" sz="1400" u="none" cap="none" strike="noStrike">
              <a:solidFill>
                <a:srgbClr val="000000"/>
              </a:solidFill>
              <a:latin typeface="Arial"/>
              <a:ea typeface="Arial"/>
              <a:cs typeface="Arial"/>
              <a:sym typeface="Arial"/>
            </a:endParaRPr>
          </a:p>
        </p:txBody>
      </p:sp>
      <p:sp>
        <p:nvSpPr>
          <p:cNvPr id="575" name="Google Shape;575;p102"/>
          <p:cNvSpPr/>
          <p:nvPr/>
        </p:nvSpPr>
        <p:spPr>
          <a:xfrm>
            <a:off x="744675" y="1536174"/>
            <a:ext cx="9762299" cy="341627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1400" u="none" cap="none" strike="noStrike">
                <a:solidFill>
                  <a:srgbClr val="000000"/>
                </a:solidFill>
                <a:latin typeface="Arial"/>
                <a:ea typeface="Arial"/>
                <a:cs typeface="Arial"/>
                <a:sym typeface="Arial"/>
              </a:rPr>
              <a:t>Sistema Operativo: </a:t>
            </a:r>
            <a:r>
              <a:rPr b="0" i="0" lang="es-ES" sz="1400" u="none" cap="none" strike="noStrike">
                <a:solidFill>
                  <a:srgbClr val="000000"/>
                </a:solidFill>
                <a:latin typeface="Arial"/>
                <a:ea typeface="Arial"/>
                <a:cs typeface="Arial"/>
                <a:sym typeface="Arial"/>
              </a:rPr>
              <a:t>Windows 10, compatible con Windows 11 y Linux para servidores.</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 </a:t>
            </a:r>
            <a:endParaRPr/>
          </a:p>
          <a:p>
            <a:pPr indent="0" lvl="1"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s-ES" sz="1400" u="none" cap="none" strike="noStrike">
                <a:solidFill>
                  <a:srgbClr val="000000"/>
                </a:solidFill>
                <a:latin typeface="Arial"/>
                <a:ea typeface="Arial"/>
                <a:cs typeface="Arial"/>
                <a:sym typeface="Arial"/>
              </a:rPr>
              <a:t>Servidor Web: </a:t>
            </a:r>
            <a:r>
              <a:rPr b="0" i="0" lang="es-ES" sz="1400" u="none" cap="none" strike="noStrike">
                <a:solidFill>
                  <a:srgbClr val="000000"/>
                </a:solidFill>
                <a:latin typeface="Arial"/>
                <a:ea typeface="Arial"/>
                <a:cs typeface="Arial"/>
                <a:sym typeface="Arial"/>
              </a:rPr>
              <a:t>Servidor local para realizar pruebas y despliegue.</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 </a:t>
            </a:r>
            <a:endParaRPr/>
          </a:p>
          <a:p>
            <a:pPr indent="0" lvl="1"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s-ES" sz="1400" u="none" cap="none" strike="noStrike">
                <a:solidFill>
                  <a:srgbClr val="000000"/>
                </a:solidFill>
                <a:latin typeface="Arial"/>
                <a:ea typeface="Arial"/>
                <a:cs typeface="Arial"/>
                <a:sym typeface="Arial"/>
              </a:rPr>
              <a:t>Gestor de Base de Datos: </a:t>
            </a:r>
            <a:r>
              <a:rPr b="0" i="0" lang="es-ES" sz="1400" u="none" cap="none" strike="noStrike">
                <a:solidFill>
                  <a:srgbClr val="000000"/>
                </a:solidFill>
                <a:latin typeface="Arial"/>
                <a:ea typeface="Arial"/>
                <a:cs typeface="Arial"/>
                <a:sym typeface="Arial"/>
              </a:rPr>
              <a:t>MySQL</a:t>
            </a:r>
            <a:endParaRPr b="1"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 </a:t>
            </a:r>
            <a:endParaRPr/>
          </a:p>
          <a:p>
            <a:pPr indent="0" lvl="1"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s-ES" sz="1400" u="none" cap="none" strike="noStrike">
                <a:solidFill>
                  <a:srgbClr val="000000"/>
                </a:solidFill>
                <a:latin typeface="Arial"/>
                <a:ea typeface="Arial"/>
                <a:cs typeface="Arial"/>
                <a:sym typeface="Arial"/>
              </a:rPr>
              <a:t>Entorno de Desarrollo: (Visual – Xampp y Python)</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s-ES" sz="1400" u="none" cap="none" strike="noStrike">
                <a:solidFill>
                  <a:srgbClr val="000000"/>
                </a:solidFill>
                <a:latin typeface="Arial"/>
                <a:ea typeface="Arial"/>
                <a:cs typeface="Arial"/>
                <a:sym typeface="Arial"/>
              </a:rPr>
              <a:t>Lenguajes de Programación – Back End y Front End: </a:t>
            </a:r>
            <a:r>
              <a:rPr b="0" i="0" lang="es-ES" sz="1400" u="none" cap="none" strike="noStrike">
                <a:solidFill>
                  <a:srgbClr val="000000"/>
                </a:solidFill>
                <a:latin typeface="Arial"/>
                <a:ea typeface="Arial"/>
                <a:cs typeface="Arial"/>
                <a:sym typeface="Arial"/>
              </a:rPr>
              <a:t>HTML, JavaScript y Python</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s-ES" sz="1400" u="none" cap="none" strike="noStrike">
                <a:solidFill>
                  <a:srgbClr val="000000"/>
                </a:solidFill>
                <a:latin typeface="Arial"/>
                <a:ea typeface="Arial"/>
                <a:cs typeface="Arial"/>
                <a:sym typeface="Arial"/>
              </a:rPr>
              <a:t>Otros: </a:t>
            </a:r>
            <a:r>
              <a:rPr b="0" i="0" lang="es-ES" sz="1400" u="none" cap="none" strike="noStrike">
                <a:solidFill>
                  <a:srgbClr val="000000"/>
                </a:solidFill>
                <a:latin typeface="Arial"/>
                <a:ea typeface="Arial"/>
                <a:cs typeface="Arial"/>
                <a:sym typeface="Arial"/>
              </a:rPr>
              <a:t>Microsoft Word, Microsoft Excel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Work Sans Light"/>
              <a:ea typeface="Work Sans Light"/>
              <a:cs typeface="Work Sans Light"/>
              <a:sym typeface="Work Sans Ligh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79" name="Shape 579"/>
        <p:cNvGrpSpPr/>
        <p:nvPr/>
      </p:nvGrpSpPr>
      <p:grpSpPr>
        <a:xfrm>
          <a:off x="0" y="0"/>
          <a:ext cx="0" cy="0"/>
          <a:chOff x="0" y="0"/>
          <a:chExt cx="0" cy="0"/>
        </a:xfrm>
      </p:grpSpPr>
      <p:sp>
        <p:nvSpPr>
          <p:cNvPr id="580" name="Google Shape;580;p105"/>
          <p:cNvSpPr txBox="1"/>
          <p:nvPr/>
        </p:nvSpPr>
        <p:spPr>
          <a:xfrm>
            <a:off x="456236" y="416689"/>
            <a:ext cx="10515600" cy="74156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FFFFFF"/>
              </a:buClr>
              <a:buSzPts val="4400"/>
              <a:buFont typeface="Arial"/>
              <a:buNone/>
            </a:pPr>
            <a:r>
              <a:rPr b="0" i="0" lang="es-ES" sz="4400" u="none" cap="none" strike="noStrike">
                <a:solidFill>
                  <a:srgbClr val="FFFFFF"/>
                </a:solidFill>
                <a:latin typeface="Work Sans Medium"/>
                <a:ea typeface="Work Sans Medium"/>
                <a:cs typeface="Work Sans Medium"/>
                <a:sym typeface="Work Sans Medium"/>
              </a:rPr>
              <a:t>Funcionalidades</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4400"/>
              <a:buFont typeface="Arial"/>
              <a:buNone/>
            </a:pPr>
            <a:r>
              <a:t/>
            </a:r>
            <a:endParaRPr b="0" i="0" sz="4400" u="none" cap="none" strike="noStrike">
              <a:solidFill>
                <a:srgbClr val="FFFFFF"/>
              </a:solidFill>
              <a:latin typeface="Work Sans Medium"/>
              <a:ea typeface="Work Sans Medium"/>
              <a:cs typeface="Work Sans Medium"/>
              <a:sym typeface="Work Sans Medium"/>
            </a:endParaRPr>
          </a:p>
        </p:txBody>
      </p:sp>
      <p:sp>
        <p:nvSpPr>
          <p:cNvPr id="581" name="Google Shape;581;p105"/>
          <p:cNvSpPr txBox="1"/>
          <p:nvPr/>
        </p:nvSpPr>
        <p:spPr>
          <a:xfrm>
            <a:off x="789611" y="1438275"/>
            <a:ext cx="8610600" cy="41549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2400" u="none" cap="none" strike="noStrike">
                <a:solidFill>
                  <a:srgbClr val="000000"/>
                </a:solidFill>
                <a:latin typeface="Arial"/>
                <a:ea typeface="Arial"/>
                <a:cs typeface="Arial"/>
                <a:sym typeface="Arial"/>
              </a:rPr>
              <a:t>La aplicación permitirá:</a:t>
            </a:r>
            <a:endParaRPr/>
          </a:p>
          <a:p>
            <a:pPr indent="-342900" lvl="0" marL="342900" marR="0" rtl="0" algn="l">
              <a:lnSpc>
                <a:spcPct val="100000"/>
              </a:lnSpc>
              <a:spcBef>
                <a:spcPts val="0"/>
              </a:spcBef>
              <a:spcAft>
                <a:spcPts val="0"/>
              </a:spcAft>
              <a:buClr>
                <a:srgbClr val="000000"/>
              </a:buClr>
              <a:buSzPts val="2400"/>
              <a:buFont typeface="Arial"/>
              <a:buChar char="•"/>
            </a:pPr>
            <a:r>
              <a:rPr b="0" i="0" lang="es-ES" sz="2400" u="none" cap="none" strike="noStrike">
                <a:solidFill>
                  <a:srgbClr val="000000"/>
                </a:solidFill>
                <a:latin typeface="Arial"/>
                <a:ea typeface="Arial"/>
                <a:cs typeface="Arial"/>
                <a:sym typeface="Arial"/>
              </a:rPr>
              <a:t>Registrar y gestionar usuarios. </a:t>
            </a:r>
            <a:endParaRPr/>
          </a:p>
          <a:p>
            <a:pPr indent="-342900" lvl="0" marL="342900" marR="0" rtl="0" algn="l">
              <a:lnSpc>
                <a:spcPct val="100000"/>
              </a:lnSpc>
              <a:spcBef>
                <a:spcPts val="0"/>
              </a:spcBef>
              <a:spcAft>
                <a:spcPts val="0"/>
              </a:spcAft>
              <a:buClr>
                <a:srgbClr val="000000"/>
              </a:buClr>
              <a:buSzPts val="2400"/>
              <a:buFont typeface="Arial"/>
              <a:buChar char="•"/>
            </a:pPr>
            <a:r>
              <a:rPr b="0" i="0" lang="es-ES" sz="2400" u="none" cap="none" strike="noStrike">
                <a:solidFill>
                  <a:srgbClr val="000000"/>
                </a:solidFill>
                <a:latin typeface="Arial"/>
                <a:ea typeface="Arial"/>
                <a:cs typeface="Arial"/>
                <a:sym typeface="Arial"/>
              </a:rPr>
              <a:t>Gestionar roles y permisos. </a:t>
            </a:r>
            <a:endParaRPr/>
          </a:p>
          <a:p>
            <a:pPr indent="-342900" lvl="0" marL="342900" marR="0" rtl="0" algn="l">
              <a:lnSpc>
                <a:spcPct val="100000"/>
              </a:lnSpc>
              <a:spcBef>
                <a:spcPts val="0"/>
              </a:spcBef>
              <a:spcAft>
                <a:spcPts val="0"/>
              </a:spcAft>
              <a:buClr>
                <a:srgbClr val="000000"/>
              </a:buClr>
              <a:buSzPts val="2400"/>
              <a:buFont typeface="Arial"/>
              <a:buChar char="•"/>
            </a:pPr>
            <a:r>
              <a:rPr b="0" i="0" lang="es-ES" sz="2400" u="none" cap="none" strike="noStrike">
                <a:solidFill>
                  <a:srgbClr val="000000"/>
                </a:solidFill>
                <a:latin typeface="Arial"/>
                <a:ea typeface="Arial"/>
                <a:cs typeface="Arial"/>
                <a:sym typeface="Arial"/>
              </a:rPr>
              <a:t>Registrar alimentos. </a:t>
            </a:r>
            <a:endParaRPr/>
          </a:p>
          <a:p>
            <a:pPr indent="-342900" lvl="0" marL="342900" marR="0" rtl="0" algn="l">
              <a:lnSpc>
                <a:spcPct val="100000"/>
              </a:lnSpc>
              <a:spcBef>
                <a:spcPts val="0"/>
              </a:spcBef>
              <a:spcAft>
                <a:spcPts val="0"/>
              </a:spcAft>
              <a:buClr>
                <a:srgbClr val="000000"/>
              </a:buClr>
              <a:buSzPts val="2400"/>
              <a:buFont typeface="Arial"/>
              <a:buChar char="•"/>
            </a:pPr>
            <a:r>
              <a:rPr b="0" i="0" lang="es-ES" sz="2400" u="none" cap="none" strike="noStrike">
                <a:solidFill>
                  <a:srgbClr val="000000"/>
                </a:solidFill>
                <a:latin typeface="Arial"/>
                <a:ea typeface="Arial"/>
                <a:cs typeface="Arial"/>
                <a:sym typeface="Arial"/>
              </a:rPr>
              <a:t>Consultar información nutricional. </a:t>
            </a:r>
            <a:endParaRPr/>
          </a:p>
          <a:p>
            <a:pPr indent="-342900" lvl="0" marL="342900" marR="0" rtl="0" algn="l">
              <a:lnSpc>
                <a:spcPct val="100000"/>
              </a:lnSpc>
              <a:spcBef>
                <a:spcPts val="0"/>
              </a:spcBef>
              <a:spcAft>
                <a:spcPts val="0"/>
              </a:spcAft>
              <a:buClr>
                <a:srgbClr val="000000"/>
              </a:buClr>
              <a:buSzPts val="2400"/>
              <a:buFont typeface="Arial"/>
              <a:buChar char="•"/>
            </a:pPr>
            <a:r>
              <a:rPr b="0" i="0" lang="es-ES" sz="2400" u="none" cap="none" strike="noStrike">
                <a:solidFill>
                  <a:srgbClr val="000000"/>
                </a:solidFill>
                <a:latin typeface="Arial"/>
                <a:ea typeface="Arial"/>
                <a:cs typeface="Arial"/>
                <a:sym typeface="Arial"/>
              </a:rPr>
              <a:t>Crear y administrar menús escolares. </a:t>
            </a:r>
            <a:endParaRPr/>
          </a:p>
          <a:p>
            <a:pPr indent="-342900" lvl="0" marL="342900" marR="0" rtl="0" algn="l">
              <a:lnSpc>
                <a:spcPct val="100000"/>
              </a:lnSpc>
              <a:spcBef>
                <a:spcPts val="0"/>
              </a:spcBef>
              <a:spcAft>
                <a:spcPts val="0"/>
              </a:spcAft>
              <a:buClr>
                <a:srgbClr val="000000"/>
              </a:buClr>
              <a:buSzPts val="2400"/>
              <a:buFont typeface="Arial"/>
              <a:buChar char="•"/>
            </a:pPr>
            <a:r>
              <a:rPr b="0" i="0" lang="es-ES" sz="2400" u="none" cap="none" strike="noStrike">
                <a:solidFill>
                  <a:srgbClr val="000000"/>
                </a:solidFill>
                <a:latin typeface="Arial"/>
                <a:ea typeface="Arial"/>
                <a:cs typeface="Arial"/>
                <a:sym typeface="Arial"/>
              </a:rPr>
              <a:t>Asociar alimentos a los menús. </a:t>
            </a:r>
            <a:endParaRPr/>
          </a:p>
          <a:p>
            <a:pPr indent="-342900" lvl="0" marL="342900" marR="0" rtl="0" algn="l">
              <a:lnSpc>
                <a:spcPct val="100000"/>
              </a:lnSpc>
              <a:spcBef>
                <a:spcPts val="0"/>
              </a:spcBef>
              <a:spcAft>
                <a:spcPts val="0"/>
              </a:spcAft>
              <a:buClr>
                <a:srgbClr val="000000"/>
              </a:buClr>
              <a:buSzPts val="2400"/>
              <a:buFont typeface="Arial"/>
              <a:buChar char="•"/>
            </a:pPr>
            <a:r>
              <a:rPr b="0" i="0" lang="es-ES" sz="2400" u="none" cap="none" strike="noStrike">
                <a:solidFill>
                  <a:srgbClr val="000000"/>
                </a:solidFill>
                <a:latin typeface="Arial"/>
                <a:ea typeface="Arial"/>
                <a:cs typeface="Arial"/>
                <a:sym typeface="Arial"/>
              </a:rPr>
              <a:t>Registrar el consumo de alimentos. </a:t>
            </a:r>
            <a:endParaRPr/>
          </a:p>
          <a:p>
            <a:pPr indent="-342900" lvl="0" marL="342900" marR="0" rtl="0" algn="l">
              <a:lnSpc>
                <a:spcPct val="100000"/>
              </a:lnSpc>
              <a:spcBef>
                <a:spcPts val="0"/>
              </a:spcBef>
              <a:spcAft>
                <a:spcPts val="0"/>
              </a:spcAft>
              <a:buClr>
                <a:srgbClr val="000000"/>
              </a:buClr>
              <a:buSzPts val="2400"/>
              <a:buFont typeface="Arial"/>
              <a:buChar char="•"/>
            </a:pPr>
            <a:r>
              <a:rPr b="0" i="0" lang="es-ES" sz="2400" u="none" cap="none" strike="noStrike">
                <a:solidFill>
                  <a:srgbClr val="000000"/>
                </a:solidFill>
                <a:latin typeface="Arial"/>
                <a:ea typeface="Arial"/>
                <a:cs typeface="Arial"/>
                <a:sym typeface="Arial"/>
              </a:rPr>
              <a:t>Generar reportes. </a:t>
            </a:r>
            <a:endParaRPr/>
          </a:p>
          <a:p>
            <a:pPr indent="-342900" lvl="0" marL="342900" marR="0" rtl="0" algn="l">
              <a:lnSpc>
                <a:spcPct val="100000"/>
              </a:lnSpc>
              <a:spcBef>
                <a:spcPts val="0"/>
              </a:spcBef>
              <a:spcAft>
                <a:spcPts val="0"/>
              </a:spcAft>
              <a:buClr>
                <a:srgbClr val="000000"/>
              </a:buClr>
              <a:buSzPts val="2400"/>
              <a:buFont typeface="Arial"/>
              <a:buChar char="•"/>
            </a:pPr>
            <a:r>
              <a:rPr b="0" i="0" lang="es-ES" sz="2400" u="none" cap="none" strike="noStrike">
                <a:solidFill>
                  <a:srgbClr val="000000"/>
                </a:solidFill>
                <a:latin typeface="Arial"/>
                <a:ea typeface="Arial"/>
                <a:cs typeface="Arial"/>
                <a:sym typeface="Arial"/>
              </a:rPr>
              <a:t>Buscar alimentos y menús. </a:t>
            </a:r>
            <a:endParaRPr/>
          </a:p>
          <a:p>
            <a:pPr indent="-342900" lvl="0" marL="342900" marR="0" rtl="0" algn="l">
              <a:lnSpc>
                <a:spcPct val="100000"/>
              </a:lnSpc>
              <a:spcBef>
                <a:spcPts val="0"/>
              </a:spcBef>
              <a:spcAft>
                <a:spcPts val="0"/>
              </a:spcAft>
              <a:buClr>
                <a:srgbClr val="000000"/>
              </a:buClr>
              <a:buSzPts val="2400"/>
              <a:buFont typeface="Arial"/>
              <a:buChar char="•"/>
            </a:pPr>
            <a:r>
              <a:rPr b="0" i="0" lang="es-ES" sz="2400" u="none" cap="none" strike="noStrike">
                <a:solidFill>
                  <a:srgbClr val="000000"/>
                </a:solidFill>
                <a:latin typeface="Arial"/>
                <a:ea typeface="Arial"/>
                <a:cs typeface="Arial"/>
                <a:sym typeface="Arial"/>
              </a:rPr>
              <a:t>Generar alertas nutricionales.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85" name="Shape 585"/>
        <p:cNvGrpSpPr/>
        <p:nvPr/>
      </p:nvGrpSpPr>
      <p:grpSpPr>
        <a:xfrm>
          <a:off x="0" y="0"/>
          <a:ext cx="0" cy="0"/>
          <a:chOff x="0" y="0"/>
          <a:chExt cx="0" cy="0"/>
        </a:xfrm>
      </p:grpSpPr>
      <p:sp>
        <p:nvSpPr>
          <p:cNvPr id="586" name="Google Shape;586;p106"/>
          <p:cNvSpPr txBox="1"/>
          <p:nvPr/>
        </p:nvSpPr>
        <p:spPr>
          <a:xfrm>
            <a:off x="456236" y="457723"/>
            <a:ext cx="10611814" cy="67659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C0C0C"/>
              </a:buClr>
              <a:buSzPts val="4400"/>
              <a:buFont typeface="Arial"/>
              <a:buNone/>
            </a:pPr>
            <a:r>
              <a:rPr b="0" i="0" lang="es-ES" sz="4400" u="none" cap="none" strike="noStrike">
                <a:solidFill>
                  <a:srgbClr val="0C0C0C"/>
                </a:solidFill>
                <a:latin typeface="Work Sans Medium"/>
                <a:ea typeface="Work Sans Medium"/>
                <a:cs typeface="Work Sans Medium"/>
                <a:sym typeface="Work Sans Medium"/>
              </a:rPr>
              <a:t>Funcionalidades por módulo</a:t>
            </a:r>
            <a:endParaRPr b="0" i="0" sz="1400" u="none" cap="none" strike="noStrike">
              <a:solidFill>
                <a:srgbClr val="000000"/>
              </a:solidFill>
              <a:latin typeface="Arial"/>
              <a:ea typeface="Arial"/>
              <a:cs typeface="Arial"/>
              <a:sym typeface="Arial"/>
            </a:endParaRPr>
          </a:p>
        </p:txBody>
      </p:sp>
      <p:sp>
        <p:nvSpPr>
          <p:cNvPr id="587" name="Google Shape;587;p106"/>
          <p:cNvSpPr txBox="1"/>
          <p:nvPr/>
        </p:nvSpPr>
        <p:spPr>
          <a:xfrm>
            <a:off x="942975" y="1485900"/>
            <a:ext cx="3886200" cy="48320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1400" u="none" cap="none" strike="noStrike">
                <a:solidFill>
                  <a:srgbClr val="000000"/>
                </a:solidFill>
                <a:latin typeface="Arial"/>
                <a:ea typeface="Arial"/>
                <a:cs typeface="Arial"/>
                <a:sym typeface="Arial"/>
              </a:rPr>
              <a:t>Módulo de usuarios</a:t>
            </a:r>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Registro </a:t>
            </a:r>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Inicio de sesión </a:t>
            </a:r>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Edición </a:t>
            </a:r>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Desactivación </a:t>
            </a:r>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Gestión de roles </a:t>
            </a:r>
            <a:endParaRPr/>
          </a:p>
          <a:p>
            <a:pPr indent="0" lvl="0" marL="0" marR="0" rtl="0" algn="l">
              <a:lnSpc>
                <a:spcPct val="100000"/>
              </a:lnSpc>
              <a:spcBef>
                <a:spcPts val="0"/>
              </a:spcBef>
              <a:spcAft>
                <a:spcPts val="0"/>
              </a:spcAft>
              <a:buNone/>
            </a:pPr>
            <a:r>
              <a:rPr b="1" i="0" lang="es-ES" sz="1400" u="none" cap="none" strike="noStrike">
                <a:solidFill>
                  <a:srgbClr val="000000"/>
                </a:solidFill>
                <a:latin typeface="Arial"/>
                <a:ea typeface="Arial"/>
                <a:cs typeface="Arial"/>
                <a:sym typeface="Arial"/>
              </a:rPr>
              <a:t>Módulo de alimentos</a:t>
            </a:r>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Registrar alimentos </a:t>
            </a:r>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Actualizar información </a:t>
            </a:r>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Consultar alimentos </a:t>
            </a:r>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Registrar valores nutricionales </a:t>
            </a:r>
            <a:endParaRPr/>
          </a:p>
          <a:p>
            <a:pPr indent="0" lvl="0" marL="0" marR="0" rtl="0" algn="l">
              <a:lnSpc>
                <a:spcPct val="100000"/>
              </a:lnSpc>
              <a:spcBef>
                <a:spcPts val="0"/>
              </a:spcBef>
              <a:spcAft>
                <a:spcPts val="0"/>
              </a:spcAft>
              <a:buNone/>
            </a:pPr>
            <a:r>
              <a:rPr b="1" i="0" lang="es-ES" sz="1400" u="none" cap="none" strike="noStrike">
                <a:solidFill>
                  <a:srgbClr val="000000"/>
                </a:solidFill>
                <a:latin typeface="Arial"/>
                <a:ea typeface="Arial"/>
                <a:cs typeface="Arial"/>
                <a:sym typeface="Arial"/>
              </a:rPr>
              <a:t>Módulo de menús</a:t>
            </a:r>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Crear menús </a:t>
            </a:r>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Asociar alimentos </a:t>
            </a:r>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Consultar menús </a:t>
            </a:r>
            <a:endParaRPr/>
          </a:p>
          <a:p>
            <a:pPr indent="0" lvl="0" marL="0" marR="0" rtl="0" algn="l">
              <a:lnSpc>
                <a:spcPct val="100000"/>
              </a:lnSpc>
              <a:spcBef>
                <a:spcPts val="0"/>
              </a:spcBef>
              <a:spcAft>
                <a:spcPts val="0"/>
              </a:spcAft>
              <a:buNone/>
            </a:pPr>
            <a:r>
              <a:rPr b="1" i="0" lang="es-ES" sz="1400" u="none" cap="none" strike="noStrike">
                <a:solidFill>
                  <a:srgbClr val="000000"/>
                </a:solidFill>
                <a:latin typeface="Arial"/>
                <a:ea typeface="Arial"/>
                <a:cs typeface="Arial"/>
                <a:sym typeface="Arial"/>
              </a:rPr>
              <a:t>Módulo de consumo</a:t>
            </a:r>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Registrar consumo </a:t>
            </a:r>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Asociar estudiante, menú y fecha/hora </a:t>
            </a:r>
            <a:endParaRPr/>
          </a:p>
          <a:p>
            <a:pPr indent="0" lvl="0" marL="0" marR="0" rtl="0" algn="l">
              <a:lnSpc>
                <a:spcPct val="100000"/>
              </a:lnSpc>
              <a:spcBef>
                <a:spcPts val="0"/>
              </a:spcBef>
              <a:spcAft>
                <a:spcPts val="0"/>
              </a:spcAft>
              <a:buNone/>
            </a:pPr>
            <a:r>
              <a:rPr b="1" i="0" lang="es-ES" sz="1400" u="none" cap="none" strike="noStrike">
                <a:solidFill>
                  <a:srgbClr val="000000"/>
                </a:solidFill>
                <a:latin typeface="Arial"/>
                <a:ea typeface="Arial"/>
                <a:cs typeface="Arial"/>
                <a:sym typeface="Arial"/>
              </a:rPr>
              <a:t>Módulo de reportes</a:t>
            </a:r>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Generar reportes </a:t>
            </a:r>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Filtrar información por fechas y usuarios</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88" name="Google Shape;588;p106"/>
          <p:cNvSpPr txBox="1"/>
          <p:nvPr/>
        </p:nvSpPr>
        <p:spPr>
          <a:xfrm>
            <a:off x="6115050" y="2257425"/>
            <a:ext cx="5810250" cy="24622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1400" u="none" cap="none" strike="noStrike">
                <a:solidFill>
                  <a:srgbClr val="000000"/>
                </a:solidFill>
                <a:latin typeface="Arial"/>
                <a:ea typeface="Arial"/>
                <a:cs typeface="Arial"/>
                <a:sym typeface="Arial"/>
              </a:rPr>
              <a:t>Módulo de menús</a:t>
            </a:r>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Crear menús </a:t>
            </a:r>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Asociar alimentos </a:t>
            </a:r>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Consultar menús </a:t>
            </a:r>
            <a:endParaRPr/>
          </a:p>
          <a:p>
            <a:pPr indent="0" lvl="0" marL="0" marR="0" rtl="0" algn="l">
              <a:lnSpc>
                <a:spcPct val="100000"/>
              </a:lnSpc>
              <a:spcBef>
                <a:spcPts val="0"/>
              </a:spcBef>
              <a:spcAft>
                <a:spcPts val="0"/>
              </a:spcAft>
              <a:buNone/>
            </a:pPr>
            <a:r>
              <a:rPr b="1" i="0" lang="es-ES" sz="1400" u="none" cap="none" strike="noStrike">
                <a:solidFill>
                  <a:srgbClr val="000000"/>
                </a:solidFill>
                <a:latin typeface="Arial"/>
                <a:ea typeface="Arial"/>
                <a:cs typeface="Arial"/>
                <a:sym typeface="Arial"/>
              </a:rPr>
              <a:t>Módulo de consumo</a:t>
            </a:r>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Registrar consumo </a:t>
            </a:r>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Asociar estudiante, menú y fecha/hora </a:t>
            </a:r>
            <a:endParaRPr/>
          </a:p>
          <a:p>
            <a:pPr indent="0" lvl="0" marL="0" marR="0" rtl="0" algn="l">
              <a:lnSpc>
                <a:spcPct val="100000"/>
              </a:lnSpc>
              <a:spcBef>
                <a:spcPts val="0"/>
              </a:spcBef>
              <a:spcAft>
                <a:spcPts val="0"/>
              </a:spcAft>
              <a:buNone/>
            </a:pPr>
            <a:r>
              <a:rPr b="1" i="0" lang="es-ES" sz="1400" u="none" cap="none" strike="noStrike">
                <a:solidFill>
                  <a:srgbClr val="000000"/>
                </a:solidFill>
                <a:latin typeface="Arial"/>
                <a:ea typeface="Arial"/>
                <a:cs typeface="Arial"/>
                <a:sym typeface="Arial"/>
              </a:rPr>
              <a:t>Módulo de reportes</a:t>
            </a:r>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Generar reportes </a:t>
            </a:r>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Filtrar información por fechas y usuarios</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592" name="Shape 592"/>
        <p:cNvGrpSpPr/>
        <p:nvPr/>
      </p:nvGrpSpPr>
      <p:grpSpPr>
        <a:xfrm>
          <a:off x="0" y="0"/>
          <a:ext cx="0" cy="0"/>
          <a:chOff x="0" y="0"/>
          <a:chExt cx="0" cy="0"/>
        </a:xfrm>
      </p:grpSpPr>
      <p:sp>
        <p:nvSpPr>
          <p:cNvPr id="593" name="Google Shape;593;p11"/>
          <p:cNvSpPr txBox="1"/>
          <p:nvPr/>
        </p:nvSpPr>
        <p:spPr>
          <a:xfrm>
            <a:off x="456236" y="457723"/>
            <a:ext cx="10611814" cy="67659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C0C0C"/>
              </a:buClr>
              <a:buSzPts val="4400"/>
              <a:buFont typeface="Arial"/>
              <a:buNone/>
            </a:pPr>
            <a:r>
              <a:rPr b="0" i="0" lang="es-ES" sz="4400" u="none" cap="none" strike="noStrike">
                <a:solidFill>
                  <a:srgbClr val="0C0C0C"/>
                </a:solidFill>
                <a:latin typeface="Work Sans Medium"/>
                <a:ea typeface="Work Sans Medium"/>
                <a:cs typeface="Work Sans Medium"/>
                <a:sym typeface="Work Sans Medium"/>
              </a:rPr>
              <a:t>Funcionalidades por módulo</a:t>
            </a:r>
            <a:endParaRPr b="0" i="0" sz="1400" u="none" cap="none" strike="noStrike">
              <a:solidFill>
                <a:srgbClr val="000000"/>
              </a:solidFill>
              <a:latin typeface="Arial"/>
              <a:ea typeface="Arial"/>
              <a:cs typeface="Arial"/>
              <a:sym typeface="Arial"/>
            </a:endParaRPr>
          </a:p>
        </p:txBody>
      </p:sp>
      <p:sp>
        <p:nvSpPr>
          <p:cNvPr id="594" name="Google Shape;594;p11"/>
          <p:cNvSpPr/>
          <p:nvPr/>
        </p:nvSpPr>
        <p:spPr>
          <a:xfrm>
            <a:off x="456236" y="1276350"/>
            <a:ext cx="11288089" cy="5086350"/>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cxnSp>
        <p:nvCxnSpPr>
          <p:cNvPr id="595" name="Google Shape;595;p11"/>
          <p:cNvCxnSpPr/>
          <p:nvPr/>
        </p:nvCxnSpPr>
        <p:spPr>
          <a:xfrm flipH="1" rot="10800000">
            <a:off x="456236" y="1781175"/>
            <a:ext cx="11288089" cy="19050"/>
          </a:xfrm>
          <a:prstGeom prst="straightConnector1">
            <a:avLst/>
          </a:prstGeom>
          <a:noFill/>
          <a:ln cap="flat" cmpd="sng" w="9525">
            <a:solidFill>
              <a:schemeClr val="dk1"/>
            </a:solidFill>
            <a:prstDash val="solid"/>
            <a:round/>
            <a:headEnd len="sm" w="sm" type="none"/>
            <a:tailEnd len="sm" w="sm" type="none"/>
          </a:ln>
        </p:spPr>
      </p:cxnSp>
      <p:sp>
        <p:nvSpPr>
          <p:cNvPr id="596" name="Google Shape;596;p11"/>
          <p:cNvSpPr txBox="1"/>
          <p:nvPr/>
        </p:nvSpPr>
        <p:spPr>
          <a:xfrm>
            <a:off x="657225" y="1402383"/>
            <a:ext cx="25527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MODULO</a:t>
            </a:r>
            <a:endParaRPr b="0" i="0" sz="1400" u="none" cap="none" strike="noStrike">
              <a:solidFill>
                <a:srgbClr val="000000"/>
              </a:solidFill>
              <a:latin typeface="Arial"/>
              <a:ea typeface="Arial"/>
              <a:cs typeface="Arial"/>
              <a:sym typeface="Arial"/>
            </a:endParaRPr>
          </a:p>
        </p:txBody>
      </p:sp>
      <p:cxnSp>
        <p:nvCxnSpPr>
          <p:cNvPr id="597" name="Google Shape;597;p11"/>
          <p:cNvCxnSpPr/>
          <p:nvPr/>
        </p:nvCxnSpPr>
        <p:spPr>
          <a:xfrm flipH="1">
            <a:off x="2114555" y="1293708"/>
            <a:ext cx="9525" cy="5086350"/>
          </a:xfrm>
          <a:prstGeom prst="straightConnector1">
            <a:avLst/>
          </a:prstGeom>
          <a:noFill/>
          <a:ln cap="flat" cmpd="sng" w="9525">
            <a:solidFill>
              <a:schemeClr val="dk1"/>
            </a:solidFill>
            <a:prstDash val="solid"/>
            <a:round/>
            <a:headEnd len="sm" w="sm" type="none"/>
            <a:tailEnd len="sm" w="sm" type="none"/>
          </a:ln>
        </p:spPr>
      </p:cxnSp>
      <p:sp>
        <p:nvSpPr>
          <p:cNvPr id="598" name="Google Shape;598;p11"/>
          <p:cNvSpPr txBox="1"/>
          <p:nvPr/>
        </p:nvSpPr>
        <p:spPr>
          <a:xfrm>
            <a:off x="3914775" y="1374874"/>
            <a:ext cx="279082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CLIENTE</a:t>
            </a:r>
            <a:endParaRPr b="0" i="0" sz="1400" u="none" cap="none" strike="noStrike">
              <a:solidFill>
                <a:srgbClr val="000000"/>
              </a:solidFill>
              <a:latin typeface="Arial"/>
              <a:ea typeface="Arial"/>
              <a:cs typeface="Arial"/>
              <a:sym typeface="Arial"/>
            </a:endParaRPr>
          </a:p>
        </p:txBody>
      </p:sp>
      <p:cxnSp>
        <p:nvCxnSpPr>
          <p:cNvPr id="599" name="Google Shape;599;p11"/>
          <p:cNvCxnSpPr/>
          <p:nvPr/>
        </p:nvCxnSpPr>
        <p:spPr>
          <a:xfrm>
            <a:off x="6977062" y="1276350"/>
            <a:ext cx="90488" cy="5086350"/>
          </a:xfrm>
          <a:prstGeom prst="straightConnector1">
            <a:avLst/>
          </a:prstGeom>
          <a:noFill/>
          <a:ln cap="flat" cmpd="sng" w="9525">
            <a:solidFill>
              <a:schemeClr val="dk1"/>
            </a:solidFill>
            <a:prstDash val="solid"/>
            <a:round/>
            <a:headEnd len="sm" w="sm" type="none"/>
            <a:tailEnd len="sm" w="sm" type="none"/>
          </a:ln>
        </p:spPr>
      </p:cxnSp>
      <p:sp>
        <p:nvSpPr>
          <p:cNvPr id="600" name="Google Shape;600;p11"/>
          <p:cNvSpPr txBox="1"/>
          <p:nvPr/>
        </p:nvSpPr>
        <p:spPr>
          <a:xfrm>
            <a:off x="8534400" y="1375720"/>
            <a:ext cx="303847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ADMINISTRADOR </a:t>
            </a:r>
            <a:endParaRPr b="0" i="0" sz="1400" u="none" cap="none" strike="noStrike">
              <a:solidFill>
                <a:srgbClr val="000000"/>
              </a:solidFill>
              <a:latin typeface="Arial"/>
              <a:ea typeface="Arial"/>
              <a:cs typeface="Arial"/>
              <a:sym typeface="Arial"/>
            </a:endParaRPr>
          </a:p>
        </p:txBody>
      </p:sp>
      <p:cxnSp>
        <p:nvCxnSpPr>
          <p:cNvPr id="601" name="Google Shape;601;p11"/>
          <p:cNvCxnSpPr/>
          <p:nvPr/>
        </p:nvCxnSpPr>
        <p:spPr>
          <a:xfrm flipH="1" rot="10800000">
            <a:off x="456236" y="2339221"/>
            <a:ext cx="11288089" cy="19050"/>
          </a:xfrm>
          <a:prstGeom prst="straightConnector1">
            <a:avLst/>
          </a:prstGeom>
          <a:noFill/>
          <a:ln cap="flat" cmpd="sng" w="9525">
            <a:solidFill>
              <a:schemeClr val="dk1"/>
            </a:solidFill>
            <a:prstDash val="solid"/>
            <a:round/>
            <a:headEnd len="sm" w="sm" type="none"/>
            <a:tailEnd len="sm" w="sm" type="none"/>
          </a:ln>
        </p:spPr>
      </p:cxnSp>
      <p:sp>
        <p:nvSpPr>
          <p:cNvPr id="602" name="Google Shape;602;p11"/>
          <p:cNvSpPr txBox="1"/>
          <p:nvPr/>
        </p:nvSpPr>
        <p:spPr>
          <a:xfrm>
            <a:off x="571500" y="1961113"/>
            <a:ext cx="1057275"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200" u="none" cap="none" strike="noStrike">
                <a:solidFill>
                  <a:srgbClr val="000000"/>
                </a:solidFill>
                <a:latin typeface="Arial"/>
                <a:ea typeface="Arial"/>
                <a:cs typeface="Arial"/>
                <a:sym typeface="Arial"/>
              </a:rPr>
              <a:t>Inicio</a:t>
            </a:r>
            <a:endParaRPr b="0" i="0" sz="1200" u="none" cap="none" strike="noStrike">
              <a:solidFill>
                <a:srgbClr val="000000"/>
              </a:solidFill>
              <a:latin typeface="Arial"/>
              <a:ea typeface="Arial"/>
              <a:cs typeface="Arial"/>
              <a:sym typeface="Arial"/>
            </a:endParaRPr>
          </a:p>
        </p:txBody>
      </p:sp>
      <p:sp>
        <p:nvSpPr>
          <p:cNvPr id="603" name="Google Shape;603;p11"/>
          <p:cNvSpPr txBox="1"/>
          <p:nvPr/>
        </p:nvSpPr>
        <p:spPr>
          <a:xfrm>
            <a:off x="2174072" y="1939072"/>
            <a:ext cx="402907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200" u="none" cap="none" strike="noStrike">
                <a:solidFill>
                  <a:srgbClr val="000000"/>
                </a:solidFill>
                <a:latin typeface="Arial"/>
                <a:ea typeface="Arial"/>
                <a:cs typeface="Arial"/>
                <a:sym typeface="Arial"/>
              </a:rPr>
              <a:t>El usuario ingresa a la aplicación</a:t>
            </a:r>
            <a:r>
              <a:rPr b="0" i="0" lang="es-ES" sz="1400" u="none" cap="none" strike="noStrike">
                <a:solidFill>
                  <a:srgbClr val="000000"/>
                </a:solidFill>
                <a:latin typeface="Arial"/>
                <a:ea typeface="Arial"/>
                <a:cs typeface="Arial"/>
                <a:sym typeface="Arial"/>
              </a:rPr>
              <a:t>.</a:t>
            </a:r>
            <a:endParaRPr/>
          </a:p>
        </p:txBody>
      </p:sp>
      <p:sp>
        <p:nvSpPr>
          <p:cNvPr id="604" name="Google Shape;604;p11"/>
          <p:cNvSpPr txBox="1"/>
          <p:nvPr/>
        </p:nvSpPr>
        <p:spPr>
          <a:xfrm>
            <a:off x="7024688" y="1819275"/>
            <a:ext cx="4810125"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200" u="none" cap="none" strike="noStrike">
                <a:solidFill>
                  <a:srgbClr val="000000"/>
                </a:solidFill>
                <a:latin typeface="Arial"/>
                <a:ea typeface="Arial"/>
                <a:cs typeface="Arial"/>
                <a:sym typeface="Arial"/>
              </a:rPr>
              <a:t>Es el usuario encargado de gestionar la información de la aplicación.</a:t>
            </a:r>
            <a:endParaRPr/>
          </a:p>
        </p:txBody>
      </p:sp>
      <p:sp>
        <p:nvSpPr>
          <p:cNvPr id="605" name="Google Shape;605;p11"/>
          <p:cNvSpPr txBox="1"/>
          <p:nvPr/>
        </p:nvSpPr>
        <p:spPr>
          <a:xfrm>
            <a:off x="529572" y="2421368"/>
            <a:ext cx="93344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200" u="none" cap="none" strike="noStrike">
                <a:solidFill>
                  <a:srgbClr val="000000"/>
                </a:solidFill>
                <a:latin typeface="Arial"/>
                <a:ea typeface="Arial"/>
                <a:cs typeface="Arial"/>
                <a:sym typeface="Arial"/>
              </a:rPr>
              <a:t>Inicio De Sesión</a:t>
            </a:r>
            <a:endParaRPr b="0" i="0" sz="1200" u="none" cap="none" strike="noStrike">
              <a:solidFill>
                <a:srgbClr val="000000"/>
              </a:solidFill>
              <a:latin typeface="Arial"/>
              <a:ea typeface="Arial"/>
              <a:cs typeface="Arial"/>
              <a:sym typeface="Arial"/>
            </a:endParaRPr>
          </a:p>
        </p:txBody>
      </p:sp>
      <p:sp>
        <p:nvSpPr>
          <p:cNvPr id="606" name="Google Shape;606;p11"/>
          <p:cNvSpPr txBox="1"/>
          <p:nvPr/>
        </p:nvSpPr>
        <p:spPr>
          <a:xfrm>
            <a:off x="2177842" y="2519487"/>
            <a:ext cx="402907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200" u="none" cap="none" strike="noStrike">
                <a:solidFill>
                  <a:srgbClr val="000000"/>
                </a:solidFill>
                <a:latin typeface="Arial"/>
                <a:ea typeface="Arial"/>
                <a:cs typeface="Arial"/>
                <a:sym typeface="Arial"/>
              </a:rPr>
              <a:t>Ingresa sus datos para acceder al sistema</a:t>
            </a:r>
            <a:r>
              <a:rPr b="0" i="0" lang="es-ES"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607" name="Google Shape;607;p11"/>
          <p:cNvSpPr txBox="1"/>
          <p:nvPr/>
        </p:nvSpPr>
        <p:spPr>
          <a:xfrm>
            <a:off x="7015163" y="2459380"/>
            <a:ext cx="476726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200" u="none" cap="none" strike="noStrike">
                <a:solidFill>
                  <a:srgbClr val="000000"/>
                </a:solidFill>
                <a:latin typeface="Arial"/>
                <a:ea typeface="Arial"/>
                <a:cs typeface="Arial"/>
                <a:sym typeface="Arial"/>
              </a:rPr>
              <a:t>Ingresa su correo y contraseña para acceder al sistema</a:t>
            </a:r>
            <a:r>
              <a:rPr b="0" i="0" lang="es-ES" sz="1400" u="none" cap="none" strike="noStrike">
                <a:solidFill>
                  <a:srgbClr val="000000"/>
                </a:solidFill>
                <a:latin typeface="Arial"/>
                <a:ea typeface="Arial"/>
                <a:cs typeface="Arial"/>
                <a:sym typeface="Arial"/>
              </a:rPr>
              <a:t>.</a:t>
            </a:r>
            <a:endParaRPr/>
          </a:p>
        </p:txBody>
      </p:sp>
      <p:cxnSp>
        <p:nvCxnSpPr>
          <p:cNvPr id="608" name="Google Shape;608;p11"/>
          <p:cNvCxnSpPr/>
          <p:nvPr/>
        </p:nvCxnSpPr>
        <p:spPr>
          <a:xfrm flipH="1" rot="10800000">
            <a:off x="456236" y="2883033"/>
            <a:ext cx="11288089" cy="19050"/>
          </a:xfrm>
          <a:prstGeom prst="straightConnector1">
            <a:avLst/>
          </a:prstGeom>
          <a:noFill/>
          <a:ln cap="flat" cmpd="sng" w="9525">
            <a:solidFill>
              <a:schemeClr val="dk1"/>
            </a:solidFill>
            <a:prstDash val="solid"/>
            <a:round/>
            <a:headEnd len="sm" w="sm" type="none"/>
            <a:tailEnd len="sm" w="sm" type="none"/>
          </a:ln>
        </p:spPr>
      </p:cxnSp>
      <p:sp>
        <p:nvSpPr>
          <p:cNvPr id="609" name="Google Shape;609;p11"/>
          <p:cNvSpPr/>
          <p:nvPr/>
        </p:nvSpPr>
        <p:spPr>
          <a:xfrm>
            <a:off x="504826" y="2983565"/>
            <a:ext cx="155353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200" u="none" cap="none" strike="noStrike">
                <a:solidFill>
                  <a:srgbClr val="000000"/>
                </a:solidFill>
                <a:latin typeface="Arial"/>
                <a:ea typeface="Arial"/>
                <a:cs typeface="Arial"/>
                <a:sym typeface="Arial"/>
              </a:rPr>
              <a:t>Ingresa al menú principal</a:t>
            </a:r>
            <a:endParaRPr/>
          </a:p>
        </p:txBody>
      </p:sp>
      <p:graphicFrame>
        <p:nvGraphicFramePr>
          <p:cNvPr id="610" name="Google Shape;610;p11"/>
          <p:cNvGraphicFramePr/>
          <p:nvPr/>
        </p:nvGraphicFramePr>
        <p:xfrm>
          <a:off x="2152648" y="3045358"/>
          <a:ext cx="3000000" cy="3000000"/>
        </p:xfrm>
        <a:graphic>
          <a:graphicData uri="http://schemas.openxmlformats.org/drawingml/2006/table">
            <a:tbl>
              <a:tblPr>
                <a:noFill/>
                <a:tableStyleId>{272B54D1-93C2-44F5-9BEC-4C839BC0A405}</a:tableStyleId>
              </a:tblPr>
              <a:tblGrid>
                <a:gridCol w="4752975"/>
              </a:tblGrid>
              <a:tr h="152400">
                <a:tc>
                  <a:txBody>
                    <a:bodyPr/>
                    <a:lstStyle/>
                    <a:p>
                      <a:pPr indent="0" lvl="0" marL="0" marR="0" rtl="0" algn="l">
                        <a:lnSpc>
                          <a:spcPct val="100000"/>
                        </a:lnSpc>
                        <a:spcBef>
                          <a:spcPts val="0"/>
                        </a:spcBef>
                        <a:spcAft>
                          <a:spcPts val="0"/>
                        </a:spcAft>
                        <a:buNone/>
                      </a:pPr>
                      <a:r>
                        <a:rPr lang="es-ES" sz="1200" u="none" cap="none" strike="noStrike"/>
                        <a:t>El sistema muestra las opciones disponibles según el usuario.</a:t>
                      </a:r>
                      <a:endParaRPr sz="12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graphicFrame>
        <p:nvGraphicFramePr>
          <p:cNvPr id="611" name="Google Shape;611;p11"/>
          <p:cNvGraphicFramePr/>
          <p:nvPr/>
        </p:nvGraphicFramePr>
        <p:xfrm>
          <a:off x="7041356" y="3037009"/>
          <a:ext cx="3000000" cy="3000000"/>
        </p:xfrm>
        <a:graphic>
          <a:graphicData uri="http://schemas.openxmlformats.org/drawingml/2006/table">
            <a:tbl>
              <a:tblPr>
                <a:noFill/>
                <a:tableStyleId>{272B54D1-93C2-44F5-9BEC-4C839BC0A405}</a:tableStyleId>
              </a:tblPr>
              <a:tblGrid>
                <a:gridCol w="4895850"/>
              </a:tblGrid>
              <a:tr h="253325">
                <a:tc>
                  <a:txBody>
                    <a:bodyPr/>
                    <a:lstStyle/>
                    <a:p>
                      <a:pPr indent="0" lvl="0" marL="0" marR="0" rtl="0" algn="l">
                        <a:lnSpc>
                          <a:spcPct val="100000"/>
                        </a:lnSpc>
                        <a:spcBef>
                          <a:spcPts val="0"/>
                        </a:spcBef>
                        <a:spcAft>
                          <a:spcPts val="0"/>
                        </a:spcAft>
                        <a:buNone/>
                      </a:pPr>
                      <a:r>
                        <a:rPr lang="es-ES" sz="1200" u="none" cap="none" strike="noStrike"/>
                        <a:t>El sistema muestra las opciones disponibles para el administrador.</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cxnSp>
        <p:nvCxnSpPr>
          <p:cNvPr id="612" name="Google Shape;612;p11"/>
          <p:cNvCxnSpPr/>
          <p:nvPr/>
        </p:nvCxnSpPr>
        <p:spPr>
          <a:xfrm flipH="1" rot="10800000">
            <a:off x="466952" y="3453249"/>
            <a:ext cx="11288089" cy="19050"/>
          </a:xfrm>
          <a:prstGeom prst="straightConnector1">
            <a:avLst/>
          </a:prstGeom>
          <a:noFill/>
          <a:ln cap="flat" cmpd="sng" w="9525">
            <a:solidFill>
              <a:schemeClr val="dk1"/>
            </a:solidFill>
            <a:prstDash val="solid"/>
            <a:round/>
            <a:headEnd len="sm" w="sm" type="none"/>
            <a:tailEnd len="sm" w="sm" type="none"/>
          </a:ln>
        </p:spPr>
      </p:cxnSp>
      <p:sp>
        <p:nvSpPr>
          <p:cNvPr id="613" name="Google Shape;613;p11"/>
          <p:cNvSpPr/>
          <p:nvPr/>
        </p:nvSpPr>
        <p:spPr>
          <a:xfrm>
            <a:off x="491472" y="3517187"/>
            <a:ext cx="139447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200" u="none" cap="none" strike="noStrike">
                <a:solidFill>
                  <a:srgbClr val="000000"/>
                </a:solidFill>
                <a:latin typeface="Arial"/>
                <a:ea typeface="Arial"/>
                <a:cs typeface="Arial"/>
                <a:sym typeface="Arial"/>
              </a:rPr>
              <a:t>Selección del módulo</a:t>
            </a:r>
            <a:endParaRPr/>
          </a:p>
        </p:txBody>
      </p:sp>
      <p:sp>
        <p:nvSpPr>
          <p:cNvPr id="614" name="Google Shape;614;p11"/>
          <p:cNvSpPr/>
          <p:nvPr/>
        </p:nvSpPr>
        <p:spPr>
          <a:xfrm>
            <a:off x="2133599" y="3565555"/>
            <a:ext cx="362471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200" u="none" cap="none" strike="noStrike">
                <a:solidFill>
                  <a:srgbClr val="000000"/>
                </a:solidFill>
                <a:latin typeface="Arial"/>
                <a:ea typeface="Arial"/>
                <a:cs typeface="Arial"/>
                <a:sym typeface="Arial"/>
              </a:rPr>
              <a:t>El usuario selecciona la función que desea utilizar</a:t>
            </a:r>
            <a:r>
              <a:rPr b="0" i="0" lang="es-ES"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615" name="Google Shape;615;p11"/>
          <p:cNvSpPr/>
          <p:nvPr/>
        </p:nvSpPr>
        <p:spPr>
          <a:xfrm>
            <a:off x="7048500" y="3516947"/>
            <a:ext cx="4600575"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200" u="none" cap="none" strike="noStrike">
                <a:solidFill>
                  <a:srgbClr val="000000"/>
                </a:solidFill>
                <a:latin typeface="Arial"/>
                <a:ea typeface="Arial"/>
                <a:cs typeface="Arial"/>
                <a:sym typeface="Arial"/>
              </a:rPr>
              <a:t>El administrador accede al módulo donde puede gestionar los alimentos.</a:t>
            </a:r>
            <a:endParaRPr/>
          </a:p>
        </p:txBody>
      </p:sp>
      <p:cxnSp>
        <p:nvCxnSpPr>
          <p:cNvPr id="616" name="Google Shape;616;p11"/>
          <p:cNvCxnSpPr/>
          <p:nvPr/>
        </p:nvCxnSpPr>
        <p:spPr>
          <a:xfrm flipH="1" rot="10800000">
            <a:off x="475286" y="3957174"/>
            <a:ext cx="11288089" cy="19050"/>
          </a:xfrm>
          <a:prstGeom prst="straightConnector1">
            <a:avLst/>
          </a:prstGeom>
          <a:noFill/>
          <a:ln cap="flat" cmpd="sng" w="9525">
            <a:solidFill>
              <a:schemeClr val="dk1"/>
            </a:solidFill>
            <a:prstDash val="solid"/>
            <a:round/>
            <a:headEnd len="sm" w="sm" type="none"/>
            <a:tailEnd len="sm" w="sm" type="none"/>
          </a:ln>
        </p:spPr>
      </p:cxnSp>
      <p:graphicFrame>
        <p:nvGraphicFramePr>
          <p:cNvPr id="617" name="Google Shape;617;p11"/>
          <p:cNvGraphicFramePr/>
          <p:nvPr/>
        </p:nvGraphicFramePr>
        <p:xfrm>
          <a:off x="495301" y="3953669"/>
          <a:ext cx="3000000" cy="3000000"/>
        </p:xfrm>
        <a:graphic>
          <a:graphicData uri="http://schemas.openxmlformats.org/drawingml/2006/table">
            <a:tbl>
              <a:tblPr>
                <a:noFill/>
                <a:tableStyleId>{272B54D1-93C2-44F5-9BEC-4C839BC0A405}</a:tableStyleId>
              </a:tblPr>
              <a:tblGrid>
                <a:gridCol w="1390650"/>
              </a:tblGrid>
              <a:tr h="152400">
                <a:tc>
                  <a:txBody>
                    <a:bodyPr/>
                    <a:lstStyle/>
                    <a:p>
                      <a:pPr indent="0" lvl="0" marL="0" marR="0" rtl="0" algn="l">
                        <a:lnSpc>
                          <a:spcPct val="100000"/>
                        </a:lnSpc>
                        <a:spcBef>
                          <a:spcPts val="0"/>
                        </a:spcBef>
                        <a:spcAft>
                          <a:spcPts val="0"/>
                        </a:spcAft>
                        <a:buNone/>
                      </a:pPr>
                      <a:r>
                        <a:rPr b="0" lang="es-ES" sz="1200" u="none" cap="none" strike="noStrike"/>
                        <a:t>Gestión o consulta de información</a:t>
                      </a:r>
                      <a:endParaRPr b="0" sz="12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618" name="Google Shape;618;p11"/>
          <p:cNvSpPr/>
          <p:nvPr/>
        </p:nvSpPr>
        <p:spPr>
          <a:xfrm>
            <a:off x="2106561" y="4087762"/>
            <a:ext cx="506100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200" u="none" cap="none" strike="noStrike">
                <a:solidFill>
                  <a:srgbClr val="000000"/>
                </a:solidFill>
                <a:latin typeface="Arial"/>
                <a:ea typeface="Arial"/>
                <a:cs typeface="Arial"/>
                <a:sym typeface="Arial"/>
              </a:rPr>
              <a:t>Puede registrar, actualizar o consultar información según sus permisos</a:t>
            </a:r>
            <a:r>
              <a:rPr b="0" i="0" lang="es-ES" sz="1400" u="none" cap="none" strike="noStrike">
                <a:solidFill>
                  <a:srgbClr val="000000"/>
                </a:solidFill>
                <a:latin typeface="Arial"/>
                <a:ea typeface="Arial"/>
                <a:cs typeface="Arial"/>
                <a:sym typeface="Arial"/>
              </a:rPr>
              <a:t>.</a:t>
            </a:r>
            <a:endParaRPr/>
          </a:p>
        </p:txBody>
      </p:sp>
      <p:sp>
        <p:nvSpPr>
          <p:cNvPr id="619" name="Google Shape;619;p11"/>
          <p:cNvSpPr txBox="1"/>
          <p:nvPr/>
        </p:nvSpPr>
        <p:spPr>
          <a:xfrm>
            <a:off x="8893487" y="4055105"/>
            <a:ext cx="2966103"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____</a:t>
            </a:r>
            <a:endParaRPr b="0" i="0" sz="1400" u="none" cap="none" strike="noStrike">
              <a:solidFill>
                <a:srgbClr val="000000"/>
              </a:solidFill>
              <a:latin typeface="Arial"/>
              <a:ea typeface="Arial"/>
              <a:cs typeface="Arial"/>
              <a:sym typeface="Arial"/>
            </a:endParaRPr>
          </a:p>
        </p:txBody>
      </p:sp>
      <p:cxnSp>
        <p:nvCxnSpPr>
          <p:cNvPr id="620" name="Google Shape;620;p11"/>
          <p:cNvCxnSpPr/>
          <p:nvPr/>
        </p:nvCxnSpPr>
        <p:spPr>
          <a:xfrm flipH="1" rot="10800000">
            <a:off x="475286" y="4585418"/>
            <a:ext cx="11288089" cy="19050"/>
          </a:xfrm>
          <a:prstGeom prst="straightConnector1">
            <a:avLst/>
          </a:prstGeom>
          <a:noFill/>
          <a:ln cap="flat" cmpd="sng" w="9525">
            <a:solidFill>
              <a:schemeClr val="dk1"/>
            </a:solidFill>
            <a:prstDash val="solid"/>
            <a:round/>
            <a:headEnd len="sm" w="sm" type="none"/>
            <a:tailEnd len="sm" w="sm" type="none"/>
          </a:ln>
        </p:spPr>
      </p:cxnSp>
      <p:graphicFrame>
        <p:nvGraphicFramePr>
          <p:cNvPr id="621" name="Google Shape;621;p11"/>
          <p:cNvGraphicFramePr/>
          <p:nvPr/>
        </p:nvGraphicFramePr>
        <p:xfrm>
          <a:off x="492437" y="4675231"/>
          <a:ext cx="3000000" cy="3000000"/>
        </p:xfrm>
        <a:graphic>
          <a:graphicData uri="http://schemas.openxmlformats.org/drawingml/2006/table">
            <a:tbl>
              <a:tblPr>
                <a:noFill/>
                <a:tableStyleId>{272B54D1-93C2-44F5-9BEC-4C839BC0A405}</a:tableStyleId>
              </a:tblPr>
              <a:tblGrid>
                <a:gridCol w="1383975"/>
              </a:tblGrid>
              <a:tr h="152400">
                <a:tc>
                  <a:txBody>
                    <a:bodyPr/>
                    <a:lstStyle/>
                    <a:p>
                      <a:pPr indent="0" lvl="0" marL="0" marR="0" rtl="0" algn="l">
                        <a:lnSpc>
                          <a:spcPct val="100000"/>
                        </a:lnSpc>
                        <a:spcBef>
                          <a:spcPts val="0"/>
                        </a:spcBef>
                        <a:spcAft>
                          <a:spcPts val="0"/>
                        </a:spcAft>
                        <a:buNone/>
                      </a:pPr>
                      <a:r>
                        <a:rPr b="0" lang="es-ES" sz="1200" u="none" cap="none" strike="noStrike"/>
                        <a:t>Base de datos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622" name="Google Shape;622;p11"/>
          <p:cNvSpPr/>
          <p:nvPr/>
        </p:nvSpPr>
        <p:spPr>
          <a:xfrm>
            <a:off x="2122539" y="4655847"/>
            <a:ext cx="4721164"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200" u="none" cap="none" strike="noStrike">
                <a:solidFill>
                  <a:srgbClr val="000000"/>
                </a:solidFill>
                <a:latin typeface="Arial"/>
                <a:ea typeface="Arial"/>
                <a:cs typeface="Arial"/>
                <a:sym typeface="Arial"/>
              </a:rPr>
              <a:t>La información se almacena o se consulta desde la base de datos.</a:t>
            </a:r>
            <a:endParaRPr b="0" i="0" sz="1200" u="none" cap="none" strike="noStrike">
              <a:solidFill>
                <a:srgbClr val="000000"/>
              </a:solidFill>
              <a:latin typeface="Arial"/>
              <a:ea typeface="Arial"/>
              <a:cs typeface="Arial"/>
              <a:sym typeface="Arial"/>
            </a:endParaRPr>
          </a:p>
        </p:txBody>
      </p:sp>
      <p:sp>
        <p:nvSpPr>
          <p:cNvPr id="623" name="Google Shape;623;p11"/>
          <p:cNvSpPr/>
          <p:nvPr/>
        </p:nvSpPr>
        <p:spPr>
          <a:xfrm>
            <a:off x="7000874" y="4610261"/>
            <a:ext cx="4676765"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200" u="none" cap="none" strike="noStrike">
                <a:solidFill>
                  <a:srgbClr val="000000"/>
                </a:solidFill>
                <a:latin typeface="Arial"/>
                <a:ea typeface="Arial"/>
                <a:cs typeface="Arial"/>
                <a:sym typeface="Arial"/>
              </a:rPr>
              <a:t>La información del alimento queda almacenada y organizada en la base de datos.</a:t>
            </a:r>
            <a:endParaRPr/>
          </a:p>
        </p:txBody>
      </p:sp>
      <p:cxnSp>
        <p:nvCxnSpPr>
          <p:cNvPr id="624" name="Google Shape;624;p11"/>
          <p:cNvCxnSpPr/>
          <p:nvPr/>
        </p:nvCxnSpPr>
        <p:spPr>
          <a:xfrm flipH="1" rot="10800000">
            <a:off x="466951" y="5052444"/>
            <a:ext cx="11288089" cy="19050"/>
          </a:xfrm>
          <a:prstGeom prst="straightConnector1">
            <a:avLst/>
          </a:prstGeom>
          <a:noFill/>
          <a:ln cap="flat" cmpd="sng" w="9525">
            <a:solidFill>
              <a:schemeClr val="dk1"/>
            </a:solidFill>
            <a:prstDash val="solid"/>
            <a:round/>
            <a:headEnd len="sm" w="sm" type="none"/>
            <a:tailEnd len="sm" w="sm" type="none"/>
          </a:ln>
        </p:spPr>
      </p:cxnSp>
      <p:sp>
        <p:nvSpPr>
          <p:cNvPr id="625" name="Google Shape;625;p11"/>
          <p:cNvSpPr/>
          <p:nvPr/>
        </p:nvSpPr>
        <p:spPr>
          <a:xfrm>
            <a:off x="504345" y="5139789"/>
            <a:ext cx="873957"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200" u="none" cap="none" strike="noStrike">
                <a:solidFill>
                  <a:srgbClr val="000000"/>
                </a:solidFill>
                <a:latin typeface="Arial"/>
                <a:ea typeface="Arial"/>
                <a:cs typeface="Arial"/>
                <a:sym typeface="Arial"/>
              </a:rPr>
              <a:t>Resultado</a:t>
            </a:r>
            <a:endParaRPr b="0" i="0" sz="1200" u="none" cap="none" strike="noStrike">
              <a:solidFill>
                <a:srgbClr val="000000"/>
              </a:solidFill>
              <a:latin typeface="Arial"/>
              <a:ea typeface="Arial"/>
              <a:cs typeface="Arial"/>
              <a:sym typeface="Arial"/>
            </a:endParaRPr>
          </a:p>
        </p:txBody>
      </p:sp>
      <p:sp>
        <p:nvSpPr>
          <p:cNvPr id="626" name="Google Shape;626;p11"/>
          <p:cNvSpPr/>
          <p:nvPr/>
        </p:nvSpPr>
        <p:spPr>
          <a:xfrm>
            <a:off x="2124074" y="5116783"/>
            <a:ext cx="460895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200" u="none" cap="none" strike="noStrike">
                <a:solidFill>
                  <a:srgbClr val="000000"/>
                </a:solidFill>
                <a:latin typeface="Arial"/>
                <a:ea typeface="Arial"/>
                <a:cs typeface="Arial"/>
                <a:sym typeface="Arial"/>
              </a:rPr>
              <a:t>El sistema muestra la información o confirma la acción realizada</a:t>
            </a:r>
            <a:r>
              <a:rPr b="0" i="0" lang="es-ES" sz="1400" u="none" cap="none" strike="noStrike">
                <a:solidFill>
                  <a:srgbClr val="000000"/>
                </a:solidFill>
                <a:latin typeface="Arial"/>
                <a:ea typeface="Arial"/>
                <a:cs typeface="Arial"/>
                <a:sym typeface="Arial"/>
              </a:rPr>
              <a:t>.</a:t>
            </a:r>
            <a:endParaRPr/>
          </a:p>
        </p:txBody>
      </p:sp>
      <p:sp>
        <p:nvSpPr>
          <p:cNvPr id="627" name="Google Shape;627;p11"/>
          <p:cNvSpPr txBox="1"/>
          <p:nvPr/>
        </p:nvSpPr>
        <p:spPr>
          <a:xfrm>
            <a:off x="8883479" y="5010593"/>
            <a:ext cx="2966103"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____</a:t>
            </a:r>
            <a:endParaRPr b="0" i="0" sz="1400" u="none" cap="none" strike="noStrike">
              <a:solidFill>
                <a:srgbClr val="000000"/>
              </a:solidFill>
              <a:latin typeface="Arial"/>
              <a:ea typeface="Arial"/>
              <a:cs typeface="Arial"/>
              <a:sym typeface="Arial"/>
            </a:endParaRPr>
          </a:p>
        </p:txBody>
      </p:sp>
      <p:cxnSp>
        <p:nvCxnSpPr>
          <p:cNvPr id="628" name="Google Shape;628;p11"/>
          <p:cNvCxnSpPr/>
          <p:nvPr/>
        </p:nvCxnSpPr>
        <p:spPr>
          <a:xfrm flipH="1" rot="10800000">
            <a:off x="466951" y="5450874"/>
            <a:ext cx="11288089" cy="19050"/>
          </a:xfrm>
          <a:prstGeom prst="straightConnector1">
            <a:avLst/>
          </a:prstGeom>
          <a:noFill/>
          <a:ln cap="flat" cmpd="sng" w="9525">
            <a:solidFill>
              <a:schemeClr val="dk1"/>
            </a:solidFill>
            <a:prstDash val="solid"/>
            <a:round/>
            <a:headEnd len="sm" w="sm" type="none"/>
            <a:tailEnd len="sm" w="sm" type="none"/>
          </a:ln>
        </p:spPr>
      </p:cxnSp>
      <p:graphicFrame>
        <p:nvGraphicFramePr>
          <p:cNvPr id="629" name="Google Shape;629;p11"/>
          <p:cNvGraphicFramePr/>
          <p:nvPr/>
        </p:nvGraphicFramePr>
        <p:xfrm>
          <a:off x="838200" y="3848894"/>
          <a:ext cx="3000000" cy="3000000"/>
        </p:xfrm>
        <a:graphic>
          <a:graphicData uri="http://schemas.openxmlformats.org/drawingml/2006/table">
            <a:tbl>
              <a:tblPr>
                <a:noFill/>
                <a:tableStyleId>{272B54D1-93C2-44F5-9BEC-4C839BC0A405}</a:tableStyleId>
              </a:tblPr>
              <a:tblGrid>
                <a:gridCol w="10515600"/>
              </a:tblGrid>
              <a:tr h="0">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graphicFrame>
        <p:nvGraphicFramePr>
          <p:cNvPr id="630" name="Google Shape;630;p11"/>
          <p:cNvGraphicFramePr/>
          <p:nvPr/>
        </p:nvGraphicFramePr>
        <p:xfrm>
          <a:off x="476481" y="5499356"/>
          <a:ext cx="3000000" cy="3000000"/>
        </p:xfrm>
        <a:graphic>
          <a:graphicData uri="http://schemas.openxmlformats.org/drawingml/2006/table">
            <a:tbl>
              <a:tblPr>
                <a:noFill/>
                <a:tableStyleId>{272B54D1-93C2-44F5-9BEC-4C839BC0A405}</a:tableStyleId>
              </a:tblPr>
              <a:tblGrid>
                <a:gridCol w="1343500"/>
              </a:tblGrid>
              <a:tr h="152400">
                <a:tc>
                  <a:txBody>
                    <a:bodyPr/>
                    <a:lstStyle/>
                    <a:p>
                      <a:pPr indent="0" lvl="0" marL="0" marR="0" rtl="0" algn="l">
                        <a:lnSpc>
                          <a:spcPct val="100000"/>
                        </a:lnSpc>
                        <a:spcBef>
                          <a:spcPts val="0"/>
                        </a:spcBef>
                        <a:spcAft>
                          <a:spcPts val="0"/>
                        </a:spcAft>
                        <a:buNone/>
                      </a:pPr>
                      <a:r>
                        <a:rPr b="0" lang="es-ES" sz="1200" u="none" cap="none" strike="noStrike"/>
                        <a:t>Disponible para consulta</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631" name="Google Shape;631;p11"/>
          <p:cNvSpPr/>
          <p:nvPr/>
        </p:nvSpPr>
        <p:spPr>
          <a:xfrm>
            <a:off x="7067550" y="5467692"/>
            <a:ext cx="516255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200" u="none" cap="none" strike="noStrike">
                <a:solidFill>
                  <a:srgbClr val="000000"/>
                </a:solidFill>
                <a:latin typeface="Arial"/>
                <a:ea typeface="Arial"/>
                <a:cs typeface="Arial"/>
                <a:sym typeface="Arial"/>
              </a:rPr>
              <a:t>El alimento registrado puede ser consultado posteriormente por los usuarios autorizados.</a:t>
            </a:r>
            <a:endParaRPr/>
          </a:p>
        </p:txBody>
      </p:sp>
      <p:sp>
        <p:nvSpPr>
          <p:cNvPr id="632" name="Google Shape;632;p11"/>
          <p:cNvSpPr txBox="1"/>
          <p:nvPr/>
        </p:nvSpPr>
        <p:spPr>
          <a:xfrm>
            <a:off x="3866937" y="5429733"/>
            <a:ext cx="2966103"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____</a:t>
            </a:r>
            <a:endParaRPr b="0" i="0" sz="1400" u="none" cap="none" strike="noStrike">
              <a:solidFill>
                <a:srgbClr val="000000"/>
              </a:solidFill>
              <a:latin typeface="Arial"/>
              <a:ea typeface="Arial"/>
              <a:cs typeface="Arial"/>
              <a:sym typeface="Arial"/>
            </a:endParaRPr>
          </a:p>
        </p:txBody>
      </p:sp>
      <p:cxnSp>
        <p:nvCxnSpPr>
          <p:cNvPr id="633" name="Google Shape;633;p11"/>
          <p:cNvCxnSpPr/>
          <p:nvPr/>
        </p:nvCxnSpPr>
        <p:spPr>
          <a:xfrm flipH="1" rot="10800000">
            <a:off x="451955" y="5956556"/>
            <a:ext cx="11288089" cy="19050"/>
          </a:xfrm>
          <a:prstGeom prst="straightConnector1">
            <a:avLst/>
          </a:prstGeom>
          <a:noFill/>
          <a:ln cap="flat" cmpd="sng" w="9525">
            <a:solidFill>
              <a:schemeClr val="dk1"/>
            </a:solidFill>
            <a:prstDash val="solid"/>
            <a:round/>
            <a:headEnd len="sm" w="sm" type="none"/>
            <a:tailEnd len="sm" w="sm" type="none"/>
          </a:ln>
        </p:spPr>
      </p:cxnSp>
      <p:graphicFrame>
        <p:nvGraphicFramePr>
          <p:cNvPr id="634" name="Google Shape;634;p11"/>
          <p:cNvGraphicFramePr/>
          <p:nvPr/>
        </p:nvGraphicFramePr>
        <p:xfrm>
          <a:off x="447674" y="5949679"/>
          <a:ext cx="3000000" cy="3000000"/>
        </p:xfrm>
        <a:graphic>
          <a:graphicData uri="http://schemas.openxmlformats.org/drawingml/2006/table">
            <a:tbl>
              <a:tblPr>
                <a:noFill/>
                <a:tableStyleId>{272B54D1-93C2-44F5-9BEC-4C839BC0A405}</a:tableStyleId>
              </a:tblPr>
              <a:tblGrid>
                <a:gridCol w="2071675"/>
              </a:tblGrid>
              <a:tr h="152400">
                <a:tc>
                  <a:txBody>
                    <a:bodyPr/>
                    <a:lstStyle/>
                    <a:p>
                      <a:pPr indent="0" lvl="0" marL="0" marR="0" rtl="0" algn="l">
                        <a:lnSpc>
                          <a:spcPct val="100000"/>
                        </a:lnSpc>
                        <a:spcBef>
                          <a:spcPts val="0"/>
                        </a:spcBef>
                        <a:spcAft>
                          <a:spcPts val="0"/>
                        </a:spcAft>
                        <a:buNone/>
                      </a:pPr>
                      <a:r>
                        <a:rPr b="0" lang="es-ES" sz="1200" u="none" cap="none" strike="noStrike"/>
                        <a:t>Ingresa la información nutricional</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635" name="Google Shape;635;p11"/>
          <p:cNvSpPr/>
          <p:nvPr/>
        </p:nvSpPr>
        <p:spPr>
          <a:xfrm>
            <a:off x="7067550" y="5988576"/>
            <a:ext cx="4580100"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200" u="none" cap="none" strike="noStrike">
                <a:solidFill>
                  <a:srgbClr val="000000"/>
                </a:solidFill>
                <a:latin typeface="Arial"/>
                <a:ea typeface="Arial"/>
                <a:cs typeface="Arial"/>
                <a:sym typeface="Arial"/>
              </a:rPr>
              <a:t>Registra datos como calorías, proteínas, grasas y carbohidratos.</a:t>
            </a:r>
            <a:endParaRPr/>
          </a:p>
        </p:txBody>
      </p:sp>
      <p:sp>
        <p:nvSpPr>
          <p:cNvPr id="636" name="Google Shape;636;p11"/>
          <p:cNvSpPr txBox="1"/>
          <p:nvPr/>
        </p:nvSpPr>
        <p:spPr>
          <a:xfrm>
            <a:off x="3864089" y="5945136"/>
            <a:ext cx="2966103"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____</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40" name="Shape 640"/>
        <p:cNvGrpSpPr/>
        <p:nvPr/>
      </p:nvGrpSpPr>
      <p:grpSpPr>
        <a:xfrm>
          <a:off x="0" y="0"/>
          <a:ext cx="0" cy="0"/>
          <a:chOff x="0" y="0"/>
          <a:chExt cx="0" cy="0"/>
        </a:xfrm>
      </p:grpSpPr>
      <p:sp>
        <p:nvSpPr>
          <p:cNvPr id="641" name="Google Shape;641;p107"/>
          <p:cNvSpPr txBox="1"/>
          <p:nvPr/>
        </p:nvSpPr>
        <p:spPr>
          <a:xfrm>
            <a:off x="456236" y="416689"/>
            <a:ext cx="10515600" cy="74156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FFFFFF"/>
              </a:buClr>
              <a:buSzPts val="4400"/>
              <a:buFont typeface="Arial"/>
              <a:buNone/>
            </a:pPr>
            <a:r>
              <a:rPr b="0" i="0" lang="es-ES" sz="4400" u="none" cap="none" strike="noStrike">
                <a:solidFill>
                  <a:srgbClr val="FFFFFF"/>
                </a:solidFill>
                <a:latin typeface="Work Sans Medium"/>
                <a:ea typeface="Work Sans Medium"/>
                <a:cs typeface="Work Sans Medium"/>
                <a:sym typeface="Work Sans Medium"/>
              </a:rPr>
              <a:t>Reglas del negocio</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4400"/>
              <a:buFont typeface="Arial"/>
              <a:buNone/>
            </a:pPr>
            <a:r>
              <a:t/>
            </a:r>
            <a:endParaRPr b="0" i="0" sz="4400" u="none" cap="none" strike="noStrike">
              <a:solidFill>
                <a:srgbClr val="FFFFFF"/>
              </a:solidFill>
              <a:latin typeface="Work Sans Medium"/>
              <a:ea typeface="Work Sans Medium"/>
              <a:cs typeface="Work Sans Medium"/>
              <a:sym typeface="Work Sans Medium"/>
            </a:endParaRPr>
          </a:p>
        </p:txBody>
      </p:sp>
      <p:sp>
        <p:nvSpPr>
          <p:cNvPr id="642" name="Google Shape;642;p107"/>
          <p:cNvSpPr/>
          <p:nvPr/>
        </p:nvSpPr>
        <p:spPr>
          <a:xfrm>
            <a:off x="1304924" y="1654969"/>
            <a:ext cx="7724775" cy="37856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2000" u="none" cap="none" strike="noStrike">
                <a:solidFill>
                  <a:srgbClr val="000000"/>
                </a:solidFill>
                <a:latin typeface="Arial"/>
                <a:ea typeface="Arial"/>
                <a:cs typeface="Arial"/>
                <a:sym typeface="Arial"/>
              </a:rPr>
              <a:t>Gestión de usuarios</a:t>
            </a:r>
            <a:endParaRPr/>
          </a:p>
          <a:p>
            <a:pPr indent="-127000" lvl="0" marL="0" marR="0" rtl="0" algn="l">
              <a:lnSpc>
                <a:spcPct val="100000"/>
              </a:lnSpc>
              <a:spcBef>
                <a:spcPts val="0"/>
              </a:spcBef>
              <a:spcAft>
                <a:spcPts val="0"/>
              </a:spcAft>
              <a:buClr>
                <a:srgbClr val="000000"/>
              </a:buClr>
              <a:buSzPts val="2000"/>
              <a:buFont typeface="Arial"/>
              <a:buChar char="•"/>
            </a:pPr>
            <a:r>
              <a:rPr b="0" i="0" lang="es-ES" sz="2000" u="none" cap="none" strike="noStrike">
                <a:solidFill>
                  <a:srgbClr val="000000"/>
                </a:solidFill>
                <a:latin typeface="Arial"/>
                <a:ea typeface="Arial"/>
                <a:cs typeface="Arial"/>
                <a:sym typeface="Arial"/>
              </a:rPr>
              <a:t>Los usuarios deben autenticarse para acceder al sistema. </a:t>
            </a:r>
            <a:endParaRPr/>
          </a:p>
          <a:p>
            <a:pPr indent="-127000" lvl="0" marL="0" marR="0" rtl="0" algn="l">
              <a:lnSpc>
                <a:spcPct val="100000"/>
              </a:lnSpc>
              <a:spcBef>
                <a:spcPts val="0"/>
              </a:spcBef>
              <a:spcAft>
                <a:spcPts val="0"/>
              </a:spcAft>
              <a:buClr>
                <a:srgbClr val="000000"/>
              </a:buClr>
              <a:buSzPts val="2000"/>
              <a:buFont typeface="Arial"/>
              <a:buChar char="•"/>
            </a:pPr>
            <a:r>
              <a:rPr b="0" i="0" lang="es-ES" sz="2000" u="none" cap="none" strike="noStrike">
                <a:solidFill>
                  <a:srgbClr val="000000"/>
                </a:solidFill>
                <a:latin typeface="Arial"/>
                <a:ea typeface="Arial"/>
                <a:cs typeface="Arial"/>
                <a:sym typeface="Arial"/>
              </a:rPr>
              <a:t>Cada usuario debe tener un rol. </a:t>
            </a:r>
            <a:endParaRPr/>
          </a:p>
          <a:p>
            <a:pPr indent="-127000" lvl="0" marL="0" marR="0" rtl="0" algn="l">
              <a:lnSpc>
                <a:spcPct val="100000"/>
              </a:lnSpc>
              <a:spcBef>
                <a:spcPts val="0"/>
              </a:spcBef>
              <a:spcAft>
                <a:spcPts val="0"/>
              </a:spcAft>
              <a:buClr>
                <a:srgbClr val="000000"/>
              </a:buClr>
              <a:buSzPts val="2000"/>
              <a:buFont typeface="Arial"/>
              <a:buChar char="•"/>
            </a:pPr>
            <a:r>
              <a:rPr b="0" i="0" lang="es-ES" sz="2000" u="none" cap="none" strike="noStrike">
                <a:solidFill>
                  <a:srgbClr val="000000"/>
                </a:solidFill>
                <a:latin typeface="Arial"/>
                <a:ea typeface="Arial"/>
                <a:cs typeface="Arial"/>
                <a:sym typeface="Arial"/>
              </a:rPr>
              <a:t>Los permisos dependen del rol asignado. </a:t>
            </a:r>
            <a:endParaRPr/>
          </a:p>
          <a:p>
            <a:pPr indent="-127000" lvl="0" marL="0" marR="0" rtl="0" algn="l">
              <a:lnSpc>
                <a:spcPct val="100000"/>
              </a:lnSpc>
              <a:spcBef>
                <a:spcPts val="0"/>
              </a:spcBef>
              <a:spcAft>
                <a:spcPts val="0"/>
              </a:spcAft>
              <a:buClr>
                <a:srgbClr val="000000"/>
              </a:buClr>
              <a:buSzPts val="2000"/>
              <a:buFont typeface="Arial"/>
              <a:buChar char="•"/>
            </a:pPr>
            <a:r>
              <a:rPr b="0" i="0" lang="es-ES" sz="2000" u="none" cap="none" strike="noStrike">
                <a:solidFill>
                  <a:srgbClr val="000000"/>
                </a:solidFill>
                <a:latin typeface="Arial"/>
                <a:ea typeface="Arial"/>
                <a:cs typeface="Arial"/>
                <a:sym typeface="Arial"/>
              </a:rPr>
              <a:t>Las funciones administrativas estarán restringidas a usuarios autorizados. </a:t>
            </a:r>
            <a:endParaRPr/>
          </a:p>
          <a:p>
            <a:pPr indent="0" lvl="0" marL="0" marR="0" rtl="0" algn="l">
              <a:lnSpc>
                <a:spcPct val="100000"/>
              </a:lnSpc>
              <a:spcBef>
                <a:spcPts val="0"/>
              </a:spcBef>
              <a:spcAft>
                <a:spcPts val="0"/>
              </a:spcAft>
              <a:buNone/>
            </a:pPr>
            <a:r>
              <a:rPr b="1" i="0" lang="es-ES" sz="2000" u="none" cap="none" strike="noStrike">
                <a:solidFill>
                  <a:srgbClr val="000000"/>
                </a:solidFill>
                <a:latin typeface="Arial"/>
                <a:ea typeface="Arial"/>
                <a:cs typeface="Arial"/>
                <a:sym typeface="Arial"/>
              </a:rPr>
              <a:t>Gestión de alimentos</a:t>
            </a:r>
            <a:endParaRPr/>
          </a:p>
          <a:p>
            <a:pPr indent="-127000" lvl="0" marL="0" marR="0" rtl="0" algn="l">
              <a:lnSpc>
                <a:spcPct val="100000"/>
              </a:lnSpc>
              <a:spcBef>
                <a:spcPts val="0"/>
              </a:spcBef>
              <a:spcAft>
                <a:spcPts val="0"/>
              </a:spcAft>
              <a:buClr>
                <a:srgbClr val="000000"/>
              </a:buClr>
              <a:buSzPts val="2000"/>
              <a:buFont typeface="Arial"/>
              <a:buChar char="•"/>
            </a:pPr>
            <a:r>
              <a:rPr b="0" i="0" lang="es-ES" sz="2000" u="none" cap="none" strike="noStrike">
                <a:solidFill>
                  <a:srgbClr val="000000"/>
                </a:solidFill>
                <a:latin typeface="Arial"/>
                <a:ea typeface="Arial"/>
                <a:cs typeface="Arial"/>
                <a:sym typeface="Arial"/>
              </a:rPr>
              <a:t>Los alimentos deben contar con información nutricional. </a:t>
            </a:r>
            <a:endParaRPr/>
          </a:p>
          <a:p>
            <a:pPr indent="-127000" lvl="0" marL="0" marR="0" rtl="0" algn="l">
              <a:lnSpc>
                <a:spcPct val="100000"/>
              </a:lnSpc>
              <a:spcBef>
                <a:spcPts val="0"/>
              </a:spcBef>
              <a:spcAft>
                <a:spcPts val="0"/>
              </a:spcAft>
              <a:buClr>
                <a:srgbClr val="000000"/>
              </a:buClr>
              <a:buSzPts val="2000"/>
              <a:buFont typeface="Arial"/>
              <a:buChar char="•"/>
            </a:pPr>
            <a:r>
              <a:rPr b="0" i="0" lang="es-ES" sz="2000" u="none" cap="none" strike="noStrike">
                <a:solidFill>
                  <a:srgbClr val="000000"/>
                </a:solidFill>
                <a:latin typeface="Arial"/>
                <a:ea typeface="Arial"/>
                <a:cs typeface="Arial"/>
                <a:sym typeface="Arial"/>
              </a:rPr>
              <a:t>Los valores nutricionales deben registrarse por porción estándar. </a:t>
            </a:r>
            <a:endParaRPr/>
          </a:p>
          <a:p>
            <a:pPr indent="-127000" lvl="0" marL="0" marR="0" rtl="0" algn="l">
              <a:lnSpc>
                <a:spcPct val="100000"/>
              </a:lnSpc>
              <a:spcBef>
                <a:spcPts val="0"/>
              </a:spcBef>
              <a:spcAft>
                <a:spcPts val="0"/>
              </a:spcAft>
              <a:buClr>
                <a:srgbClr val="000000"/>
              </a:buClr>
              <a:buSzPts val="2000"/>
              <a:buFont typeface="Arial"/>
              <a:buChar char="•"/>
            </a:pPr>
            <a:r>
              <a:rPr b="0" i="0" lang="es-ES" sz="2000" u="none" cap="none" strike="noStrike">
                <a:solidFill>
                  <a:srgbClr val="000000"/>
                </a:solidFill>
                <a:latin typeface="Arial"/>
                <a:ea typeface="Arial"/>
                <a:cs typeface="Arial"/>
                <a:sym typeface="Arial"/>
              </a:rPr>
              <a:t>Los alimentos podrán ser asociados a los menús escolares.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Estas reglas se basan en los requerimientos funcionales y en el alcance definido en el proyecto.</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47" name="Shape 647"/>
        <p:cNvGrpSpPr/>
        <p:nvPr/>
      </p:nvGrpSpPr>
      <p:grpSpPr>
        <a:xfrm>
          <a:off x="0" y="0"/>
          <a:ext cx="0" cy="0"/>
          <a:chOff x="0" y="0"/>
          <a:chExt cx="0" cy="0"/>
        </a:xfrm>
      </p:grpSpPr>
      <p:sp>
        <p:nvSpPr>
          <p:cNvPr id="648" name="Google Shape;648;p108"/>
          <p:cNvSpPr txBox="1"/>
          <p:nvPr/>
        </p:nvSpPr>
        <p:spPr>
          <a:xfrm>
            <a:off x="456236" y="457723"/>
            <a:ext cx="10515600" cy="67659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C0C0C"/>
              </a:buClr>
              <a:buSzPts val="4400"/>
              <a:buFont typeface="Arial"/>
              <a:buNone/>
            </a:pPr>
            <a:r>
              <a:rPr b="0" i="0" lang="es-ES" sz="4400" u="none" cap="none" strike="noStrike">
                <a:solidFill>
                  <a:srgbClr val="0C0C0C"/>
                </a:solidFill>
                <a:latin typeface="Work Sans Medium"/>
                <a:ea typeface="Work Sans Medium"/>
                <a:cs typeface="Work Sans Medium"/>
                <a:sym typeface="Work Sans Medium"/>
              </a:rPr>
              <a:t>Demostración de las reglas del negocio</a:t>
            </a:r>
            <a:endParaRPr b="0" i="0" sz="4400" u="none" cap="none" strike="noStrike">
              <a:solidFill>
                <a:srgbClr val="0C0C0C"/>
              </a:solidFill>
              <a:latin typeface="Work Sans Medium"/>
              <a:ea typeface="Work Sans Medium"/>
              <a:cs typeface="Work Sans Medium"/>
              <a:sym typeface="Work Sans Medium"/>
            </a:endParaRPr>
          </a:p>
        </p:txBody>
      </p:sp>
      <p:sp>
        <p:nvSpPr>
          <p:cNvPr id="649" name="Google Shape;649;p108"/>
          <p:cNvSpPr/>
          <p:nvPr/>
        </p:nvSpPr>
        <p:spPr>
          <a:xfrm>
            <a:off x="744675" y="1536174"/>
            <a:ext cx="9762299" cy="8309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Work Sans Light"/>
              <a:ea typeface="Work Sans Light"/>
              <a:cs typeface="Work Sans Light"/>
              <a:sym typeface="Work Sans Light"/>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 </a:t>
            </a:r>
            <a:endParaRPr/>
          </a:p>
        </p:txBody>
      </p:sp>
      <p:sp>
        <p:nvSpPr>
          <p:cNvPr id="650" name="Google Shape;650;p108"/>
          <p:cNvSpPr/>
          <p:nvPr/>
        </p:nvSpPr>
        <p:spPr>
          <a:xfrm>
            <a:off x="1381125" y="2386180"/>
            <a:ext cx="7048500" cy="25545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2000" u="none" cap="none" strike="noStrike">
                <a:solidFill>
                  <a:srgbClr val="000000"/>
                </a:solidFill>
                <a:latin typeface="Arial"/>
                <a:ea typeface="Arial"/>
                <a:cs typeface="Arial"/>
                <a:sym typeface="Arial"/>
              </a:rPr>
              <a:t>Menús y consumo</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Los menús pueden ser diarios o semanales.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Los alimentos deben estar registrados antes de ser asociados a un menú.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El consumo debe estar relacionado con un estudiante.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El registro de consumo debe incluir el menú y la fecha/hora.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Los usuarios autorizados podrán consultar los menús y la información nutricional. </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655" name="Shape 655"/>
        <p:cNvGrpSpPr/>
        <p:nvPr/>
      </p:nvGrpSpPr>
      <p:grpSpPr>
        <a:xfrm>
          <a:off x="0" y="0"/>
          <a:ext cx="0" cy="0"/>
          <a:chOff x="0" y="0"/>
          <a:chExt cx="0" cy="0"/>
        </a:xfrm>
      </p:grpSpPr>
      <p:sp>
        <p:nvSpPr>
          <p:cNvPr id="656" name="Google Shape;656;p12"/>
          <p:cNvSpPr txBox="1"/>
          <p:nvPr/>
        </p:nvSpPr>
        <p:spPr>
          <a:xfrm>
            <a:off x="456236" y="457723"/>
            <a:ext cx="10515600" cy="67659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C0C0C"/>
              </a:buClr>
              <a:buSzPts val="4400"/>
              <a:buFont typeface="Arial"/>
              <a:buNone/>
            </a:pPr>
            <a:r>
              <a:rPr b="0" i="0" lang="es-ES" sz="4400" u="none" cap="none" strike="noStrike">
                <a:solidFill>
                  <a:srgbClr val="0C0C0C"/>
                </a:solidFill>
                <a:latin typeface="Work Sans Medium"/>
                <a:ea typeface="Work Sans Medium"/>
                <a:cs typeface="Work Sans Medium"/>
                <a:sym typeface="Work Sans Medium"/>
              </a:rPr>
              <a:t>Demostración de las reglas del negocio</a:t>
            </a:r>
            <a:endParaRPr b="0" i="0" sz="4400" u="none" cap="none" strike="noStrike">
              <a:solidFill>
                <a:srgbClr val="0C0C0C"/>
              </a:solidFill>
              <a:latin typeface="Work Sans Medium"/>
              <a:ea typeface="Work Sans Medium"/>
              <a:cs typeface="Work Sans Medium"/>
              <a:sym typeface="Work Sans Medium"/>
            </a:endParaRPr>
          </a:p>
        </p:txBody>
      </p:sp>
      <p:sp>
        <p:nvSpPr>
          <p:cNvPr id="657" name="Google Shape;657;p12"/>
          <p:cNvSpPr/>
          <p:nvPr/>
        </p:nvSpPr>
        <p:spPr>
          <a:xfrm>
            <a:off x="1076324" y="2492484"/>
            <a:ext cx="7934325" cy="25545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2000" u="none" cap="none" strike="noStrike">
                <a:solidFill>
                  <a:srgbClr val="000000"/>
                </a:solidFill>
                <a:latin typeface="Arial"/>
                <a:ea typeface="Arial"/>
                <a:cs typeface="Arial"/>
                <a:sym typeface="Arial"/>
              </a:rPr>
              <a:t>Seguridad y acceso</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El acceso se realiza mediante autenticación.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Las contraseñas deben almacenarse de forma segura.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Los usuarios solamente pueden acceder a las funciones permitidas según su rol.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Se deben validar las entradas para prevenir ataques como SQL Injection y XSS.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La información sensible debe mantenerse protegida. </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662" name="Shape 662"/>
        <p:cNvGrpSpPr/>
        <p:nvPr/>
      </p:nvGrpSpPr>
      <p:grpSpPr>
        <a:xfrm>
          <a:off x="0" y="0"/>
          <a:ext cx="0" cy="0"/>
          <a:chOff x="0" y="0"/>
          <a:chExt cx="0" cy="0"/>
        </a:xfrm>
      </p:grpSpPr>
      <p:sp>
        <p:nvSpPr>
          <p:cNvPr id="663" name="Google Shape;663;p13"/>
          <p:cNvSpPr txBox="1"/>
          <p:nvPr/>
        </p:nvSpPr>
        <p:spPr>
          <a:xfrm>
            <a:off x="456236" y="457723"/>
            <a:ext cx="10515600" cy="67659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C0C0C"/>
              </a:buClr>
              <a:buSzPts val="4400"/>
              <a:buFont typeface="Arial"/>
              <a:buNone/>
            </a:pPr>
            <a:r>
              <a:rPr b="0" i="0" lang="es-ES" sz="4400" u="none" cap="none" strike="noStrike">
                <a:solidFill>
                  <a:srgbClr val="0C0C0C"/>
                </a:solidFill>
                <a:latin typeface="Work Sans Medium"/>
                <a:ea typeface="Work Sans Medium"/>
                <a:cs typeface="Work Sans Medium"/>
                <a:sym typeface="Work Sans Medium"/>
              </a:rPr>
              <a:t>Demostración de las reglas del negocio</a:t>
            </a:r>
            <a:endParaRPr b="0" i="0" sz="4400" u="none" cap="none" strike="noStrike">
              <a:solidFill>
                <a:srgbClr val="0C0C0C"/>
              </a:solidFill>
              <a:latin typeface="Work Sans Medium"/>
              <a:ea typeface="Work Sans Medium"/>
              <a:cs typeface="Work Sans Medium"/>
              <a:sym typeface="Work Sans Medium"/>
            </a:endParaRPr>
          </a:p>
        </p:txBody>
      </p:sp>
      <p:sp>
        <p:nvSpPr>
          <p:cNvPr id="664" name="Google Shape;664;p13"/>
          <p:cNvSpPr/>
          <p:nvPr/>
        </p:nvSpPr>
        <p:spPr>
          <a:xfrm>
            <a:off x="933450" y="2460278"/>
            <a:ext cx="7181850" cy="286232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Mejorar la gestión y organización de la información nutricional.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Facilitar el acceso rápido y confiable a los datos.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Optimizar el registro y consulta de los menús.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Reducir errores relacionados con el manejo manual de información.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Facilitar el seguimiento del consumo alimentario.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Promover hábitos de alimentación saludable en la comunidad educativa. </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669" name="Shape 669"/>
        <p:cNvGrpSpPr/>
        <p:nvPr/>
      </p:nvGrpSpPr>
      <p:grpSpPr>
        <a:xfrm>
          <a:off x="0" y="0"/>
          <a:ext cx="0" cy="0"/>
          <a:chOff x="0" y="0"/>
          <a:chExt cx="0" cy="0"/>
        </a:xfrm>
      </p:grpSpPr>
      <p:sp>
        <p:nvSpPr>
          <p:cNvPr id="670" name="Google Shape;670;p14"/>
          <p:cNvSpPr txBox="1"/>
          <p:nvPr/>
        </p:nvSpPr>
        <p:spPr>
          <a:xfrm>
            <a:off x="456236" y="457723"/>
            <a:ext cx="10515600" cy="67659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C0C0C"/>
              </a:buClr>
              <a:buSzPts val="4400"/>
              <a:buFont typeface="Arial"/>
              <a:buNone/>
            </a:pPr>
            <a:r>
              <a:rPr b="0" i="0" lang="es-ES" sz="4400" u="none" cap="none" strike="noStrike">
                <a:solidFill>
                  <a:srgbClr val="0C0C0C"/>
                </a:solidFill>
                <a:latin typeface="Work Sans Medium"/>
                <a:ea typeface="Work Sans Medium"/>
                <a:cs typeface="Work Sans Medium"/>
                <a:sym typeface="Work Sans Medium"/>
              </a:rPr>
              <a:t>Demostración de las reglas del negocio</a:t>
            </a:r>
            <a:endParaRPr b="0" i="0" sz="4400" u="none" cap="none" strike="noStrike">
              <a:solidFill>
                <a:srgbClr val="0C0C0C"/>
              </a:solidFill>
              <a:latin typeface="Work Sans Medium"/>
              <a:ea typeface="Work Sans Medium"/>
              <a:cs typeface="Work Sans Medium"/>
              <a:sym typeface="Work Sans Medium"/>
            </a:endParaRPr>
          </a:p>
        </p:txBody>
      </p:sp>
      <p:sp>
        <p:nvSpPr>
          <p:cNvPr id="671" name="Google Shape;671;p14"/>
          <p:cNvSpPr/>
          <p:nvPr/>
        </p:nvSpPr>
        <p:spPr>
          <a:xfrm>
            <a:off x="703886" y="2009448"/>
            <a:ext cx="10267950" cy="369331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1800" u="none" cap="none" strike="noStrike">
                <a:solidFill>
                  <a:srgbClr val="000000"/>
                </a:solidFill>
                <a:latin typeface="Arial"/>
                <a:ea typeface="Arial"/>
                <a:cs typeface="Arial"/>
                <a:sym typeface="Arial"/>
              </a:rPr>
              <a:t>Demostración de la aplicación</a:t>
            </a:r>
            <a:endParaRPr/>
          </a:p>
          <a:p>
            <a:pPr indent="0" lvl="0" marL="0" marR="0" rtl="0" algn="l">
              <a:lnSpc>
                <a:spcPct val="100000"/>
              </a:lnSpc>
              <a:spcBef>
                <a:spcPts val="0"/>
              </a:spcBef>
              <a:spcAft>
                <a:spcPts val="0"/>
              </a:spcAft>
              <a:buNone/>
            </a:pPr>
            <a:r>
              <a:rPr b="0" i="0" lang="es-ES" sz="1800" u="none" cap="none" strike="noStrike">
                <a:solidFill>
                  <a:srgbClr val="000000"/>
                </a:solidFill>
                <a:latin typeface="Arial"/>
                <a:ea typeface="Arial"/>
                <a:cs typeface="Arial"/>
                <a:sym typeface="Arial"/>
              </a:rPr>
              <a:t>Durante la demostración se puede mostrar:</a:t>
            </a:r>
            <a:endParaRPr/>
          </a:p>
          <a:p>
            <a:pPr indent="-285750" lvl="0" marL="285750" marR="0" rtl="0" algn="l">
              <a:lnSpc>
                <a:spcPct val="100000"/>
              </a:lnSpc>
              <a:spcBef>
                <a:spcPts val="0"/>
              </a:spcBef>
              <a:spcAft>
                <a:spcPts val="0"/>
              </a:spcAft>
              <a:buClr>
                <a:srgbClr val="000000"/>
              </a:buClr>
              <a:buSzPts val="1800"/>
              <a:buFont typeface="Arial"/>
              <a:buChar char="•"/>
            </a:pPr>
            <a:r>
              <a:rPr b="0" i="0" lang="es-ES" sz="1800" u="none" cap="none" strike="noStrike">
                <a:solidFill>
                  <a:srgbClr val="000000"/>
                </a:solidFill>
                <a:latin typeface="Arial"/>
                <a:ea typeface="Arial"/>
                <a:cs typeface="Arial"/>
                <a:sym typeface="Arial"/>
              </a:rPr>
              <a:t>Inicio de sesión </a:t>
            </a:r>
            <a:endParaRPr/>
          </a:p>
          <a:p>
            <a:pPr indent="-285750" lvl="0" marL="285750" marR="0" rtl="0" algn="l">
              <a:lnSpc>
                <a:spcPct val="100000"/>
              </a:lnSpc>
              <a:spcBef>
                <a:spcPts val="0"/>
              </a:spcBef>
              <a:spcAft>
                <a:spcPts val="0"/>
              </a:spcAft>
              <a:buClr>
                <a:srgbClr val="000000"/>
              </a:buClr>
              <a:buSzPts val="1800"/>
              <a:buFont typeface="Arial"/>
              <a:buChar char="•"/>
            </a:pPr>
            <a:r>
              <a:rPr b="0" i="0" lang="es-ES" sz="1800" u="none" cap="none" strike="noStrike">
                <a:solidFill>
                  <a:srgbClr val="000000"/>
                </a:solidFill>
                <a:latin typeface="Arial"/>
                <a:ea typeface="Arial"/>
                <a:cs typeface="Arial"/>
                <a:sym typeface="Arial"/>
              </a:rPr>
              <a:t>Menú principal </a:t>
            </a:r>
            <a:endParaRPr/>
          </a:p>
          <a:p>
            <a:pPr indent="-285750" lvl="0" marL="285750" marR="0" rtl="0" algn="l">
              <a:lnSpc>
                <a:spcPct val="100000"/>
              </a:lnSpc>
              <a:spcBef>
                <a:spcPts val="0"/>
              </a:spcBef>
              <a:spcAft>
                <a:spcPts val="0"/>
              </a:spcAft>
              <a:buClr>
                <a:srgbClr val="000000"/>
              </a:buClr>
              <a:buSzPts val="1800"/>
              <a:buFont typeface="Arial"/>
              <a:buChar char="•"/>
            </a:pPr>
            <a:r>
              <a:rPr b="0" i="0" lang="es-ES" sz="1800" u="none" cap="none" strike="noStrike">
                <a:solidFill>
                  <a:srgbClr val="000000"/>
                </a:solidFill>
                <a:latin typeface="Arial"/>
                <a:ea typeface="Arial"/>
                <a:cs typeface="Arial"/>
                <a:sym typeface="Arial"/>
              </a:rPr>
              <a:t>Gestión de usuarios </a:t>
            </a:r>
            <a:endParaRPr/>
          </a:p>
          <a:p>
            <a:pPr indent="-285750" lvl="0" marL="285750" marR="0" rtl="0" algn="l">
              <a:lnSpc>
                <a:spcPct val="100000"/>
              </a:lnSpc>
              <a:spcBef>
                <a:spcPts val="0"/>
              </a:spcBef>
              <a:spcAft>
                <a:spcPts val="0"/>
              </a:spcAft>
              <a:buClr>
                <a:srgbClr val="000000"/>
              </a:buClr>
              <a:buSzPts val="1800"/>
              <a:buFont typeface="Arial"/>
              <a:buChar char="•"/>
            </a:pPr>
            <a:r>
              <a:rPr b="0" i="0" lang="es-ES" sz="1800" u="none" cap="none" strike="noStrike">
                <a:solidFill>
                  <a:srgbClr val="000000"/>
                </a:solidFill>
                <a:latin typeface="Arial"/>
                <a:ea typeface="Arial"/>
                <a:cs typeface="Arial"/>
                <a:sym typeface="Arial"/>
              </a:rPr>
              <a:t>Registro de alimentos </a:t>
            </a:r>
            <a:endParaRPr/>
          </a:p>
          <a:p>
            <a:pPr indent="-285750" lvl="0" marL="285750" marR="0" rtl="0" algn="l">
              <a:lnSpc>
                <a:spcPct val="100000"/>
              </a:lnSpc>
              <a:spcBef>
                <a:spcPts val="0"/>
              </a:spcBef>
              <a:spcAft>
                <a:spcPts val="0"/>
              </a:spcAft>
              <a:buClr>
                <a:srgbClr val="000000"/>
              </a:buClr>
              <a:buSzPts val="1800"/>
              <a:buFont typeface="Arial"/>
              <a:buChar char="•"/>
            </a:pPr>
            <a:r>
              <a:rPr b="0" i="0" lang="es-ES" sz="1800" u="none" cap="none" strike="noStrike">
                <a:solidFill>
                  <a:srgbClr val="000000"/>
                </a:solidFill>
                <a:latin typeface="Arial"/>
                <a:ea typeface="Arial"/>
                <a:cs typeface="Arial"/>
                <a:sym typeface="Arial"/>
              </a:rPr>
              <a:t>Consulta de información nutricional </a:t>
            </a:r>
            <a:endParaRPr/>
          </a:p>
          <a:p>
            <a:pPr indent="-285750" lvl="0" marL="285750" marR="0" rtl="0" algn="l">
              <a:lnSpc>
                <a:spcPct val="100000"/>
              </a:lnSpc>
              <a:spcBef>
                <a:spcPts val="0"/>
              </a:spcBef>
              <a:spcAft>
                <a:spcPts val="0"/>
              </a:spcAft>
              <a:buClr>
                <a:srgbClr val="000000"/>
              </a:buClr>
              <a:buSzPts val="1800"/>
              <a:buFont typeface="Arial"/>
              <a:buChar char="•"/>
            </a:pPr>
            <a:r>
              <a:rPr b="0" i="0" lang="es-ES" sz="1800" u="none" cap="none" strike="noStrike">
                <a:solidFill>
                  <a:srgbClr val="000000"/>
                </a:solidFill>
                <a:latin typeface="Arial"/>
                <a:ea typeface="Arial"/>
                <a:cs typeface="Arial"/>
                <a:sym typeface="Arial"/>
              </a:rPr>
              <a:t>Creación y consulta de menús </a:t>
            </a:r>
            <a:endParaRPr/>
          </a:p>
          <a:p>
            <a:pPr indent="-285750" lvl="0" marL="285750" marR="0" rtl="0" algn="l">
              <a:lnSpc>
                <a:spcPct val="100000"/>
              </a:lnSpc>
              <a:spcBef>
                <a:spcPts val="0"/>
              </a:spcBef>
              <a:spcAft>
                <a:spcPts val="0"/>
              </a:spcAft>
              <a:buClr>
                <a:srgbClr val="000000"/>
              </a:buClr>
              <a:buSzPts val="1800"/>
              <a:buFont typeface="Arial"/>
              <a:buChar char="•"/>
            </a:pPr>
            <a:r>
              <a:rPr b="0" i="0" lang="es-ES" sz="1800" u="none" cap="none" strike="noStrike">
                <a:solidFill>
                  <a:srgbClr val="000000"/>
                </a:solidFill>
                <a:latin typeface="Arial"/>
                <a:ea typeface="Arial"/>
                <a:cs typeface="Arial"/>
                <a:sym typeface="Arial"/>
              </a:rPr>
              <a:t>Registro de consumo </a:t>
            </a:r>
            <a:endParaRPr/>
          </a:p>
          <a:p>
            <a:pPr indent="-285750" lvl="0" marL="285750" marR="0" rtl="0" algn="l">
              <a:lnSpc>
                <a:spcPct val="100000"/>
              </a:lnSpc>
              <a:spcBef>
                <a:spcPts val="0"/>
              </a:spcBef>
              <a:spcAft>
                <a:spcPts val="0"/>
              </a:spcAft>
              <a:buClr>
                <a:srgbClr val="000000"/>
              </a:buClr>
              <a:buSzPts val="1800"/>
              <a:buFont typeface="Arial"/>
              <a:buChar char="•"/>
            </a:pPr>
            <a:r>
              <a:rPr b="0" i="0" lang="es-ES" sz="1800" u="none" cap="none" strike="noStrike">
                <a:solidFill>
                  <a:srgbClr val="000000"/>
                </a:solidFill>
                <a:latin typeface="Arial"/>
                <a:ea typeface="Arial"/>
                <a:cs typeface="Arial"/>
                <a:sym typeface="Arial"/>
              </a:rPr>
              <a:t>Generación de reportes </a:t>
            </a:r>
            <a:endParaRPr/>
          </a:p>
          <a:p>
            <a:pPr indent="0" lvl="0" marL="0" marR="0" rtl="0" algn="l">
              <a:lnSpc>
                <a:spcPct val="100000"/>
              </a:lnSpc>
              <a:spcBef>
                <a:spcPts val="0"/>
              </a:spcBef>
              <a:spcAft>
                <a:spcPts val="0"/>
              </a:spcAft>
              <a:buNone/>
            </a:pPr>
            <a:r>
              <a:rPr b="1" i="0" lang="es-ES" sz="1800" u="none" cap="none" strike="noStrike">
                <a:solidFill>
                  <a:srgbClr val="000000"/>
                </a:solidFill>
                <a:latin typeface="Arial"/>
                <a:ea typeface="Arial"/>
                <a:cs typeface="Arial"/>
                <a:sym typeface="Arial"/>
              </a:rPr>
              <a:t>Flujo de demostración:</a:t>
            </a:r>
            <a:endParaRPr/>
          </a:p>
          <a:p>
            <a:pPr indent="0" lvl="0" marL="0" marR="0" rtl="0" algn="l">
              <a:lnSpc>
                <a:spcPct val="100000"/>
              </a:lnSpc>
              <a:spcBef>
                <a:spcPts val="0"/>
              </a:spcBef>
              <a:spcAft>
                <a:spcPts val="0"/>
              </a:spcAft>
              <a:buNone/>
            </a:pPr>
            <a:r>
              <a:rPr b="0" i="0" lang="es-ES" sz="1800" u="none" cap="none" strike="noStrike">
                <a:solidFill>
                  <a:srgbClr val="000000"/>
                </a:solidFill>
                <a:latin typeface="Arial"/>
                <a:ea typeface="Arial"/>
                <a:cs typeface="Arial"/>
                <a:sym typeface="Arial"/>
              </a:rPr>
              <a:t>Iniciar sesión → Seleccionar módulo → Registrar/consultar información → Guardar → Visualizar resultado.</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pic>
        <p:nvPicPr>
          <p:cNvPr descr="Imagen que contiene Interfaz de usuario gráfica&#10;&#10;Descripción generada automáticamente" id="676" name="Google Shape;676;g2155d56c852_0_468"/>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80" name="Shape 680"/>
        <p:cNvGrpSpPr/>
        <p:nvPr/>
      </p:nvGrpSpPr>
      <p:grpSpPr>
        <a:xfrm>
          <a:off x="0" y="0"/>
          <a:ext cx="0" cy="0"/>
          <a:chOff x="0" y="0"/>
          <a:chExt cx="0" cy="0"/>
        </a:xfrm>
      </p:grpSpPr>
      <p:sp>
        <p:nvSpPr>
          <p:cNvPr id="681" name="Google Shape;681;p109"/>
          <p:cNvSpPr txBox="1"/>
          <p:nvPr/>
        </p:nvSpPr>
        <p:spPr>
          <a:xfrm>
            <a:off x="456236" y="416689"/>
            <a:ext cx="10515600" cy="74156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FFFFFF"/>
              </a:buClr>
              <a:buSzPts val="4400"/>
              <a:buFont typeface="Arial"/>
              <a:buNone/>
            </a:pPr>
            <a:r>
              <a:rPr b="0" i="0" lang="es-ES" sz="4400" u="none" cap="none" strike="noStrike">
                <a:solidFill>
                  <a:srgbClr val="FFFFFF"/>
                </a:solidFill>
                <a:latin typeface="Work Sans Medium"/>
                <a:ea typeface="Work Sans Medium"/>
                <a:cs typeface="Work Sans Medium"/>
                <a:sym typeface="Work Sans Medium"/>
              </a:rPr>
              <a:t>Preguntas</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FFFFFF"/>
              </a:buClr>
              <a:buSzPts val="2000"/>
              <a:buFont typeface="Arial"/>
              <a:buNone/>
            </a:pPr>
            <a:r>
              <a:rPr b="0" i="0" lang="es-ES" sz="2000" u="none" cap="none" strike="noStrike">
                <a:solidFill>
                  <a:srgbClr val="FFFFFF"/>
                </a:solidFill>
                <a:latin typeface="Work Sans Medium"/>
                <a:ea typeface="Work Sans Medium"/>
                <a:cs typeface="Work Sans Medium"/>
                <a:sym typeface="Work Sans Medium"/>
              </a:rPr>
              <a:t>Tiempo: Máximo 5 min.</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4400"/>
              <a:buFont typeface="Arial"/>
              <a:buNone/>
            </a:pPr>
            <a:r>
              <a:t/>
            </a:r>
            <a:endParaRPr b="0" i="0" sz="4400" u="none" cap="none" strike="noStrike">
              <a:solidFill>
                <a:srgbClr val="FFFFFF"/>
              </a:solidFill>
              <a:latin typeface="Work Sans Medium"/>
              <a:ea typeface="Work Sans Medium"/>
              <a:cs typeface="Work Sans Medium"/>
              <a:sym typeface="Work Sans Medium"/>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2_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2020-10-01T23:51:28Z</dcterms:created>
  <dc:creator>Jorge Enrique Pedraza Sanchez</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299739c-ad3d-4908-806e-4d91151a6e13_Enabled">
    <vt:lpwstr>true</vt:lpwstr>
  </property>
  <property fmtid="{D5CDD505-2E9C-101B-9397-08002B2CF9AE}" pid="3" name="MSIP_Label_1299739c-ad3d-4908-806e-4d91151a6e13_Method">
    <vt:lpwstr>Standard</vt:lpwstr>
  </property>
  <property fmtid="{D5CDD505-2E9C-101B-9397-08002B2CF9AE}" pid="4" name="MSIP_Label_1299739c-ad3d-4908-806e-4d91151a6e13_Name">
    <vt:lpwstr>All Employees (Unrestricted)</vt:lpwstr>
  </property>
  <property fmtid="{D5CDD505-2E9C-101B-9397-08002B2CF9AE}" pid="5" name="MSIP_Label_1299739c-ad3d-4908-806e-4d91151a6e13_SiteId">
    <vt:lpwstr>cbc2c381-2f2e-4d93-91d1-506c9316ace7</vt:lpwstr>
  </property>
  <property fmtid="{D5CDD505-2E9C-101B-9397-08002B2CF9AE}" pid="6" name="MSIP_Label_1299739c-ad3d-4908-806e-4d91151a6e13_ContentBits">
    <vt:lpwstr>0</vt:lpwstr>
  </property>
  <property fmtid="{D5CDD505-2E9C-101B-9397-08002B2CF9AE}" pid="7" name="MSIP_Label_1299739c-ad3d-4908-806e-4d91151a6e13_SetDate">
    <vt:lpwstr>2022-08-12T19:17:55Z</vt:lpwstr>
  </property>
  <property fmtid="{D5CDD505-2E9C-101B-9397-08002B2CF9AE}" pid="8" name="MSIP_Label_1299739c-ad3d-4908-806e-4d91151a6e13_ActionId">
    <vt:lpwstr>8c6bc714-34a9-4b82-914e-50b1377a2da4</vt:lpwstr>
  </property>
</Properties>
</file>